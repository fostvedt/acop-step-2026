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76"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ssir, Nastya {GCCF~SOUTH SAN FRANCISCO}" initials="NK" lastIdx="1" clrIdx="0">
    <p:extLst>
      <p:ext uri="{19B8F6BF-5375-455C-9EA6-DF929625EA0E}">
        <p15:presenceInfo xmlns:p15="http://schemas.microsoft.com/office/powerpoint/2012/main" userId="S::kassirn@nala.roche.com::3c7da9ee-1255-4fc8-96d4-b265b05a638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08"/>
    <p:restoredTop sz="94610"/>
  </p:normalViewPr>
  <p:slideViewPr>
    <p:cSldViewPr snapToGrid="0" snapToObjects="1">
      <p:cViewPr varScale="1">
        <p:scale>
          <a:sx n="120" d="100"/>
          <a:sy n="120" d="100"/>
        </p:scale>
        <p:origin x="208"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9-20T07:39:06.688" idx="1">
    <p:pos x="3735" y="2947"/>
    <p:text>Add names</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6717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audience: most compounds fail, timelines are long, and every decision is made under uncertainty. Modeling &amp; simulation is how we squeeze maximum information out of limited, expensive data. MIDD is not academic nicety — regulators now expect a quantitative rationale for dose, trial design, and special populations. Land the key message: we choose the model that reduces uncertainty enough to make the decision — that framing sets up the whole 'fit-for-purpose' theme and the hybrid strategies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4C3F-4281-0E46-3D13-44F38A4E3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B7C31-DF73-9612-B37B-57380348D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039B7C-7A92-3C22-5882-050D50E14A50}"/>
              </a:ext>
            </a:extLst>
          </p:cNvPr>
          <p:cNvSpPr>
            <a:spLocks noGrp="1"/>
          </p:cNvSpPr>
          <p:nvPr>
            <p:ph type="body" idx="1"/>
          </p:nvPr>
        </p:nvSpPr>
        <p:spPr/>
        <p:txBody>
          <a:bodyPr/>
          <a:lstStyle/>
          <a:p>
            <a:r>
              <a:rPr lang="en-US" dirty="0"/>
              <a:t>Give the audience a single mental map before the deep dives. Horizontal axis = mechanism (empirical on the left, mechanistic on the right). Vertical axis = data source (fit to observed patient data at top vs. built bottom-up from physiology/biology at bottom). ML/statistical: pure pattern-finding. PopPK: empirical but fit to patient data. Exposure-response: bridges to outcomes. PBPK: mechanistic, built from physiology &amp; in vitro. QSP: most mechanistic, built from biology. Punchline: hybrid modeling = deliberately combining approaches from different regions of this map so their strengths cover each other's gaps.</a:t>
            </a:r>
          </a:p>
        </p:txBody>
      </p:sp>
      <p:sp>
        <p:nvSpPr>
          <p:cNvPr id="4" name="Slide Number Placeholder 3">
            <a:extLst>
              <a:ext uri="{FF2B5EF4-FFF2-40B4-BE49-F238E27FC236}">
                <a16:creationId xmlns:a16="http://schemas.microsoft.com/office/drawing/2014/main" id="{215D5801-BB89-98A6-3828-282C901ED58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26801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framing slide — coordinate with Luke, who is also covering the drug development timeline in this section, so you complement rather than duplicate. Key point: the modeling approach is not fixed to a molecule; it tracks the QUESTION, which evolves as data accumulates. Early (discovery/translational) we lean mechanistic (QSP, PBPK) because we lack human data and must extrapolate. Later (Ph2/3) we lean on data-rich empirical/population approaches (PopPK, exposure-response). The overlap zones — where two approaches co-exist — are where hybrid strategies add the most value. Preview that.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a single mental map before the deep dives. Horizontal axis = mechanism (empirical on the left, mechanistic on the right). Vertical axis = data source (fit to observed patient data at top vs. built bottom-up from physiology/biology at bottom). ML/statistical: pure pattern-finding. PopPK: empirical but fit to patient data. Exposure-response: bridges to outcomes. PBPK: mechanistic, built from physiology &amp; in vitro. QSP: most mechanistic, built from biology. Punchline: hybrid modeling = deliberately combining approaches from different regions of this map so their strengths cover each other's gaps.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PopPK is the workhorse of clinical pharmacology. Emphasize the mixed-effects idea for students: we estimate a typical patient AND the spread around them, then explain that spread with covariates. Its superpower is squeezing information out of sparse clinical data pooled across studies. Its limit is that it's empirical — great for interpolation within the studied population, weak for extrapolating to untested scenarios or predicting FIH. This is why it pairs so naturally with mechanistic approaches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PK meets the patient's response. Distinguish empirical E-R (correlate exposure metric with outcome) from semi-mechanistic PK/PD (indirect response, TMDD for biologics, tumor growth inhibition in oncology). Make the dose-optimization connection: FDA's Project Optimus has made rigorous exposure-response the expectation, not the exception. Key caution for students: exposure is a consequence of dose AND patient factors, so exposure-response can be confounded (sicker patients clear drug differently) — a classic place where mechanistic or causal thinking helps.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PBPK is the mechanistic counterpart to PopPK. The mental model: instead of fitting curves to patient data, we build the body from physiology and let concentrations emerge. Its superpower is extrapolation — predicting scenarios you have NOT studied (FIH dose, DDIs, pediatrics, organ impairment) by changing the system parameters. Regulators now accept PBPK for many DDI and special-population questions, sometimes waiving dedicated studies. Its weakness is the mirror image of PopPK: it needs many mechanistic inputs and is not built to absorb unexplained variability from messy patient data. That complementarity is the seed of middle-out / hybrid approaches.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QSP is the most mechanistic and most ambitious approach — it models the biology of the disease and the drug's mechanism, not just the drug's concentration. It shines early (target selection, MoA, combination rationale) and for questions where you need to understand WHY, not just WHAT. Virtual populations let it explore patient variability mechanistically. Be honest about the cost: high complexity, many uncertain parameters, and genuine identifiability/validation challenges. This is precisely why QSP is often used in hybrid fashion — paired with data-rich empirical models that ground it in observed outcomes.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this because students increasingly meet ML first. Frame it as complementary, not competing: ML is unmatched at finding patterns in large, high-dimensional data, but it is empirical to the extreme — great at interpolation, poor at extrapolation, and offers little mechanistic or causal insight on its own. The exciting frontier (which the closing talk revisits) is combining ML with mechanistic models — e.g. using ML to identify covariates or to accelerate/augment mechanistic simulations while keeping the mechanism for interpretability and extrapolation.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people will photograph. Don't read every cell — walk down the 'Nature' column (empirical vs mechanistic) and the 'Main limitation' column, because limitations are what motivate combining approaches. Point out the complementarity: PopPK's limitation (extrapolation) is PBPK's strength; QSP's limitation (validation/data) is met by empirical grounding; ML's limitation (opacity/extrapolation) is met by mechanism. That sets up: choose one when it covers the question; combine when limitations would otherwise sink the decision.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Part 1 and your main teaching message. The discipline is to start from the DECISION and context of use, not from a favorite method. Walk the five questions. Emphasize #4 (reach): interpolation within your data is safe for empirical models; extrapolation beyond it demands mechanism. And #2 (stakes): a go/no-go on a pivotal trial deserves more evidence than an internal exploratory question. End on parsimony: the best model is the simplest one that reduces uncertainty enough to decide. Hybrid is the answer when — and only when — one approach leaves a decision-relevant gap. This teed up perfectly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the message: more models is not automatically better. Left column — resist the urge to over-engineer when one fit-for-purpose model answers the question. Right column — the legitimate triggers for going hybrid: crossing scales/stages, needing mechanism AND variability, extrapolation, high stakes needing convergent evidence, and complementary strengths/weaknesses. The bottom line frames the next four slides: each hybrid 'pattern' is just a disciplined way to combine approaches to cover a specific gap.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four-pattern vocabulary up front, then spend one slide on each. Sequential = a pipeline (most common; e.g. PBPK → PopPK → E-R). Parallel = triangulation of independent evidence for the same decision. Cross-informative = two-way information flow, models constrain each other (middle-out). Integrated = one model, many mechanisms (e.g. PBPK-QSP). These aren't rigid categories — real projects blend them — but the vocabulary helps trainees reason about HOW models talk to each other.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and intuitive pattern — a relay race. Mechanistic models carry the early load (no human data yet), then empirical models take over as clinical data arrive. Stress that uncertainty propagates down the chain: a shaky FIH prediction affects everything downstream, so each hand-off should be checked against emerging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it as triangulation. Two methods with DIFFERENT assumptions pointing to the same answer is strong evidence; disagreement is diagnostic — it tells you an assumption is wrong somewhere. Note the arrows point inward to the decision — the models don't feed each other, they independently inform the call. This is common for high-stakes go/no-go decisions.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'middle-out' idea — start with mechanism, but let clinical data pull uncertain parameters into line, and let mechanism structure the empirical model. Two-way arrows (note the diagram). It's more entangled than sequential and demands care about circularity and identifiability — don't use the same data to both fit and validate. But it captures the best of both mechanistic and empirical worlds.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tightly coupled pattern — one model, many mechanisms. Examples: PBPK-QSP platforms, minimal-PBPK linked to receptor occupancy / target engagement (this is essentially Hands-on 2, mPBPK-PD, so flag it as a preview). Highest insight, highest cost: more parameters, harder identifiability and validation. Use when cross-scale interactions are the whole point of the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 no harm' slide. A hybrid strategy multiplies both power and the ways to fool yourself. Hit uncertainty especially: when you chain or integrate models, errors compound — propagating and communicating uncertainty is non-negotiable. Mention credibility frameworks (ASME V&amp;V40 risk-informed credibility) as the emerging standard for how much validation a model needs given its decision impact. Close on parsimony and reproducibility — the marks of a trustworthy modeler, which matters most to this early-career audience.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four beats and hand off to the hands-on sessions. 1) Decision-first thinking. 2) Each approach has a niche and limits. 3) Hybrid strategies cover gaps in four patterns. 4) Discipline (parsimony, assumptions, uncertainty) keeps it credible. Then transition: the next two hands-on sessions let participants build hybrid models themselves with pre-built code — PBPK+QSP first, then mPBPK-PD.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8A712-98D1-50F4-3100-1D3ADCE80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EDC4A-D900-BD52-4F9C-7C58A0D6A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744CC8-C4B4-04D9-F3D6-8487B90AD65F}"/>
              </a:ext>
            </a:extLst>
          </p:cNvPr>
          <p:cNvSpPr>
            <a:spLocks noGrp="1"/>
          </p:cNvSpPr>
          <p:nvPr>
            <p:ph type="body" idx="1"/>
          </p:nvPr>
        </p:nvSpPr>
        <p:spPr/>
        <p:txBody>
          <a:bodyPr/>
          <a:lstStyle/>
          <a:p>
            <a:r>
              <a:rPr lang="en-US" dirty="0"/>
              <a:t>This is a framing slide — coordinate with Luke, who is also covering the drug development timeline in this section, so you complement rather than duplicate. Key point: the modeling approach is not fixed to a molecule; it tracks the QUESTION, which evolves as data accumulates. Early (discovery/translational) we lean mechanistic (QSP, PBPK) because we lack human data and must extrapolate. Later (Ph2/3) we lean on data-rich empirical/population approaches (PopPK, exposure-response). The overlap zones — where two approaches co-exist — are where hybrid strategies add the most value. Preview that.</a:t>
            </a:r>
          </a:p>
        </p:txBody>
      </p:sp>
      <p:sp>
        <p:nvSpPr>
          <p:cNvPr id="4" name="Slide Number Placeholder 3">
            <a:extLst>
              <a:ext uri="{FF2B5EF4-FFF2-40B4-BE49-F238E27FC236}">
                <a16:creationId xmlns:a16="http://schemas.microsoft.com/office/drawing/2014/main" id="{18FBB984-978D-2B78-B343-782B4D05186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99564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9.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7.png"/><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18.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7" name="Text 5"/>
          <p:cNvSpPr/>
          <p:nvPr/>
        </p:nvSpPr>
        <p:spPr>
          <a:xfrm>
            <a:off x="548640" y="1234440"/>
            <a:ext cx="8229600" cy="365760"/>
          </a:xfrm>
          <a:prstGeom prst="rect">
            <a:avLst/>
          </a:prstGeom>
          <a:noFill/>
          <a:ln/>
        </p:spPr>
        <p:txBody>
          <a:bodyPr wrap="square" lIns="0" tIns="0" rIns="0" bIns="0" rtlCol="0" anchor="ctr"/>
          <a:lstStyle/>
          <a:p>
            <a:pPr marL="0" indent="0">
              <a:buNone/>
            </a:pPr>
            <a:r>
              <a:rPr lang="en-US" sz="1400" b="1" kern="0" spc="200" dirty="0">
                <a:solidFill>
                  <a:srgbClr val="4AA5B8"/>
                </a:solidFill>
                <a:latin typeface="Calibri" pitchFamily="34" charset="0"/>
                <a:ea typeface="Calibri" pitchFamily="34" charset="-122"/>
                <a:cs typeface="Calibri" pitchFamily="34" charset="-120"/>
              </a:rPr>
              <a:t>ACoP16 · STEP TUTORIAL</a:t>
            </a:r>
            <a:endParaRPr lang="en-US" sz="1400" dirty="0"/>
          </a:p>
        </p:txBody>
      </p:sp>
      <p:sp>
        <p:nvSpPr>
          <p:cNvPr id="8" name="Text 6"/>
          <p:cNvSpPr/>
          <p:nvPr/>
        </p:nvSpPr>
        <p:spPr>
          <a:xfrm>
            <a:off x="548640" y="1463040"/>
            <a:ext cx="8412480" cy="128016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Hybrid Modeling Strategies</a:t>
            </a:r>
            <a:endParaRPr lang="en-US" sz="4600" dirty="0"/>
          </a:p>
        </p:txBody>
      </p:sp>
      <p:sp>
        <p:nvSpPr>
          <p:cNvPr id="9" name="Text 7"/>
          <p:cNvSpPr/>
          <p:nvPr/>
        </p:nvSpPr>
        <p:spPr>
          <a:xfrm>
            <a:off x="548640" y="3063240"/>
            <a:ext cx="7863840" cy="777240"/>
          </a:xfrm>
          <a:prstGeom prst="rect">
            <a:avLst/>
          </a:prstGeom>
          <a:noFill/>
          <a:ln/>
        </p:spPr>
        <p:txBody>
          <a:bodyPr wrap="square" lIns="0" tIns="0" rIns="0" bIns="0" rtlCol="0" anchor="ctr"/>
          <a:lstStyle/>
          <a:p>
            <a:pPr>
              <a:lnSpc>
                <a:spcPct val="105000"/>
              </a:lnSpc>
            </a:pPr>
            <a:r>
              <a:rPr lang="en-US" sz="2400" i="1" dirty="0">
                <a:solidFill>
                  <a:srgbClr val="CFE0E8"/>
                </a:solidFill>
                <a:latin typeface="Georgia" pitchFamily="34" charset="0"/>
                <a:ea typeface="Georgia" pitchFamily="34" charset="-122"/>
                <a:cs typeface="Georgia" pitchFamily="34" charset="-120"/>
              </a:rPr>
              <a:t>Introduction to Hybrid Modeling Strategies and Choosing a Fit-for-purpose Modeling Approach</a:t>
            </a:r>
            <a:endParaRPr lang="en-US" sz="2400" dirty="0"/>
          </a:p>
        </p:txBody>
      </p:sp>
      <p:sp>
        <p:nvSpPr>
          <p:cNvPr id="10" name="Shape 8"/>
          <p:cNvSpPr/>
          <p:nvPr/>
        </p:nvSpPr>
        <p:spPr>
          <a:xfrm>
            <a:off x="548640" y="4114800"/>
            <a:ext cx="3840480" cy="0"/>
          </a:xfrm>
          <a:prstGeom prst="line">
            <a:avLst/>
          </a:prstGeom>
          <a:noFill/>
          <a:ln w="31750">
            <a:solidFill>
              <a:srgbClr val="1C7293"/>
            </a:solidFill>
            <a:prstDash val="solid"/>
          </a:ln>
        </p:spPr>
        <p:txBody>
          <a:bodyPr/>
          <a:lstStyle/>
          <a:p>
            <a:endParaRPr lang="en-US"/>
          </a:p>
        </p:txBody>
      </p:sp>
      <p:sp>
        <p:nvSpPr>
          <p:cNvPr id="11" name="Text 9"/>
          <p:cNvSpPr/>
          <p:nvPr/>
        </p:nvSpPr>
        <p:spPr>
          <a:xfrm>
            <a:off x="548640" y="4343400"/>
            <a:ext cx="8229600" cy="914400"/>
          </a:xfrm>
          <a:prstGeom prst="rect">
            <a:avLst/>
          </a:prstGeom>
          <a:noFill/>
          <a:ln/>
        </p:spPr>
        <p:txBody>
          <a:bodyPr wrap="square" lIns="0" tIns="0" rIns="0" bIns="0" rtlCol="0" anchor="ctr"/>
          <a:lstStyle/>
          <a:p>
            <a:pPr marL="0" indent="0">
              <a:lnSpc>
                <a:spcPct val="120000"/>
              </a:lnSpc>
              <a:buNone/>
            </a:pPr>
            <a:r>
              <a:rPr lang="en-US" sz="1400" dirty="0">
                <a:solidFill>
                  <a:srgbClr val="9FB2BF"/>
                </a:solidFill>
                <a:latin typeface="Calibri" pitchFamily="34" charset="0"/>
                <a:ea typeface="Calibri" pitchFamily="34" charset="-122"/>
                <a:cs typeface="Calibri" pitchFamily="34" charset="-120"/>
              </a:rPr>
              <a:t>Nastya Kassir  ·  Modeling &amp; Simulation, Clinical Pharmacology, Genentech</a:t>
            </a:r>
            <a:endParaRPr lang="en-US" sz="1500" dirty="0"/>
          </a:p>
        </p:txBody>
      </p:sp>
      <p:sp>
        <p:nvSpPr>
          <p:cNvPr id="12" name="Text 1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9FB2BF"/>
                </a:solidFill>
                <a:latin typeface="Calibri" pitchFamily="34" charset="0"/>
                <a:ea typeface="Calibri" pitchFamily="34" charset="-122"/>
                <a:cs typeface="Calibri" pitchFamily="34" charset="-120"/>
              </a:rPr>
              <a:t>ACoP16 STEP Tutorial · Hybrid Modeling Strategies</a:t>
            </a:r>
            <a:endParaRPr lang="en-US" sz="900" dirty="0"/>
          </a:p>
        </p:txBody>
      </p:sp>
      <p:sp>
        <p:nvSpPr>
          <p:cNvPr id="13" name="Text 11"/>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9FB2BF"/>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ROADMAP</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What this session covers</a:t>
            </a:r>
            <a:endParaRPr lang="en-US" sz="2600" dirty="0"/>
          </a:p>
        </p:txBody>
      </p:sp>
      <p:sp>
        <p:nvSpPr>
          <p:cNvPr id="5" name="Shape 3"/>
          <p:cNvSpPr/>
          <p:nvPr/>
        </p:nvSpPr>
        <p:spPr>
          <a:xfrm>
            <a:off x="548640" y="141732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749808" y="1655064"/>
            <a:ext cx="566928" cy="566928"/>
          </a:xfrm>
          <a:prstGeom prst="ellipse">
            <a:avLst/>
          </a:prstGeom>
          <a:solidFill>
            <a:srgbClr val="1C729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97209" y="1802465"/>
            <a:ext cx="272125" cy="272125"/>
          </a:xfrm>
          <a:prstGeom prst="rect">
            <a:avLst/>
          </a:prstGeom>
        </p:spPr>
      </p:pic>
      <p:sp>
        <p:nvSpPr>
          <p:cNvPr id="8" name="Text 5"/>
          <p:cNvSpPr/>
          <p:nvPr/>
        </p:nvSpPr>
        <p:spPr>
          <a:xfrm>
            <a:off x="1463040" y="1600200"/>
            <a:ext cx="2468880" cy="365760"/>
          </a:xfrm>
          <a:prstGeom prst="rect">
            <a:avLst/>
          </a:prstGeom>
          <a:noFill/>
          <a:ln/>
        </p:spPr>
        <p:txBody>
          <a:bodyPr wrap="square" lIns="0" tIns="0" rIns="0" bIns="0" rtlCol="0" anchor="ctr"/>
          <a:lstStyle/>
          <a:p>
            <a:pPr marL="0" indent="0">
              <a:buNone/>
            </a:pPr>
            <a:r>
              <a:rPr lang="en-US" sz="1500" b="1" dirty="0">
                <a:solidFill>
                  <a:srgbClr val="13293D"/>
                </a:solidFill>
                <a:latin typeface="Georgia" pitchFamily="34" charset="0"/>
                <a:ea typeface="Georgia" pitchFamily="34" charset="-122"/>
                <a:cs typeface="Georgia" pitchFamily="34" charset="-120"/>
              </a:rPr>
              <a:t>Why model?</a:t>
            </a:r>
            <a:endParaRPr lang="en-US" sz="1500" dirty="0"/>
          </a:p>
        </p:txBody>
      </p:sp>
      <p:sp>
        <p:nvSpPr>
          <p:cNvPr id="9" name="Text 6"/>
          <p:cNvSpPr/>
          <p:nvPr/>
        </p:nvSpPr>
        <p:spPr>
          <a:xfrm>
            <a:off x="768096" y="2130552"/>
            <a:ext cx="3099816" cy="685800"/>
          </a:xfrm>
          <a:prstGeom prst="rect">
            <a:avLst/>
          </a:prstGeom>
          <a:noFill/>
          <a:ln/>
        </p:spPr>
        <p:txBody>
          <a:bodyPr wrap="square" lIns="0" tIns="0" rIns="0" bIns="0" rtlCol="0" anchor="ctr"/>
          <a:lstStyle/>
          <a:p>
            <a:pPr marL="0" indent="0">
              <a:lnSpc>
                <a:spcPct val="102000"/>
              </a:lnSpc>
              <a:buNone/>
            </a:pPr>
            <a:r>
              <a:rPr lang="en-US" sz="1050" dirty="0">
                <a:solidFill>
                  <a:srgbClr val="5A6B78"/>
                </a:solidFill>
                <a:latin typeface="Calibri" pitchFamily="34" charset="0"/>
                <a:ea typeface="Calibri" pitchFamily="34" charset="-122"/>
                <a:cs typeface="Calibri" pitchFamily="34" charset="-120"/>
              </a:rPr>
              <a:t>Why quantitative modeling is central to modern, model-informed drug development (MIDD)</a:t>
            </a:r>
            <a:endParaRPr lang="en-US" sz="1050" dirty="0"/>
          </a:p>
        </p:txBody>
      </p:sp>
      <p:sp>
        <p:nvSpPr>
          <p:cNvPr id="10" name="Shape 7"/>
          <p:cNvSpPr/>
          <p:nvPr/>
        </p:nvSpPr>
        <p:spPr>
          <a:xfrm>
            <a:off x="4325112" y="141732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8"/>
          <p:cNvSpPr/>
          <p:nvPr/>
        </p:nvSpPr>
        <p:spPr>
          <a:xfrm>
            <a:off x="4526280" y="1655064"/>
            <a:ext cx="566928" cy="566928"/>
          </a:xfrm>
          <a:prstGeom prst="ellipse">
            <a:avLst/>
          </a:prstGeom>
          <a:solidFill>
            <a:srgbClr val="1C7293"/>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673681" y="1802465"/>
            <a:ext cx="272125" cy="272125"/>
          </a:xfrm>
          <a:prstGeom prst="rect">
            <a:avLst/>
          </a:prstGeom>
        </p:spPr>
      </p:pic>
      <p:sp>
        <p:nvSpPr>
          <p:cNvPr id="13" name="Text 9"/>
          <p:cNvSpPr/>
          <p:nvPr/>
        </p:nvSpPr>
        <p:spPr>
          <a:xfrm>
            <a:off x="5239512" y="1600200"/>
            <a:ext cx="2468880" cy="365760"/>
          </a:xfrm>
          <a:prstGeom prst="rect">
            <a:avLst/>
          </a:prstGeom>
          <a:noFill/>
          <a:ln/>
        </p:spPr>
        <p:txBody>
          <a:bodyPr wrap="square" lIns="0" tIns="0" rIns="0" bIns="0" rtlCol="0" anchor="ctr"/>
          <a:lstStyle/>
          <a:p>
            <a:pPr marL="0" indent="0">
              <a:buNone/>
            </a:pPr>
            <a:r>
              <a:rPr lang="en-US" sz="1500" b="1" dirty="0">
                <a:solidFill>
                  <a:srgbClr val="13293D"/>
                </a:solidFill>
                <a:latin typeface="Georgia" pitchFamily="34" charset="0"/>
                <a:ea typeface="Georgia" pitchFamily="34" charset="-122"/>
                <a:cs typeface="Georgia" pitchFamily="34" charset="-120"/>
              </a:rPr>
              <a:t>The toolbox</a:t>
            </a:r>
            <a:endParaRPr lang="en-US" sz="1500" dirty="0"/>
          </a:p>
        </p:txBody>
      </p:sp>
      <p:sp>
        <p:nvSpPr>
          <p:cNvPr id="14" name="Text 10"/>
          <p:cNvSpPr/>
          <p:nvPr/>
        </p:nvSpPr>
        <p:spPr>
          <a:xfrm>
            <a:off x="4544568" y="2130552"/>
            <a:ext cx="3099816" cy="685800"/>
          </a:xfrm>
          <a:prstGeom prst="rect">
            <a:avLst/>
          </a:prstGeom>
          <a:noFill/>
          <a:ln/>
        </p:spPr>
        <p:txBody>
          <a:bodyPr wrap="square" lIns="0" tIns="0" rIns="0" bIns="0" rtlCol="0" anchor="ctr"/>
          <a:lstStyle/>
          <a:p>
            <a:pPr marL="0" indent="0">
              <a:lnSpc>
                <a:spcPct val="102000"/>
              </a:lnSpc>
              <a:buNone/>
            </a:pPr>
            <a:r>
              <a:rPr lang="en-US" sz="1050" dirty="0">
                <a:solidFill>
                  <a:srgbClr val="5A6B78"/>
                </a:solidFill>
                <a:latin typeface="Calibri" pitchFamily="34" charset="0"/>
                <a:ea typeface="Calibri" pitchFamily="34" charset="-122"/>
                <a:cs typeface="Calibri" pitchFamily="34" charset="-120"/>
              </a:rPr>
              <a:t>A tour of the core approaches — PopPK, exposure-response, PBPK, QSP, and data-driven models</a:t>
            </a:r>
            <a:endParaRPr lang="en-US" sz="1050" dirty="0"/>
          </a:p>
        </p:txBody>
      </p:sp>
      <p:sp>
        <p:nvSpPr>
          <p:cNvPr id="15" name="Shape 11"/>
          <p:cNvSpPr/>
          <p:nvPr/>
        </p:nvSpPr>
        <p:spPr>
          <a:xfrm>
            <a:off x="8101584" y="141732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6" name="Shape 12"/>
          <p:cNvSpPr/>
          <p:nvPr/>
        </p:nvSpPr>
        <p:spPr>
          <a:xfrm>
            <a:off x="8302752" y="1655064"/>
            <a:ext cx="566928" cy="566928"/>
          </a:xfrm>
          <a:prstGeom prst="ellipse">
            <a:avLst/>
          </a:prstGeom>
          <a:solidFill>
            <a:srgbClr val="1C7293"/>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450153" y="1802465"/>
            <a:ext cx="272125" cy="272125"/>
          </a:xfrm>
          <a:prstGeom prst="rect">
            <a:avLst/>
          </a:prstGeom>
        </p:spPr>
      </p:pic>
      <p:sp>
        <p:nvSpPr>
          <p:cNvPr id="18" name="Text 13"/>
          <p:cNvSpPr/>
          <p:nvPr/>
        </p:nvSpPr>
        <p:spPr>
          <a:xfrm>
            <a:off x="9015984" y="1600200"/>
            <a:ext cx="2468880" cy="365760"/>
          </a:xfrm>
          <a:prstGeom prst="rect">
            <a:avLst/>
          </a:prstGeom>
          <a:noFill/>
          <a:ln/>
        </p:spPr>
        <p:txBody>
          <a:bodyPr wrap="square" lIns="0" tIns="0" rIns="0" bIns="0" rtlCol="0" anchor="ctr"/>
          <a:lstStyle/>
          <a:p>
            <a:pPr marL="0" indent="0">
              <a:buNone/>
            </a:pPr>
            <a:r>
              <a:rPr lang="en-US" sz="1500" b="1" dirty="0">
                <a:solidFill>
                  <a:srgbClr val="13293D"/>
                </a:solidFill>
                <a:latin typeface="Georgia" pitchFamily="34" charset="0"/>
                <a:ea typeface="Georgia" pitchFamily="34" charset="-122"/>
                <a:cs typeface="Georgia" pitchFamily="34" charset="-120"/>
              </a:rPr>
              <a:t>Trade-offs</a:t>
            </a:r>
            <a:endParaRPr lang="en-US" sz="1500" dirty="0"/>
          </a:p>
        </p:txBody>
      </p:sp>
      <p:sp>
        <p:nvSpPr>
          <p:cNvPr id="19" name="Text 14"/>
          <p:cNvSpPr/>
          <p:nvPr/>
        </p:nvSpPr>
        <p:spPr>
          <a:xfrm>
            <a:off x="8321040" y="2130552"/>
            <a:ext cx="3099816" cy="685800"/>
          </a:xfrm>
          <a:prstGeom prst="rect">
            <a:avLst/>
          </a:prstGeom>
          <a:noFill/>
          <a:ln/>
        </p:spPr>
        <p:txBody>
          <a:bodyPr wrap="square" lIns="0" tIns="0" rIns="0" bIns="0" rtlCol="0" anchor="ctr"/>
          <a:lstStyle/>
          <a:p>
            <a:pPr marL="0" indent="0">
              <a:lnSpc>
                <a:spcPct val="102000"/>
              </a:lnSpc>
              <a:buNone/>
            </a:pPr>
            <a:r>
              <a:rPr lang="en-US" sz="1050" dirty="0">
                <a:solidFill>
                  <a:srgbClr val="5A6B78"/>
                </a:solidFill>
                <a:latin typeface="Calibri" pitchFamily="34" charset="0"/>
                <a:ea typeface="Calibri" pitchFamily="34" charset="-122"/>
                <a:cs typeface="Calibri" pitchFamily="34" charset="-120"/>
              </a:rPr>
              <a:t>For each: what data it needs, what questions it answers, its strengths and limits, preclinical vs. clinical</a:t>
            </a:r>
            <a:endParaRPr lang="en-US" sz="1050" dirty="0"/>
          </a:p>
        </p:txBody>
      </p:sp>
      <p:sp>
        <p:nvSpPr>
          <p:cNvPr id="20" name="Shape 15"/>
          <p:cNvSpPr/>
          <p:nvPr/>
        </p:nvSpPr>
        <p:spPr>
          <a:xfrm>
            <a:off x="548640" y="3172968"/>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1" name="Shape 16"/>
          <p:cNvSpPr/>
          <p:nvPr/>
        </p:nvSpPr>
        <p:spPr>
          <a:xfrm>
            <a:off x="749808" y="3410712"/>
            <a:ext cx="566928" cy="566928"/>
          </a:xfrm>
          <a:prstGeom prst="ellipse">
            <a:avLst/>
          </a:prstGeom>
          <a:solidFill>
            <a:srgbClr val="1C7293"/>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97209" y="3558113"/>
            <a:ext cx="272125" cy="272125"/>
          </a:xfrm>
          <a:prstGeom prst="rect">
            <a:avLst/>
          </a:prstGeom>
        </p:spPr>
      </p:pic>
      <p:sp>
        <p:nvSpPr>
          <p:cNvPr id="23" name="Text 17"/>
          <p:cNvSpPr/>
          <p:nvPr/>
        </p:nvSpPr>
        <p:spPr>
          <a:xfrm>
            <a:off x="1463040" y="3355848"/>
            <a:ext cx="2468880" cy="365760"/>
          </a:xfrm>
          <a:prstGeom prst="rect">
            <a:avLst/>
          </a:prstGeom>
          <a:noFill/>
          <a:ln/>
        </p:spPr>
        <p:txBody>
          <a:bodyPr wrap="square" lIns="0" tIns="0" rIns="0" bIns="0" rtlCol="0" anchor="ctr"/>
          <a:lstStyle/>
          <a:p>
            <a:pPr marL="0" indent="0">
              <a:buNone/>
            </a:pPr>
            <a:r>
              <a:rPr lang="en-US" sz="1500" b="1" dirty="0">
                <a:solidFill>
                  <a:srgbClr val="13293D"/>
                </a:solidFill>
                <a:latin typeface="Georgia" pitchFamily="34" charset="0"/>
                <a:ea typeface="Georgia" pitchFamily="34" charset="-122"/>
                <a:cs typeface="Georgia" pitchFamily="34" charset="-120"/>
              </a:rPr>
              <a:t>Fit-for-purpose</a:t>
            </a:r>
            <a:endParaRPr lang="en-US" sz="1500" dirty="0"/>
          </a:p>
        </p:txBody>
      </p:sp>
      <p:sp>
        <p:nvSpPr>
          <p:cNvPr id="24" name="Text 18"/>
          <p:cNvSpPr/>
          <p:nvPr/>
        </p:nvSpPr>
        <p:spPr>
          <a:xfrm>
            <a:off x="768096" y="3886200"/>
            <a:ext cx="3099816" cy="685800"/>
          </a:xfrm>
          <a:prstGeom prst="rect">
            <a:avLst/>
          </a:prstGeom>
          <a:noFill/>
          <a:ln/>
        </p:spPr>
        <p:txBody>
          <a:bodyPr wrap="square" lIns="0" tIns="0" rIns="0" bIns="0" rtlCol="0" anchor="ctr"/>
          <a:lstStyle/>
          <a:p>
            <a:pPr marL="0" indent="0">
              <a:lnSpc>
                <a:spcPct val="102000"/>
              </a:lnSpc>
              <a:buNone/>
            </a:pPr>
            <a:r>
              <a:rPr lang="en-US" sz="1050" dirty="0">
                <a:solidFill>
                  <a:srgbClr val="5A6B78"/>
                </a:solidFill>
                <a:latin typeface="Calibri" pitchFamily="34" charset="0"/>
                <a:ea typeface="Calibri" pitchFamily="34" charset="-122"/>
                <a:cs typeface="Calibri" pitchFamily="34" charset="-120"/>
              </a:rPr>
              <a:t>A simple framework for matching the model to the development question and decision</a:t>
            </a:r>
            <a:endParaRPr lang="en-US" sz="1050" dirty="0"/>
          </a:p>
        </p:txBody>
      </p:sp>
      <p:sp>
        <p:nvSpPr>
          <p:cNvPr id="25" name="Shape 19"/>
          <p:cNvSpPr/>
          <p:nvPr/>
        </p:nvSpPr>
        <p:spPr>
          <a:xfrm>
            <a:off x="4325112" y="3172968"/>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0"/>
          <p:cNvSpPr/>
          <p:nvPr/>
        </p:nvSpPr>
        <p:spPr>
          <a:xfrm>
            <a:off x="4526280" y="3410712"/>
            <a:ext cx="566928" cy="566928"/>
          </a:xfrm>
          <a:prstGeom prst="ellipse">
            <a:avLst/>
          </a:prstGeom>
          <a:solidFill>
            <a:srgbClr val="1C7293"/>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673681" y="3558113"/>
            <a:ext cx="272125" cy="272125"/>
          </a:xfrm>
          <a:prstGeom prst="rect">
            <a:avLst/>
          </a:prstGeom>
        </p:spPr>
      </p:pic>
      <p:sp>
        <p:nvSpPr>
          <p:cNvPr id="28" name="Text 21"/>
          <p:cNvSpPr/>
          <p:nvPr/>
        </p:nvSpPr>
        <p:spPr>
          <a:xfrm>
            <a:off x="5239512" y="3355848"/>
            <a:ext cx="2468880" cy="365760"/>
          </a:xfrm>
          <a:prstGeom prst="rect">
            <a:avLst/>
          </a:prstGeom>
          <a:noFill/>
          <a:ln/>
        </p:spPr>
        <p:txBody>
          <a:bodyPr wrap="square" lIns="0" tIns="0" rIns="0" bIns="0" rtlCol="0" anchor="ctr"/>
          <a:lstStyle/>
          <a:p>
            <a:pPr marL="0" indent="0">
              <a:buNone/>
            </a:pPr>
            <a:r>
              <a:rPr lang="en-US" sz="1500" b="1" dirty="0">
                <a:solidFill>
                  <a:srgbClr val="13293D"/>
                </a:solidFill>
                <a:latin typeface="Georgia" pitchFamily="34" charset="0"/>
                <a:ea typeface="Georgia" pitchFamily="34" charset="-122"/>
                <a:cs typeface="Georgia" pitchFamily="34" charset="-120"/>
              </a:rPr>
              <a:t>Going hybrid</a:t>
            </a:r>
            <a:endParaRPr lang="en-US" sz="1500" dirty="0"/>
          </a:p>
        </p:txBody>
      </p:sp>
      <p:sp>
        <p:nvSpPr>
          <p:cNvPr id="29" name="Text 22"/>
          <p:cNvSpPr/>
          <p:nvPr/>
        </p:nvSpPr>
        <p:spPr>
          <a:xfrm>
            <a:off x="4544568" y="3886200"/>
            <a:ext cx="3099816" cy="685800"/>
          </a:xfrm>
          <a:prstGeom prst="rect">
            <a:avLst/>
          </a:prstGeom>
          <a:noFill/>
          <a:ln/>
        </p:spPr>
        <p:txBody>
          <a:bodyPr wrap="square" lIns="0" tIns="0" rIns="0" bIns="0" rtlCol="0" anchor="ctr"/>
          <a:lstStyle/>
          <a:p>
            <a:pPr marL="0" indent="0">
              <a:lnSpc>
                <a:spcPct val="102000"/>
              </a:lnSpc>
              <a:buNone/>
            </a:pPr>
            <a:r>
              <a:rPr lang="en-US" sz="1050" dirty="0">
                <a:solidFill>
                  <a:srgbClr val="5A6B78"/>
                </a:solidFill>
                <a:latin typeface="Calibri" pitchFamily="34" charset="0"/>
                <a:ea typeface="Calibri" pitchFamily="34" charset="-122"/>
                <a:cs typeface="Calibri" pitchFamily="34" charset="-120"/>
              </a:rPr>
              <a:t>Four ways to combine approaches — sequential, parallel, cross-informative, mechanistically integrated</a:t>
            </a:r>
            <a:endParaRPr lang="en-US" sz="1050" dirty="0"/>
          </a:p>
        </p:txBody>
      </p:sp>
      <p:sp>
        <p:nvSpPr>
          <p:cNvPr id="30" name="Shape 23"/>
          <p:cNvSpPr/>
          <p:nvPr/>
        </p:nvSpPr>
        <p:spPr>
          <a:xfrm>
            <a:off x="8101584" y="3172968"/>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1" name="Shape 24"/>
          <p:cNvSpPr/>
          <p:nvPr/>
        </p:nvSpPr>
        <p:spPr>
          <a:xfrm>
            <a:off x="8302752" y="3410712"/>
            <a:ext cx="566928" cy="566928"/>
          </a:xfrm>
          <a:prstGeom prst="ellipse">
            <a:avLst/>
          </a:prstGeom>
          <a:solidFill>
            <a:srgbClr val="1C7293"/>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450153" y="3558113"/>
            <a:ext cx="272125" cy="272125"/>
          </a:xfrm>
          <a:prstGeom prst="rect">
            <a:avLst/>
          </a:prstGeom>
        </p:spPr>
      </p:pic>
      <p:sp>
        <p:nvSpPr>
          <p:cNvPr id="33" name="Text 25"/>
          <p:cNvSpPr/>
          <p:nvPr/>
        </p:nvSpPr>
        <p:spPr>
          <a:xfrm>
            <a:off x="9015984" y="3355848"/>
            <a:ext cx="2468880" cy="365760"/>
          </a:xfrm>
          <a:prstGeom prst="rect">
            <a:avLst/>
          </a:prstGeom>
          <a:noFill/>
          <a:ln/>
        </p:spPr>
        <p:txBody>
          <a:bodyPr wrap="square" lIns="0" tIns="0" rIns="0" bIns="0" rtlCol="0" anchor="ctr"/>
          <a:lstStyle/>
          <a:p>
            <a:pPr marL="0" indent="0">
              <a:buNone/>
            </a:pPr>
            <a:r>
              <a:rPr lang="en-US" sz="1500" b="1" dirty="0">
                <a:solidFill>
                  <a:srgbClr val="13293D"/>
                </a:solidFill>
                <a:latin typeface="Georgia" pitchFamily="34" charset="0"/>
                <a:ea typeface="Georgia" pitchFamily="34" charset="-122"/>
                <a:cs typeface="Georgia" pitchFamily="34" charset="-120"/>
              </a:rPr>
              <a:t>Good practice</a:t>
            </a:r>
            <a:endParaRPr lang="en-US" sz="1500" dirty="0"/>
          </a:p>
        </p:txBody>
      </p:sp>
      <p:sp>
        <p:nvSpPr>
          <p:cNvPr id="34" name="Text 26"/>
          <p:cNvSpPr/>
          <p:nvPr/>
        </p:nvSpPr>
        <p:spPr>
          <a:xfrm>
            <a:off x="8321040" y="3886200"/>
            <a:ext cx="3099816" cy="685800"/>
          </a:xfrm>
          <a:prstGeom prst="rect">
            <a:avLst/>
          </a:prstGeom>
          <a:noFill/>
          <a:ln/>
        </p:spPr>
        <p:txBody>
          <a:bodyPr wrap="square" lIns="0" tIns="0" rIns="0" bIns="0" rtlCol="0" anchor="ctr"/>
          <a:lstStyle/>
          <a:p>
            <a:pPr marL="0" indent="0">
              <a:lnSpc>
                <a:spcPct val="102000"/>
              </a:lnSpc>
              <a:buNone/>
            </a:pPr>
            <a:r>
              <a:rPr lang="en-US" sz="1050" dirty="0">
                <a:solidFill>
                  <a:srgbClr val="5A6B78"/>
                </a:solidFill>
                <a:latin typeface="Calibri" pitchFamily="34" charset="0"/>
                <a:ea typeface="Calibri" pitchFamily="34" charset="-122"/>
                <a:cs typeface="Calibri" pitchFamily="34" charset="-120"/>
              </a:rPr>
              <a:t>Assumptions, uncertainty, and credibility — then on to the hands-on sessions</a:t>
            </a:r>
            <a:endParaRPr lang="en-US" sz="1050" dirty="0"/>
          </a:p>
        </p:txBody>
      </p:sp>
      <p:sp>
        <p:nvSpPr>
          <p:cNvPr id="35"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36" name="Text 28"/>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CASE FOR MODELING</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Why modeling is central to drug development</a:t>
            </a:r>
            <a:endParaRPr lang="en-US" sz="2600" dirty="0"/>
          </a:p>
        </p:txBody>
      </p:sp>
      <p:sp>
        <p:nvSpPr>
          <p:cNvPr id="5" name="Text 3"/>
          <p:cNvSpPr/>
          <p:nvPr/>
        </p:nvSpPr>
        <p:spPr>
          <a:xfrm>
            <a:off x="548640" y="1371600"/>
            <a:ext cx="11094415" cy="822960"/>
          </a:xfrm>
          <a:prstGeom prst="rect">
            <a:avLst/>
          </a:prstGeom>
          <a:noFill/>
          <a:ln/>
        </p:spPr>
        <p:txBody>
          <a:bodyPr wrap="square" lIns="0" tIns="0" rIns="0" bIns="0" rtlCol="0" anchor="ctr"/>
          <a:lstStyle/>
          <a:p>
            <a:pPr marL="0" indent="0">
              <a:lnSpc>
                <a:spcPct val="110000"/>
              </a:lnSpc>
              <a:buNone/>
            </a:pPr>
            <a:r>
              <a:rPr lang="en-US" sz="1450" b="1" dirty="0">
                <a:solidFill>
                  <a:srgbClr val="13293D"/>
                </a:solidFill>
                <a:latin typeface="Calibri" pitchFamily="34" charset="0"/>
                <a:ea typeface="Calibri" pitchFamily="34" charset="-122"/>
                <a:cs typeface="Calibri" pitchFamily="34" charset="-120"/>
              </a:rPr>
              <a:t>Drug development is long, expensive, and high-risk. </a:t>
            </a:r>
            <a:r>
              <a:rPr lang="en-US" sz="1450" dirty="0">
                <a:solidFill>
                  <a:srgbClr val="1E2A33"/>
                </a:solidFill>
                <a:latin typeface="Calibri" pitchFamily="34" charset="0"/>
                <a:ea typeface="Calibri" pitchFamily="34" charset="-122"/>
                <a:cs typeface="Calibri" pitchFamily="34" charset="-120"/>
              </a:rPr>
              <a:t>Every dose, trial design, and go/no-go decision is made under uncertainty — often with limited data. Models turn scattered data into quantitative, testable predictions that support better decisions.</a:t>
            </a:r>
            <a:endParaRPr lang="en-US" sz="1450" dirty="0"/>
          </a:p>
        </p:txBody>
      </p:sp>
      <p:sp>
        <p:nvSpPr>
          <p:cNvPr id="6" name="Shape 4"/>
          <p:cNvSpPr/>
          <p:nvPr/>
        </p:nvSpPr>
        <p:spPr>
          <a:xfrm>
            <a:off x="548640" y="2468880"/>
            <a:ext cx="3520440" cy="1600200"/>
          </a:xfrm>
          <a:prstGeom prst="roundRect">
            <a:avLst>
              <a:gd name="adj" fmla="val 4571"/>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548640" y="2468880"/>
            <a:ext cx="3520440" cy="82296"/>
          </a:xfrm>
          <a:prstGeom prst="rect">
            <a:avLst/>
          </a:prstGeom>
          <a:solidFill>
            <a:srgbClr val="C0603A"/>
          </a:solidFill>
          <a:ln/>
        </p:spPr>
        <p:txBody>
          <a:bodyPr/>
          <a:lstStyle/>
          <a:p>
            <a:endParaRPr lang="en-US"/>
          </a:p>
        </p:txBody>
      </p:sp>
      <p:sp>
        <p:nvSpPr>
          <p:cNvPr id="8" name="Text 6"/>
          <p:cNvSpPr/>
          <p:nvPr/>
        </p:nvSpPr>
        <p:spPr>
          <a:xfrm>
            <a:off x="731520" y="2670048"/>
            <a:ext cx="3154680" cy="685800"/>
          </a:xfrm>
          <a:prstGeom prst="rect">
            <a:avLst/>
          </a:prstGeom>
          <a:noFill/>
          <a:ln/>
        </p:spPr>
        <p:txBody>
          <a:bodyPr wrap="square" lIns="0" tIns="0" rIns="0" bIns="0" rtlCol="0" anchor="ctr"/>
          <a:lstStyle/>
          <a:p>
            <a:pPr marL="0" indent="0">
              <a:buNone/>
            </a:pPr>
            <a:r>
              <a:rPr lang="en-US" sz="3400" b="1" dirty="0">
                <a:solidFill>
                  <a:srgbClr val="C0603A"/>
                </a:solidFill>
                <a:latin typeface="Georgia" pitchFamily="34" charset="0"/>
                <a:ea typeface="Georgia" pitchFamily="34" charset="-122"/>
                <a:cs typeface="Georgia" pitchFamily="34" charset="-120"/>
              </a:rPr>
              <a:t>~10%</a:t>
            </a:r>
            <a:endParaRPr lang="en-US" sz="3400" dirty="0"/>
          </a:p>
        </p:txBody>
      </p:sp>
      <p:sp>
        <p:nvSpPr>
          <p:cNvPr id="9" name="Text 7"/>
          <p:cNvSpPr/>
          <p:nvPr/>
        </p:nvSpPr>
        <p:spPr>
          <a:xfrm>
            <a:off x="731520" y="3383280"/>
            <a:ext cx="3154680" cy="594360"/>
          </a:xfrm>
          <a:prstGeom prst="rect">
            <a:avLst/>
          </a:prstGeom>
          <a:noFill/>
          <a:ln/>
        </p:spPr>
        <p:txBody>
          <a:bodyPr wrap="square" lIns="0" tIns="0" rIns="0" bIns="0" rtlCol="0" anchor="ctr"/>
          <a:lstStyle/>
          <a:p>
            <a:pPr marL="0" indent="0">
              <a:lnSpc>
                <a:spcPct val="100000"/>
              </a:lnSpc>
              <a:buNone/>
            </a:pPr>
            <a:r>
              <a:rPr lang="en-US" sz="1200" dirty="0">
                <a:solidFill>
                  <a:srgbClr val="5A6B78"/>
                </a:solidFill>
                <a:latin typeface="Calibri" pitchFamily="34" charset="0"/>
                <a:ea typeface="Calibri" pitchFamily="34" charset="-122"/>
                <a:cs typeface="Calibri" pitchFamily="34" charset="-120"/>
              </a:rPr>
              <a:t>of drugs entering clinical trials reach approval</a:t>
            </a:r>
            <a:endParaRPr lang="en-US" sz="1200" dirty="0"/>
          </a:p>
        </p:txBody>
      </p:sp>
      <p:sp>
        <p:nvSpPr>
          <p:cNvPr id="10" name="Shape 8"/>
          <p:cNvSpPr/>
          <p:nvPr/>
        </p:nvSpPr>
        <p:spPr>
          <a:xfrm>
            <a:off x="4325112" y="2468880"/>
            <a:ext cx="3520440" cy="1600200"/>
          </a:xfrm>
          <a:prstGeom prst="roundRect">
            <a:avLst>
              <a:gd name="adj" fmla="val 4571"/>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9"/>
          <p:cNvSpPr/>
          <p:nvPr/>
        </p:nvSpPr>
        <p:spPr>
          <a:xfrm>
            <a:off x="4325112" y="2468880"/>
            <a:ext cx="3520440" cy="82296"/>
          </a:xfrm>
          <a:prstGeom prst="rect">
            <a:avLst/>
          </a:prstGeom>
          <a:solidFill>
            <a:srgbClr val="1C7293"/>
          </a:solidFill>
          <a:ln/>
        </p:spPr>
        <p:txBody>
          <a:bodyPr/>
          <a:lstStyle/>
          <a:p>
            <a:endParaRPr lang="en-US"/>
          </a:p>
        </p:txBody>
      </p:sp>
      <p:sp>
        <p:nvSpPr>
          <p:cNvPr id="12" name="Text 10"/>
          <p:cNvSpPr/>
          <p:nvPr/>
        </p:nvSpPr>
        <p:spPr>
          <a:xfrm>
            <a:off x="4507992" y="2670048"/>
            <a:ext cx="3154680" cy="685800"/>
          </a:xfrm>
          <a:prstGeom prst="rect">
            <a:avLst/>
          </a:prstGeom>
          <a:noFill/>
          <a:ln/>
        </p:spPr>
        <p:txBody>
          <a:bodyPr wrap="square" lIns="0" tIns="0" rIns="0" bIns="0" rtlCol="0" anchor="ctr"/>
          <a:lstStyle/>
          <a:p>
            <a:pPr marL="0" indent="0">
              <a:buNone/>
            </a:pPr>
            <a:r>
              <a:rPr lang="en-US" sz="3400" b="1" dirty="0">
                <a:solidFill>
                  <a:srgbClr val="1C7293"/>
                </a:solidFill>
                <a:latin typeface="Georgia" pitchFamily="34" charset="0"/>
                <a:ea typeface="Georgia" pitchFamily="34" charset="-122"/>
                <a:cs typeface="Georgia" pitchFamily="34" charset="-120"/>
              </a:rPr>
              <a:t>&gt;10 yrs</a:t>
            </a:r>
            <a:endParaRPr lang="en-US" sz="3400" dirty="0"/>
          </a:p>
        </p:txBody>
      </p:sp>
      <p:sp>
        <p:nvSpPr>
          <p:cNvPr id="13" name="Text 11"/>
          <p:cNvSpPr/>
          <p:nvPr/>
        </p:nvSpPr>
        <p:spPr>
          <a:xfrm>
            <a:off x="4507992" y="3383280"/>
            <a:ext cx="3154680" cy="594360"/>
          </a:xfrm>
          <a:prstGeom prst="rect">
            <a:avLst/>
          </a:prstGeom>
          <a:noFill/>
          <a:ln/>
        </p:spPr>
        <p:txBody>
          <a:bodyPr wrap="square" lIns="0" tIns="0" rIns="0" bIns="0" rtlCol="0" anchor="ctr"/>
          <a:lstStyle/>
          <a:p>
            <a:pPr marL="0" indent="0">
              <a:lnSpc>
                <a:spcPct val="100000"/>
              </a:lnSpc>
              <a:buNone/>
            </a:pPr>
            <a:r>
              <a:rPr lang="en-US" sz="1200" dirty="0">
                <a:solidFill>
                  <a:srgbClr val="5A6B78"/>
                </a:solidFill>
                <a:latin typeface="Calibri" pitchFamily="34" charset="0"/>
                <a:ea typeface="Calibri" pitchFamily="34" charset="-122"/>
                <a:cs typeface="Calibri" pitchFamily="34" charset="-120"/>
              </a:rPr>
              <a:t>typical timeline from discovery to approval</a:t>
            </a:r>
            <a:endParaRPr lang="en-US" sz="1200" dirty="0"/>
          </a:p>
        </p:txBody>
      </p:sp>
      <p:sp>
        <p:nvSpPr>
          <p:cNvPr id="14" name="Shape 12"/>
          <p:cNvSpPr/>
          <p:nvPr/>
        </p:nvSpPr>
        <p:spPr>
          <a:xfrm>
            <a:off x="8101584" y="2468880"/>
            <a:ext cx="3520440" cy="1600200"/>
          </a:xfrm>
          <a:prstGeom prst="roundRect">
            <a:avLst>
              <a:gd name="adj" fmla="val 4571"/>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5" name="Shape 13"/>
          <p:cNvSpPr/>
          <p:nvPr/>
        </p:nvSpPr>
        <p:spPr>
          <a:xfrm>
            <a:off x="8101584" y="2468880"/>
            <a:ext cx="3520440" cy="82296"/>
          </a:xfrm>
          <a:prstGeom prst="rect">
            <a:avLst/>
          </a:prstGeom>
          <a:solidFill>
            <a:srgbClr val="2E8B72"/>
          </a:solidFill>
          <a:ln/>
        </p:spPr>
        <p:txBody>
          <a:bodyPr/>
          <a:lstStyle/>
          <a:p>
            <a:endParaRPr lang="en-US"/>
          </a:p>
        </p:txBody>
      </p:sp>
      <p:sp>
        <p:nvSpPr>
          <p:cNvPr id="16" name="Text 14"/>
          <p:cNvSpPr/>
          <p:nvPr/>
        </p:nvSpPr>
        <p:spPr>
          <a:xfrm>
            <a:off x="8284464" y="2670048"/>
            <a:ext cx="3154680" cy="685800"/>
          </a:xfrm>
          <a:prstGeom prst="rect">
            <a:avLst/>
          </a:prstGeom>
          <a:noFill/>
          <a:ln/>
        </p:spPr>
        <p:txBody>
          <a:bodyPr wrap="square" lIns="0" tIns="0" rIns="0" bIns="0" rtlCol="0" anchor="ctr"/>
          <a:lstStyle/>
          <a:p>
            <a:pPr marL="0" indent="0">
              <a:buNone/>
            </a:pPr>
            <a:r>
              <a:rPr lang="en-US" sz="3400" b="1" dirty="0">
                <a:solidFill>
                  <a:srgbClr val="2E8B72"/>
                </a:solidFill>
                <a:latin typeface="Georgia" pitchFamily="34" charset="0"/>
                <a:ea typeface="Georgia" pitchFamily="34" charset="-122"/>
                <a:cs typeface="Georgia" pitchFamily="34" charset="-120"/>
              </a:rPr>
              <a:t>MIDD</a:t>
            </a:r>
            <a:endParaRPr lang="en-US" sz="3400" dirty="0"/>
          </a:p>
        </p:txBody>
      </p:sp>
      <p:sp>
        <p:nvSpPr>
          <p:cNvPr id="17" name="Text 15"/>
          <p:cNvSpPr/>
          <p:nvPr/>
        </p:nvSpPr>
        <p:spPr>
          <a:xfrm>
            <a:off x="8284464" y="3383280"/>
            <a:ext cx="3154680" cy="594360"/>
          </a:xfrm>
          <a:prstGeom prst="rect">
            <a:avLst/>
          </a:prstGeom>
          <a:noFill/>
          <a:ln/>
        </p:spPr>
        <p:txBody>
          <a:bodyPr wrap="square" lIns="0" tIns="0" rIns="0" bIns="0" rtlCol="0" anchor="ctr"/>
          <a:lstStyle/>
          <a:p>
            <a:pPr marL="0" indent="0">
              <a:lnSpc>
                <a:spcPct val="100000"/>
              </a:lnSpc>
              <a:buNone/>
            </a:pPr>
            <a:r>
              <a:rPr lang="en-US" sz="1200" dirty="0">
                <a:solidFill>
                  <a:srgbClr val="5A6B78"/>
                </a:solidFill>
                <a:latin typeface="Calibri" pitchFamily="34" charset="0"/>
                <a:ea typeface="Calibri" pitchFamily="34" charset="-122"/>
                <a:cs typeface="Calibri" pitchFamily="34" charset="-120"/>
              </a:rPr>
              <a:t>Model-Informed Drug Development is now expected by regulators (FDA, EMA, PMDA)</a:t>
            </a:r>
            <a:endParaRPr lang="en-US" sz="1200" dirty="0"/>
          </a:p>
        </p:txBody>
      </p:sp>
      <p:sp>
        <p:nvSpPr>
          <p:cNvPr id="18" name="Shape 16"/>
          <p:cNvSpPr/>
          <p:nvPr/>
        </p:nvSpPr>
        <p:spPr>
          <a:xfrm>
            <a:off x="548640" y="4343400"/>
            <a:ext cx="11094415" cy="1325880"/>
          </a:xfrm>
          <a:prstGeom prst="roundRect">
            <a:avLst>
              <a:gd name="adj" fmla="val 5517"/>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19" name="Shape 17"/>
          <p:cNvSpPr/>
          <p:nvPr/>
        </p:nvSpPr>
        <p:spPr>
          <a:xfrm>
            <a:off x="822960" y="4681728"/>
            <a:ext cx="640080" cy="640080"/>
          </a:xfrm>
          <a:prstGeom prst="ellipse">
            <a:avLst/>
          </a:prstGeom>
          <a:solidFill>
            <a:srgbClr val="D98C3E"/>
          </a:solidFill>
          <a:ln/>
        </p:spPr>
        <p:txBody>
          <a:bodyPr/>
          <a:lstStyle/>
          <a:p>
            <a:endParaRPr lang="en-US"/>
          </a:p>
        </p:txBody>
      </p:sp>
      <p:pic>
        <p:nvPicPr>
          <p:cNvPr id="20" name="Image 0" descr="preencoded.png"/>
          <p:cNvPicPr>
            <a:picLocks noChangeAspect="1"/>
          </p:cNvPicPr>
          <p:nvPr/>
        </p:nvPicPr>
        <p:blipFill>
          <a:blip r:embed="rId3"/>
          <a:stretch>
            <a:fillRect/>
          </a:stretch>
        </p:blipFill>
        <p:spPr>
          <a:xfrm>
            <a:off x="989381" y="4848149"/>
            <a:ext cx="307238" cy="307238"/>
          </a:xfrm>
          <a:prstGeom prst="rect">
            <a:avLst/>
          </a:prstGeom>
        </p:spPr>
      </p:pic>
      <p:sp>
        <p:nvSpPr>
          <p:cNvPr id="21" name="Text 18"/>
          <p:cNvSpPr/>
          <p:nvPr/>
        </p:nvSpPr>
        <p:spPr>
          <a:xfrm>
            <a:off x="1691640" y="4480560"/>
            <a:ext cx="9631375" cy="1005840"/>
          </a:xfrm>
          <a:prstGeom prst="rect">
            <a:avLst/>
          </a:prstGeom>
          <a:noFill/>
          <a:ln/>
        </p:spPr>
        <p:txBody>
          <a:bodyPr wrap="square" lIns="0" tIns="0" rIns="0" bIns="0" rtlCol="0" anchor="ctr"/>
          <a:lstStyle/>
          <a:p>
            <a:pPr marL="0" indent="0">
              <a:lnSpc>
                <a:spcPct val="110000"/>
              </a:lnSpc>
              <a:buNone/>
            </a:pPr>
            <a:r>
              <a:rPr lang="en-US" sz="1400" b="1" dirty="0">
                <a:solidFill>
                  <a:srgbClr val="FFFFFF"/>
                </a:solidFill>
                <a:latin typeface="Calibri" pitchFamily="34" charset="0"/>
                <a:ea typeface="Calibri" pitchFamily="34" charset="-122"/>
                <a:cs typeface="Calibri" pitchFamily="34" charset="-120"/>
              </a:rPr>
              <a:t>The goal is not a perfect model — it is the right model for the decision at hand. </a:t>
            </a:r>
            <a:r>
              <a:rPr lang="en-US" sz="1400" dirty="0">
                <a:solidFill>
                  <a:srgbClr val="CFE0E8"/>
                </a:solidFill>
                <a:latin typeface="Calibri" pitchFamily="34" charset="0"/>
                <a:ea typeface="Calibri" pitchFamily="34" charset="-122"/>
                <a:cs typeface="Calibri" pitchFamily="34" charset="-120"/>
              </a:rPr>
              <a:t>A well-chosen model reduces uncertainty enough to act; a hybrid strategy does so when no single approach can.</a:t>
            </a:r>
            <a:endParaRPr lang="en-US" sz="1400" dirty="0"/>
          </a:p>
        </p:txBody>
      </p:sp>
      <p:sp>
        <p:nvSpPr>
          <p:cNvPr id="23" name="Text 19"/>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4" name="Text 20"/>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a:extLst>
            <a:ext uri="{FF2B5EF4-FFF2-40B4-BE49-F238E27FC236}">
              <a16:creationId xmlns:a16="http://schemas.microsoft.com/office/drawing/2014/main" id="{6C0EB011-899B-F974-0EE7-052D5BF241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F60F46-63C9-8904-7947-378128DB9C84}"/>
              </a:ext>
            </a:extLst>
          </p:cNvPr>
          <p:cNvSpPr/>
          <p:nvPr/>
        </p:nvSpPr>
        <p:spPr>
          <a:xfrm>
            <a:off x="548640" y="457200"/>
            <a:ext cx="100584" cy="566928"/>
          </a:xfrm>
          <a:prstGeom prst="rect">
            <a:avLst/>
          </a:prstGeom>
          <a:solidFill>
            <a:srgbClr val="1C7293"/>
          </a:solidFill>
          <a:ln/>
        </p:spPr>
        <p:txBody>
          <a:bodyPr/>
          <a:lstStyle/>
          <a:p>
            <a:endParaRPr lang="en-US"/>
          </a:p>
        </p:txBody>
      </p:sp>
      <p:sp>
        <p:nvSpPr>
          <p:cNvPr id="3" name="Text 1">
            <a:extLst>
              <a:ext uri="{FF2B5EF4-FFF2-40B4-BE49-F238E27FC236}">
                <a16:creationId xmlns:a16="http://schemas.microsoft.com/office/drawing/2014/main" id="{5FF209DE-C7C6-58C3-CA6A-B1ADCCAE59B5}"/>
              </a:ext>
            </a:extLst>
          </p:cNvPr>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a:solidFill>
                  <a:srgbClr val="1C7293"/>
                </a:solidFill>
                <a:latin typeface="Calibri" pitchFamily="34" charset="0"/>
                <a:ea typeface="Calibri" pitchFamily="34" charset="-122"/>
                <a:cs typeface="Calibri" pitchFamily="34" charset="-120"/>
              </a:rPr>
              <a:t>LEARN THEN CONFIRM</a:t>
            </a:r>
            <a:endParaRPr lang="en-US" sz="1200" dirty="0"/>
          </a:p>
        </p:txBody>
      </p:sp>
      <p:sp>
        <p:nvSpPr>
          <p:cNvPr id="4" name="Text 2">
            <a:extLst>
              <a:ext uri="{FF2B5EF4-FFF2-40B4-BE49-F238E27FC236}">
                <a16:creationId xmlns:a16="http://schemas.microsoft.com/office/drawing/2014/main" id="{18E58C24-AEBB-7ED9-D2C0-86F734935802}"/>
              </a:ext>
            </a:extLst>
          </p:cNvPr>
          <p:cNvSpPr/>
          <p:nvPr/>
        </p:nvSpPr>
        <p:spPr>
          <a:xfrm>
            <a:off x="786384" y="658368"/>
            <a:ext cx="10143886" cy="457200"/>
          </a:xfrm>
          <a:prstGeom prst="rect">
            <a:avLst/>
          </a:prstGeom>
          <a:noFill/>
          <a:ln/>
        </p:spPr>
        <p:txBody>
          <a:bodyPr wrap="square" lIns="0" tIns="0" rIns="0" bIns="0" rtlCol="0" anchor="ctr"/>
          <a:lstStyle/>
          <a:p>
            <a:r>
              <a:rPr lang="en-US" sz="2600" b="1">
                <a:solidFill>
                  <a:srgbClr val="13293D"/>
                </a:solidFill>
                <a:latin typeface="Georgia" pitchFamily="34" charset="0"/>
                <a:ea typeface="Georgia" pitchFamily="34" charset="-122"/>
                <a:cs typeface="Georgia" pitchFamily="34" charset="-120"/>
              </a:rPr>
              <a:t>There are two core questions we continually ask</a:t>
            </a:r>
            <a:endParaRPr lang="en-US" sz="2600" dirty="0"/>
          </a:p>
        </p:txBody>
      </p:sp>
      <p:sp>
        <p:nvSpPr>
          <p:cNvPr id="24" name="Text 21">
            <a:extLst>
              <a:ext uri="{FF2B5EF4-FFF2-40B4-BE49-F238E27FC236}">
                <a16:creationId xmlns:a16="http://schemas.microsoft.com/office/drawing/2014/main" id="{4C41D082-5F69-E6E4-A970-F2A2E0BC0D95}"/>
              </a:ext>
            </a:extLst>
          </p:cNvPr>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5" name="Text 22">
            <a:extLst>
              <a:ext uri="{FF2B5EF4-FFF2-40B4-BE49-F238E27FC236}">
                <a16:creationId xmlns:a16="http://schemas.microsoft.com/office/drawing/2014/main" id="{4F7EE90B-6327-4FB5-534C-66A6FEC2D8DD}"/>
              </a:ext>
            </a:extLst>
          </p:cNvPr>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5</a:t>
            </a:r>
            <a:endParaRPr lang="en-US" sz="900" dirty="0"/>
          </a:p>
        </p:txBody>
      </p:sp>
      <p:sp>
        <p:nvSpPr>
          <p:cNvPr id="30" name="Shape 13">
            <a:extLst>
              <a:ext uri="{FF2B5EF4-FFF2-40B4-BE49-F238E27FC236}">
                <a16:creationId xmlns:a16="http://schemas.microsoft.com/office/drawing/2014/main" id="{B06B0B35-1EE5-C562-C0E2-3AE823F07023}"/>
              </a:ext>
            </a:extLst>
          </p:cNvPr>
          <p:cNvSpPr/>
          <p:nvPr/>
        </p:nvSpPr>
        <p:spPr>
          <a:xfrm>
            <a:off x="649224" y="1888595"/>
            <a:ext cx="5026007"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1" name="Shape 14">
            <a:extLst>
              <a:ext uri="{FF2B5EF4-FFF2-40B4-BE49-F238E27FC236}">
                <a16:creationId xmlns:a16="http://schemas.microsoft.com/office/drawing/2014/main" id="{7CE2B571-187B-671A-317A-96D8ACC4BF95}"/>
              </a:ext>
            </a:extLst>
          </p:cNvPr>
          <p:cNvSpPr/>
          <p:nvPr/>
        </p:nvSpPr>
        <p:spPr>
          <a:xfrm>
            <a:off x="649224" y="1888595"/>
            <a:ext cx="5026007" cy="79226"/>
          </a:xfrm>
          <a:prstGeom prst="rect">
            <a:avLst/>
          </a:prstGeom>
          <a:solidFill>
            <a:srgbClr val="1C7293"/>
          </a:solidFill>
          <a:ln/>
        </p:spPr>
        <p:txBody>
          <a:bodyPr/>
          <a:lstStyle/>
          <a:p>
            <a:endParaRPr lang="en-US"/>
          </a:p>
        </p:txBody>
      </p:sp>
      <p:sp>
        <p:nvSpPr>
          <p:cNvPr id="32" name="Shape 15">
            <a:extLst>
              <a:ext uri="{FF2B5EF4-FFF2-40B4-BE49-F238E27FC236}">
                <a16:creationId xmlns:a16="http://schemas.microsoft.com/office/drawing/2014/main" id="{A2C843C1-07D9-A637-262F-31FBCD14BD3C}"/>
              </a:ext>
            </a:extLst>
          </p:cNvPr>
          <p:cNvSpPr/>
          <p:nvPr/>
        </p:nvSpPr>
        <p:spPr>
          <a:xfrm>
            <a:off x="832105" y="2089763"/>
            <a:ext cx="457200" cy="466556"/>
          </a:xfrm>
          <a:prstGeom prst="ellipse">
            <a:avLst/>
          </a:prstGeom>
          <a:solidFill>
            <a:srgbClr val="1C7293"/>
          </a:solidFill>
          <a:ln/>
        </p:spPr>
        <p:txBody>
          <a:bodyPr anchor="ctr"/>
          <a:lstStyle/>
          <a:p>
            <a:pPr algn="ctr"/>
            <a:r>
              <a:rPr lang="en-US" sz="2000">
                <a:solidFill>
                  <a:schemeClr val="bg1"/>
                </a:solidFill>
              </a:rPr>
              <a:t>1</a:t>
            </a:r>
          </a:p>
        </p:txBody>
      </p:sp>
      <p:sp>
        <p:nvSpPr>
          <p:cNvPr id="34" name="Text 16">
            <a:extLst>
              <a:ext uri="{FF2B5EF4-FFF2-40B4-BE49-F238E27FC236}">
                <a16:creationId xmlns:a16="http://schemas.microsoft.com/office/drawing/2014/main" id="{C649D4E0-42A2-5229-8C91-DF2102FDB9F1}"/>
              </a:ext>
            </a:extLst>
          </p:cNvPr>
          <p:cNvSpPr/>
          <p:nvPr/>
        </p:nvSpPr>
        <p:spPr>
          <a:xfrm>
            <a:off x="1399032" y="2108051"/>
            <a:ext cx="3429449" cy="457200"/>
          </a:xfrm>
          <a:prstGeom prst="rect">
            <a:avLst/>
          </a:prstGeom>
          <a:noFill/>
          <a:ln/>
        </p:spPr>
        <p:txBody>
          <a:bodyPr wrap="square" lIns="0" tIns="0" rIns="0" bIns="0" rtlCol="0" anchor="ctr"/>
          <a:lstStyle/>
          <a:p>
            <a:pPr marL="0" indent="0">
              <a:buNone/>
            </a:pPr>
            <a:r>
              <a:rPr lang="en-US" b="1">
                <a:solidFill>
                  <a:srgbClr val="13293D"/>
                </a:solidFill>
                <a:latin typeface="Georgia" pitchFamily="34" charset="0"/>
                <a:ea typeface="Georgia" pitchFamily="34" charset="-122"/>
                <a:cs typeface="Georgia" pitchFamily="34" charset="-120"/>
              </a:rPr>
              <a:t>What is the Indication?</a:t>
            </a:r>
            <a:endParaRPr lang="en-US" dirty="0"/>
          </a:p>
        </p:txBody>
      </p:sp>
      <p:sp>
        <p:nvSpPr>
          <p:cNvPr id="35" name="Text 17">
            <a:extLst>
              <a:ext uri="{FF2B5EF4-FFF2-40B4-BE49-F238E27FC236}">
                <a16:creationId xmlns:a16="http://schemas.microsoft.com/office/drawing/2014/main" id="{FC0B8462-F8AE-A35E-D7AF-4B8697447990}"/>
              </a:ext>
            </a:extLst>
          </p:cNvPr>
          <p:cNvSpPr/>
          <p:nvPr/>
        </p:nvSpPr>
        <p:spPr>
          <a:xfrm>
            <a:off x="868680" y="2638403"/>
            <a:ext cx="4703446"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a:solidFill>
                  <a:srgbClr val="1E2A33"/>
                </a:solidFill>
                <a:cs typeface="Calibri" pitchFamily="34" charset="-120"/>
              </a:rPr>
              <a:t>The indication is both the population of patients and the specific disease. </a:t>
            </a:r>
          </a:p>
          <a:p>
            <a:pPr marL="152400" indent="-152400">
              <a:lnSpc>
                <a:spcPct val="100000"/>
              </a:lnSpc>
              <a:spcAft>
                <a:spcPts val="500"/>
              </a:spcAft>
              <a:buSzPct val="100000"/>
              <a:buChar char="•"/>
            </a:pPr>
            <a:r>
              <a:rPr lang="en-US">
                <a:solidFill>
                  <a:srgbClr val="1E2A33"/>
                </a:solidFill>
                <a:cs typeface="Calibri" pitchFamily="34" charset="-120"/>
              </a:rPr>
              <a:t>Some treatments may have clinical activity in multiple diseases.</a:t>
            </a:r>
          </a:p>
          <a:p>
            <a:pPr marL="152400" indent="-152400">
              <a:lnSpc>
                <a:spcPct val="100000"/>
              </a:lnSpc>
              <a:spcAft>
                <a:spcPts val="500"/>
              </a:spcAft>
              <a:buSzPct val="100000"/>
              <a:buChar char="•"/>
            </a:pPr>
            <a:endParaRPr lang="en-US">
              <a:solidFill>
                <a:srgbClr val="1E2A33"/>
              </a:solidFill>
              <a:latin typeface="Calibri" pitchFamily="34" charset="0"/>
              <a:cs typeface="Calibri" pitchFamily="34" charset="-120"/>
            </a:endParaRPr>
          </a:p>
          <a:p>
            <a:pPr marL="152400" indent="-152400">
              <a:lnSpc>
                <a:spcPct val="100000"/>
              </a:lnSpc>
              <a:spcAft>
                <a:spcPts val="500"/>
              </a:spcAft>
              <a:buSzPct val="100000"/>
              <a:buChar char="•"/>
            </a:pPr>
            <a:endParaRPr lang="en-US" sz="1400">
              <a:solidFill>
                <a:srgbClr val="1E2A33"/>
              </a:solidFill>
              <a:latin typeface="Calibri" pitchFamily="34" charset="0"/>
              <a:cs typeface="Calibri" pitchFamily="34" charset="-120"/>
            </a:endParaRPr>
          </a:p>
          <a:p>
            <a:pPr marL="152400" indent="-152400">
              <a:lnSpc>
                <a:spcPct val="100000"/>
              </a:lnSpc>
              <a:spcAft>
                <a:spcPts val="500"/>
              </a:spcAft>
              <a:buSzPct val="100000"/>
              <a:buChar char="•"/>
            </a:pPr>
            <a:endParaRPr lang="en-US" sz="1400">
              <a:solidFill>
                <a:srgbClr val="1E2A33"/>
              </a:solidFill>
              <a:latin typeface="Calibri" pitchFamily="34" charset="0"/>
              <a:cs typeface="Calibri" pitchFamily="34" charset="-120"/>
            </a:endParaRPr>
          </a:p>
          <a:p>
            <a:pPr marL="152400" indent="-152400">
              <a:lnSpc>
                <a:spcPct val="100000"/>
              </a:lnSpc>
              <a:spcAft>
                <a:spcPts val="500"/>
              </a:spcAft>
              <a:buSzPct val="100000"/>
              <a:buChar char="•"/>
            </a:pPr>
            <a:endParaRPr lang="en-US" sz="1400" dirty="0"/>
          </a:p>
        </p:txBody>
      </p:sp>
      <p:sp>
        <p:nvSpPr>
          <p:cNvPr id="36" name="Shape 18">
            <a:extLst>
              <a:ext uri="{FF2B5EF4-FFF2-40B4-BE49-F238E27FC236}">
                <a16:creationId xmlns:a16="http://schemas.microsoft.com/office/drawing/2014/main" id="{28B66397-3E64-ED37-3A59-91638044A1C2}"/>
              </a:ext>
            </a:extLst>
          </p:cNvPr>
          <p:cNvSpPr/>
          <p:nvPr/>
        </p:nvSpPr>
        <p:spPr>
          <a:xfrm>
            <a:off x="6274453" y="1875238"/>
            <a:ext cx="5026007"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7" name="Shape 19">
            <a:extLst>
              <a:ext uri="{FF2B5EF4-FFF2-40B4-BE49-F238E27FC236}">
                <a16:creationId xmlns:a16="http://schemas.microsoft.com/office/drawing/2014/main" id="{129EDAA0-29B9-B6CB-EC02-766FD1721083}"/>
              </a:ext>
            </a:extLst>
          </p:cNvPr>
          <p:cNvSpPr/>
          <p:nvPr/>
        </p:nvSpPr>
        <p:spPr>
          <a:xfrm>
            <a:off x="6274454" y="1875238"/>
            <a:ext cx="5026007" cy="97514"/>
          </a:xfrm>
          <a:prstGeom prst="rect">
            <a:avLst/>
          </a:prstGeom>
          <a:solidFill>
            <a:srgbClr val="13293D"/>
          </a:solidFill>
          <a:ln/>
        </p:spPr>
        <p:txBody>
          <a:bodyPr/>
          <a:lstStyle/>
          <a:p>
            <a:endParaRPr lang="en-US"/>
          </a:p>
        </p:txBody>
      </p:sp>
      <p:sp>
        <p:nvSpPr>
          <p:cNvPr id="38" name="Shape 20">
            <a:extLst>
              <a:ext uri="{FF2B5EF4-FFF2-40B4-BE49-F238E27FC236}">
                <a16:creationId xmlns:a16="http://schemas.microsoft.com/office/drawing/2014/main" id="{22783A31-3F5E-21B9-0D33-E89F055F999A}"/>
              </a:ext>
            </a:extLst>
          </p:cNvPr>
          <p:cNvSpPr/>
          <p:nvPr/>
        </p:nvSpPr>
        <p:spPr>
          <a:xfrm>
            <a:off x="6457335" y="2076406"/>
            <a:ext cx="457200" cy="457200"/>
          </a:xfrm>
          <a:prstGeom prst="ellipse">
            <a:avLst/>
          </a:prstGeom>
          <a:solidFill>
            <a:srgbClr val="13293D"/>
          </a:solidFill>
          <a:ln/>
        </p:spPr>
        <p:txBody>
          <a:bodyPr/>
          <a:lstStyle/>
          <a:p>
            <a:pPr algn="ctr"/>
            <a:r>
              <a:rPr lang="en-US">
                <a:solidFill>
                  <a:schemeClr val="bg1"/>
                </a:solidFill>
              </a:rPr>
              <a:t>2</a:t>
            </a:r>
          </a:p>
        </p:txBody>
      </p:sp>
      <p:sp>
        <p:nvSpPr>
          <p:cNvPr id="40" name="Text 21">
            <a:extLst>
              <a:ext uri="{FF2B5EF4-FFF2-40B4-BE49-F238E27FC236}">
                <a16:creationId xmlns:a16="http://schemas.microsoft.com/office/drawing/2014/main" id="{595921B4-F18C-B42B-CDA0-11167FBD1843}"/>
              </a:ext>
            </a:extLst>
          </p:cNvPr>
          <p:cNvSpPr/>
          <p:nvPr/>
        </p:nvSpPr>
        <p:spPr>
          <a:xfrm>
            <a:off x="7024262" y="2094694"/>
            <a:ext cx="4276199" cy="457200"/>
          </a:xfrm>
          <a:prstGeom prst="rect">
            <a:avLst/>
          </a:prstGeom>
          <a:noFill/>
          <a:ln/>
        </p:spPr>
        <p:txBody>
          <a:bodyPr wrap="square" lIns="0" tIns="0" rIns="0" bIns="0" rtlCol="0" anchor="ctr"/>
          <a:lstStyle/>
          <a:p>
            <a:pPr marL="0" indent="0">
              <a:buNone/>
            </a:pPr>
            <a:r>
              <a:rPr lang="en-US" b="1">
                <a:solidFill>
                  <a:srgbClr val="13293D"/>
                </a:solidFill>
                <a:latin typeface="Georgia" pitchFamily="34" charset="0"/>
                <a:ea typeface="Georgia" pitchFamily="34" charset="-122"/>
                <a:cs typeface="Georgia" pitchFamily="34" charset="-120"/>
              </a:rPr>
              <a:t>What is optimal dose and regimen</a:t>
            </a:r>
            <a:endParaRPr lang="en-US" dirty="0"/>
          </a:p>
        </p:txBody>
      </p:sp>
      <p:sp>
        <p:nvSpPr>
          <p:cNvPr id="41" name="Text 22">
            <a:extLst>
              <a:ext uri="{FF2B5EF4-FFF2-40B4-BE49-F238E27FC236}">
                <a16:creationId xmlns:a16="http://schemas.microsoft.com/office/drawing/2014/main" id="{8822F45C-C050-FAA9-8982-A8036FAF8760}"/>
              </a:ext>
            </a:extLst>
          </p:cNvPr>
          <p:cNvSpPr/>
          <p:nvPr/>
        </p:nvSpPr>
        <p:spPr>
          <a:xfrm>
            <a:off x="6493911" y="2625046"/>
            <a:ext cx="4587094"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a:solidFill>
                  <a:srgbClr val="1E2A33"/>
                </a:solidFill>
                <a:cs typeface="Calibri" pitchFamily="34" charset="-120"/>
              </a:rPr>
              <a:t>It is imperative that we select a dose that is safe and effective.</a:t>
            </a:r>
          </a:p>
          <a:p>
            <a:pPr marL="152400" indent="-152400">
              <a:lnSpc>
                <a:spcPct val="100000"/>
              </a:lnSpc>
              <a:spcAft>
                <a:spcPts val="500"/>
              </a:spcAft>
              <a:buSzPct val="100000"/>
              <a:buChar char="•"/>
            </a:pPr>
            <a:r>
              <a:rPr lang="en-US">
                <a:solidFill>
                  <a:srgbClr val="1E2A33"/>
                </a:solidFill>
                <a:cs typeface="Calibri" pitchFamily="34" charset="-120"/>
              </a:rPr>
              <a:t>The dosing amount and frequency are important considerations for patients.</a:t>
            </a:r>
            <a:endParaRPr lang="en-US" dirty="0"/>
          </a:p>
        </p:txBody>
      </p:sp>
      <p:sp>
        <p:nvSpPr>
          <p:cNvPr id="48" name="Text 13">
            <a:extLst>
              <a:ext uri="{FF2B5EF4-FFF2-40B4-BE49-F238E27FC236}">
                <a16:creationId xmlns:a16="http://schemas.microsoft.com/office/drawing/2014/main" id="{081634AB-6CA5-CB61-494E-5F15E4C50CC4}"/>
              </a:ext>
            </a:extLst>
          </p:cNvPr>
          <p:cNvSpPr/>
          <p:nvPr/>
        </p:nvSpPr>
        <p:spPr>
          <a:xfrm>
            <a:off x="598932" y="4616577"/>
            <a:ext cx="11094415" cy="457200"/>
          </a:xfrm>
          <a:prstGeom prst="rect">
            <a:avLst/>
          </a:prstGeom>
          <a:noFill/>
          <a:ln/>
        </p:spPr>
        <p:txBody>
          <a:bodyPr wrap="square" lIns="0" tIns="0" rIns="0" bIns="0" rtlCol="0" anchor="ctr"/>
          <a:lstStyle/>
          <a:p>
            <a:pPr marL="0" indent="0" algn="ctr">
              <a:buNone/>
            </a:pPr>
            <a:endParaRPr lang="en-US" sz="1350" dirty="0"/>
          </a:p>
        </p:txBody>
      </p:sp>
      <p:sp>
        <p:nvSpPr>
          <p:cNvPr id="49" name="Shape 24">
            <a:extLst>
              <a:ext uri="{FF2B5EF4-FFF2-40B4-BE49-F238E27FC236}">
                <a16:creationId xmlns:a16="http://schemas.microsoft.com/office/drawing/2014/main" id="{56D4865F-C517-E8E7-A8D7-98CF324086AE}"/>
              </a:ext>
            </a:extLst>
          </p:cNvPr>
          <p:cNvSpPr/>
          <p:nvPr/>
        </p:nvSpPr>
        <p:spPr>
          <a:xfrm>
            <a:off x="548792" y="4670510"/>
            <a:ext cx="11094415" cy="1051560"/>
          </a:xfrm>
          <a:prstGeom prst="roundRect">
            <a:avLst>
              <a:gd name="adj" fmla="val 6957"/>
            </a:avLst>
          </a:prstGeom>
          <a:solidFill>
            <a:srgbClr val="EAF1F4"/>
          </a:solidFill>
          <a:ln w="12700">
            <a:solidFill>
              <a:srgbClr val="D3DCE2"/>
            </a:solidFill>
            <a:prstDash val="solid"/>
          </a:ln>
        </p:spPr>
        <p:txBody>
          <a:bodyPr/>
          <a:lstStyle/>
          <a:p>
            <a:endParaRPr lang="en-US"/>
          </a:p>
        </p:txBody>
      </p:sp>
      <p:sp>
        <p:nvSpPr>
          <p:cNvPr id="50" name="Text 25">
            <a:extLst>
              <a:ext uri="{FF2B5EF4-FFF2-40B4-BE49-F238E27FC236}">
                <a16:creationId xmlns:a16="http://schemas.microsoft.com/office/drawing/2014/main" id="{CD93F844-AFEB-3582-42AC-4F9A589D5B23}"/>
              </a:ext>
            </a:extLst>
          </p:cNvPr>
          <p:cNvSpPr/>
          <p:nvPr/>
        </p:nvSpPr>
        <p:spPr>
          <a:xfrm>
            <a:off x="777392" y="4734518"/>
            <a:ext cx="10637215" cy="914400"/>
          </a:xfrm>
          <a:prstGeom prst="rect">
            <a:avLst/>
          </a:prstGeom>
          <a:noFill/>
          <a:ln/>
        </p:spPr>
        <p:txBody>
          <a:bodyPr wrap="square" lIns="0" tIns="0" rIns="0" bIns="0" rtlCol="0" anchor="ctr"/>
          <a:lstStyle/>
          <a:p>
            <a:pPr marL="0" indent="0">
              <a:lnSpc>
                <a:spcPct val="108000"/>
              </a:lnSpc>
              <a:buNone/>
            </a:pPr>
            <a:r>
              <a:rPr lang="en-US" sz="1600" b="1">
                <a:solidFill>
                  <a:srgbClr val="13293D"/>
                </a:solidFill>
                <a:latin typeface="Calibri" pitchFamily="34" charset="0"/>
                <a:ea typeface="Calibri" pitchFamily="34" charset="-122"/>
                <a:cs typeface="Calibri" pitchFamily="34" charset="-120"/>
              </a:rPr>
              <a:t>The development questions are evolving - </a:t>
            </a:r>
            <a:r>
              <a:rPr lang="en-US" sz="1600">
                <a:solidFill>
                  <a:srgbClr val="1E2A33"/>
                </a:solidFill>
                <a:latin typeface="Calibri" pitchFamily="34" charset="0"/>
                <a:ea typeface="Calibri" pitchFamily="34" charset="-122"/>
                <a:cs typeface="Calibri" pitchFamily="34" charset="-120"/>
              </a:rPr>
              <a:t>As development progresses from </a:t>
            </a:r>
            <a:r>
              <a:rPr lang="en-US" sz="1600" dirty="0">
                <a:solidFill>
                  <a:srgbClr val="1E2A33"/>
                </a:solidFill>
                <a:latin typeface="Calibri" pitchFamily="34" charset="0"/>
                <a:ea typeface="Calibri" pitchFamily="34" charset="-122"/>
                <a:cs typeface="Calibri" pitchFamily="34" charset="-120"/>
              </a:rPr>
              <a:t>discovery to filing, </a:t>
            </a:r>
            <a:r>
              <a:rPr lang="en-US" sz="1600">
                <a:solidFill>
                  <a:srgbClr val="1E2A33"/>
                </a:solidFill>
                <a:latin typeface="Calibri" pitchFamily="34" charset="0"/>
                <a:ea typeface="Calibri" pitchFamily="34" charset="-122"/>
                <a:cs typeface="Calibri" pitchFamily="34" charset="-120"/>
              </a:rPr>
              <a:t>the specific questions we ask at each time will evolve based on what we have learned up to that point. The data available will determine which modeling approaches are best suited to help us make a decision.  </a:t>
            </a:r>
            <a:endParaRPr lang="en-US" sz="1600" dirty="0"/>
          </a:p>
        </p:txBody>
      </p:sp>
    </p:spTree>
    <p:extLst>
      <p:ext uri="{BB962C8B-B14F-4D97-AF65-F5344CB8AC3E}">
        <p14:creationId xmlns:p14="http://schemas.microsoft.com/office/powerpoint/2010/main" val="96654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WHERE MODELS PLUG IN</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Modeling across the drug development timeline</a:t>
            </a:r>
            <a:endParaRPr lang="en-US" sz="2600" dirty="0"/>
          </a:p>
        </p:txBody>
      </p:sp>
      <p:sp>
        <p:nvSpPr>
          <p:cNvPr id="5" name="Shape 3"/>
          <p:cNvSpPr/>
          <p:nvPr/>
        </p:nvSpPr>
        <p:spPr>
          <a:xfrm>
            <a:off x="548640" y="1848792"/>
            <a:ext cx="11094415" cy="0"/>
          </a:xfrm>
          <a:prstGeom prst="line">
            <a:avLst/>
          </a:prstGeom>
          <a:noFill/>
          <a:ln w="25400">
            <a:solidFill>
              <a:srgbClr val="D3DCE2"/>
            </a:solidFill>
            <a:prstDash val="solid"/>
          </a:ln>
        </p:spPr>
        <p:txBody>
          <a:bodyPr/>
          <a:lstStyle/>
          <a:p>
            <a:endParaRPr lang="en-US"/>
          </a:p>
        </p:txBody>
      </p:sp>
      <p:sp>
        <p:nvSpPr>
          <p:cNvPr id="10" name="Shape 8"/>
          <p:cNvSpPr/>
          <p:nvPr/>
        </p:nvSpPr>
        <p:spPr>
          <a:xfrm>
            <a:off x="538384" y="1535610"/>
            <a:ext cx="2832678" cy="658368"/>
          </a:xfrm>
          <a:prstGeom prst="roundRect">
            <a:avLst>
              <a:gd name="adj" fmla="val 8333"/>
            </a:avLst>
          </a:prstGeom>
          <a:solidFill>
            <a:srgbClr val="5B5F97"/>
          </a:solidFill>
          <a:ln/>
          <a:effectLst>
            <a:outerShdw blurRad="88900" dist="38100" dir="8100000" algn="bl" rotWithShape="0">
              <a:srgbClr val="000000">
                <a:alpha val="13000"/>
              </a:srgbClr>
            </a:outerShdw>
          </a:effectLst>
        </p:spPr>
        <p:txBody>
          <a:bodyPr/>
          <a:lstStyle/>
          <a:p>
            <a:endParaRPr lang="en-US"/>
          </a:p>
        </p:txBody>
      </p:sp>
      <p:sp>
        <p:nvSpPr>
          <p:cNvPr id="11" name="Text 9"/>
          <p:cNvSpPr/>
          <p:nvPr/>
        </p:nvSpPr>
        <p:spPr>
          <a:xfrm>
            <a:off x="510953" y="1501320"/>
            <a:ext cx="2675160" cy="658368"/>
          </a:xfrm>
          <a:prstGeom prst="rect">
            <a:avLst/>
          </a:prstGeom>
          <a:noFill/>
          <a:ln/>
        </p:spPr>
        <p:txBody>
          <a:bodyPr wrap="square" lIns="0" tIns="0" rIns="0" bIns="0" rtlCol="0" anchor="ctr"/>
          <a:lstStyle/>
          <a:p>
            <a:pPr marL="0" indent="0" algn="ctr">
              <a:buNone/>
            </a:pPr>
            <a:r>
              <a:rPr lang="en-US" sz="1250" b="1">
                <a:solidFill>
                  <a:srgbClr val="FFFFFF"/>
                </a:solidFill>
                <a:latin typeface="Georgia" pitchFamily="34" charset="0"/>
                <a:ea typeface="Georgia" pitchFamily="34" charset="-122"/>
                <a:cs typeface="Georgia" pitchFamily="34" charset="-120"/>
              </a:rPr>
              <a:t>Preclinical /</a:t>
            </a:r>
            <a:r>
              <a:rPr lang="en-US" sz="1250" dirty="0"/>
              <a:t> </a:t>
            </a:r>
            <a:r>
              <a:rPr lang="en-US" sz="1250" b="1">
                <a:solidFill>
                  <a:srgbClr val="FFFFFF"/>
                </a:solidFill>
                <a:latin typeface="Georgia" pitchFamily="34" charset="0"/>
                <a:ea typeface="Georgia" pitchFamily="34" charset="-122"/>
                <a:cs typeface="Georgia" pitchFamily="34" charset="-120"/>
              </a:rPr>
              <a:t>Translational</a:t>
            </a:r>
            <a:endParaRPr lang="en-US" sz="1250" dirty="0"/>
          </a:p>
        </p:txBody>
      </p:sp>
      <p:sp>
        <p:nvSpPr>
          <p:cNvPr id="12" name="Shape 10"/>
          <p:cNvSpPr/>
          <p:nvPr/>
        </p:nvSpPr>
        <p:spPr>
          <a:xfrm>
            <a:off x="525596" y="2388871"/>
            <a:ext cx="2832678" cy="2859194"/>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3" name="Text 11"/>
          <p:cNvSpPr/>
          <p:nvPr/>
        </p:nvSpPr>
        <p:spPr>
          <a:xfrm>
            <a:off x="675545" y="2459726"/>
            <a:ext cx="2503494" cy="2652899"/>
          </a:xfrm>
          <a:prstGeom prst="rect">
            <a:avLst/>
          </a:prstGeom>
          <a:noFill/>
          <a:ln/>
        </p:spPr>
        <p:txBody>
          <a:bodyPr wrap="square" lIns="0" tIns="0" rIns="0" bIns="0" rtlCol="0" anchor="t"/>
          <a:lstStyle/>
          <a:p>
            <a:pPr>
              <a:spcAft>
                <a:spcPts val="900"/>
              </a:spcAft>
              <a:buSzPct val="100000"/>
            </a:pPr>
            <a:r>
              <a:rPr lang="en-US" sz="1300">
                <a:solidFill>
                  <a:srgbClr val="1E2A33"/>
                </a:solidFill>
                <a:latin typeface="Calibri" pitchFamily="34" charset="0"/>
                <a:cs typeface="Calibri" pitchFamily="34" charset="-120"/>
              </a:rPr>
              <a:t>Modalities: Systems models, QSP, PBPK, and other models that incorporate data from multiple sources</a:t>
            </a:r>
          </a:p>
          <a:p>
            <a:pPr>
              <a:spcAft>
                <a:spcPts val="900"/>
              </a:spcAft>
              <a:buSzPct val="100000"/>
            </a:pPr>
            <a:r>
              <a:rPr lang="en-US" sz="1300">
                <a:solidFill>
                  <a:srgbClr val="1E2A33"/>
                </a:solidFill>
                <a:latin typeface="Calibri" pitchFamily="34" charset="0"/>
                <a:cs typeface="Calibri" pitchFamily="34" charset="-120"/>
              </a:rPr>
              <a:t>At this time, it is important to:</a:t>
            </a:r>
            <a:endParaRPr lang="en-US" sz="1300">
              <a:solidFill>
                <a:srgbClr val="1E2A33"/>
              </a:solidFill>
              <a:latin typeface="Calibri" pitchFamily="34" charset="0"/>
              <a:ea typeface="Calibri" pitchFamily="34" charset="-122"/>
              <a:cs typeface="Calibri" pitchFamily="34" charset="-120"/>
            </a:endParaRPr>
          </a:p>
          <a:p>
            <a:pPr marL="152400" indent="-152400">
              <a:spcAft>
                <a:spcPts val="900"/>
              </a:spcAft>
              <a:buSzPct val="100000"/>
              <a:buChar char="•"/>
            </a:pPr>
            <a:r>
              <a:rPr lang="en-US" sz="1300">
                <a:solidFill>
                  <a:srgbClr val="1E2A33"/>
                </a:solidFill>
                <a:latin typeface="Calibri" pitchFamily="34" charset="0"/>
                <a:cs typeface="Calibri" pitchFamily="34" charset="-120"/>
              </a:rPr>
              <a:t>Predict the Pharmacology in humans (eg half-life, efficacious dose, elimination routes, etc)</a:t>
            </a:r>
          </a:p>
          <a:p>
            <a:pPr marL="152400" indent="-152400">
              <a:spcAft>
                <a:spcPts val="900"/>
              </a:spcAft>
              <a:buSzPct val="100000"/>
              <a:buChar char="•"/>
            </a:pPr>
            <a:r>
              <a:rPr lang="en-US" sz="1300">
                <a:solidFill>
                  <a:srgbClr val="1E2A33"/>
                </a:solidFill>
                <a:latin typeface="Calibri" pitchFamily="34" charset="0"/>
                <a:cs typeface="Calibri" pitchFamily="34" charset="-120"/>
              </a:rPr>
              <a:t>Understand the roles of different targets in the disease in order to picking the best candidates for the clinic.</a:t>
            </a:r>
          </a:p>
        </p:txBody>
      </p:sp>
      <p:sp>
        <p:nvSpPr>
          <p:cNvPr id="14" name="Shape 12"/>
          <p:cNvSpPr/>
          <p:nvPr/>
        </p:nvSpPr>
        <p:spPr>
          <a:xfrm>
            <a:off x="3671902" y="1548754"/>
            <a:ext cx="2563870" cy="658368"/>
          </a:xfrm>
          <a:prstGeom prst="roundRect">
            <a:avLst>
              <a:gd name="adj" fmla="val 8333"/>
            </a:avLst>
          </a:prstGeom>
          <a:solidFill>
            <a:srgbClr val="1C7293"/>
          </a:solidFill>
          <a:ln/>
          <a:effectLst>
            <a:outerShdw blurRad="88900" dist="38100" dir="8100000" algn="bl" rotWithShape="0">
              <a:srgbClr val="000000">
                <a:alpha val="13000"/>
              </a:srgbClr>
            </a:outerShdw>
          </a:effectLst>
        </p:spPr>
        <p:txBody>
          <a:bodyPr/>
          <a:lstStyle/>
          <a:p>
            <a:endParaRPr lang="en-US"/>
          </a:p>
        </p:txBody>
      </p:sp>
      <p:sp>
        <p:nvSpPr>
          <p:cNvPr id="15" name="Text 13"/>
          <p:cNvSpPr/>
          <p:nvPr/>
        </p:nvSpPr>
        <p:spPr>
          <a:xfrm>
            <a:off x="3674382" y="1548754"/>
            <a:ext cx="2036003" cy="658368"/>
          </a:xfrm>
          <a:prstGeom prst="rect">
            <a:avLst/>
          </a:prstGeom>
          <a:noFill/>
          <a:ln/>
        </p:spPr>
        <p:txBody>
          <a:bodyPr wrap="square" lIns="0" tIns="0" rIns="0" bIns="0" rtlCol="0" anchor="ctr"/>
          <a:lstStyle/>
          <a:p>
            <a:pPr marL="0" indent="0" algn="ctr">
              <a:buNone/>
            </a:pPr>
            <a:r>
              <a:rPr lang="en-US" sz="1250" b="1">
                <a:solidFill>
                  <a:srgbClr val="FFFFFF"/>
                </a:solidFill>
                <a:latin typeface="Georgia" pitchFamily="34" charset="0"/>
                <a:ea typeface="Georgia" pitchFamily="34" charset="-122"/>
                <a:cs typeface="Georgia" pitchFamily="34" charset="-120"/>
              </a:rPr>
              <a:t>FIH /</a:t>
            </a:r>
            <a:r>
              <a:rPr lang="en-US" sz="1250" dirty="0"/>
              <a:t> </a:t>
            </a:r>
            <a:r>
              <a:rPr lang="en-US" sz="1250" b="1">
                <a:solidFill>
                  <a:srgbClr val="FFFFFF"/>
                </a:solidFill>
                <a:latin typeface="Georgia" pitchFamily="34" charset="0"/>
                <a:ea typeface="Georgia" pitchFamily="34" charset="-122"/>
                <a:cs typeface="Georgia" pitchFamily="34" charset="-120"/>
              </a:rPr>
              <a:t>Phase </a:t>
            </a:r>
            <a:r>
              <a:rPr lang="en-US" sz="1250" b="1" dirty="0">
                <a:solidFill>
                  <a:srgbClr val="FFFFFF"/>
                </a:solidFill>
                <a:latin typeface="Georgia" pitchFamily="34" charset="0"/>
                <a:ea typeface="Georgia" pitchFamily="34" charset="-122"/>
                <a:cs typeface="Georgia" pitchFamily="34" charset="-120"/>
              </a:rPr>
              <a:t>1</a:t>
            </a:r>
            <a:endParaRPr lang="en-US" sz="1250" dirty="0"/>
          </a:p>
        </p:txBody>
      </p:sp>
      <p:sp>
        <p:nvSpPr>
          <p:cNvPr id="16" name="Shape 14"/>
          <p:cNvSpPr/>
          <p:nvPr/>
        </p:nvSpPr>
        <p:spPr>
          <a:xfrm>
            <a:off x="3674382" y="2403145"/>
            <a:ext cx="2563870" cy="2844917"/>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8" name="Shape 16"/>
          <p:cNvSpPr/>
          <p:nvPr/>
        </p:nvSpPr>
        <p:spPr>
          <a:xfrm>
            <a:off x="6554360" y="1540182"/>
            <a:ext cx="2421619" cy="658368"/>
          </a:xfrm>
          <a:prstGeom prst="roundRect">
            <a:avLst>
              <a:gd name="adj" fmla="val 8333"/>
            </a:avLst>
          </a:prstGeom>
          <a:solidFill>
            <a:srgbClr val="2E8B72"/>
          </a:solidFill>
          <a:ln/>
          <a:effectLst>
            <a:outerShdw blurRad="88900" dist="38100" dir="8100000" algn="bl" rotWithShape="0">
              <a:srgbClr val="000000">
                <a:alpha val="13000"/>
              </a:srgbClr>
            </a:outerShdw>
          </a:effectLst>
        </p:spPr>
        <p:txBody>
          <a:bodyPr/>
          <a:lstStyle/>
          <a:p>
            <a:endParaRPr lang="en-US"/>
          </a:p>
        </p:txBody>
      </p:sp>
      <p:sp>
        <p:nvSpPr>
          <p:cNvPr id="19" name="Text 17"/>
          <p:cNvSpPr/>
          <p:nvPr/>
        </p:nvSpPr>
        <p:spPr>
          <a:xfrm>
            <a:off x="6650382" y="1528752"/>
            <a:ext cx="2036003"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Phase </a:t>
            </a:r>
            <a:r>
              <a:rPr lang="en-US" sz="1250" b="1">
                <a:solidFill>
                  <a:srgbClr val="FFFFFF"/>
                </a:solidFill>
                <a:latin typeface="Georgia" pitchFamily="34" charset="0"/>
                <a:ea typeface="Georgia" pitchFamily="34" charset="-122"/>
                <a:cs typeface="Georgia" pitchFamily="34" charset="-120"/>
              </a:rPr>
              <a:t>2 /</a:t>
            </a:r>
            <a:r>
              <a:rPr lang="en-US" sz="1250" dirty="0"/>
              <a:t> </a:t>
            </a:r>
            <a:r>
              <a:rPr lang="en-US" sz="1250" b="1">
                <a:solidFill>
                  <a:srgbClr val="FFFFFF"/>
                </a:solidFill>
                <a:latin typeface="Georgia" pitchFamily="34" charset="0"/>
                <a:ea typeface="Georgia" pitchFamily="34" charset="-122"/>
                <a:cs typeface="Georgia" pitchFamily="34" charset="-120"/>
              </a:rPr>
              <a:t>Dose </a:t>
            </a:r>
            <a:r>
              <a:rPr lang="en-US" sz="1250" b="1" dirty="0">
                <a:solidFill>
                  <a:srgbClr val="FFFFFF"/>
                </a:solidFill>
                <a:latin typeface="Georgia" pitchFamily="34" charset="0"/>
                <a:ea typeface="Georgia" pitchFamily="34" charset="-122"/>
                <a:cs typeface="Georgia" pitchFamily="34" charset="-120"/>
              </a:rPr>
              <a:t>finding</a:t>
            </a:r>
            <a:endParaRPr lang="en-US" sz="1250" dirty="0"/>
          </a:p>
        </p:txBody>
      </p:sp>
      <p:sp>
        <p:nvSpPr>
          <p:cNvPr id="20" name="Shape 18"/>
          <p:cNvSpPr/>
          <p:nvPr/>
        </p:nvSpPr>
        <p:spPr>
          <a:xfrm>
            <a:off x="6554360" y="2394573"/>
            <a:ext cx="2421618" cy="2844917"/>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1" name="Text 19"/>
          <p:cNvSpPr/>
          <p:nvPr/>
        </p:nvSpPr>
        <p:spPr>
          <a:xfrm>
            <a:off x="6650382" y="2459725"/>
            <a:ext cx="2241753" cy="2652899"/>
          </a:xfrm>
          <a:prstGeom prst="rect">
            <a:avLst/>
          </a:prstGeom>
          <a:noFill/>
          <a:ln/>
        </p:spPr>
        <p:txBody>
          <a:bodyPr wrap="square" lIns="0" tIns="0" rIns="0" bIns="0" rtlCol="0" anchor="t"/>
          <a:lstStyle/>
          <a:p>
            <a:pPr>
              <a:spcAft>
                <a:spcPts val="900"/>
              </a:spcAft>
              <a:buSzPct val="100000"/>
            </a:pPr>
            <a:r>
              <a:rPr lang="en-US" sz="1300">
                <a:solidFill>
                  <a:srgbClr val="1E2A33"/>
                </a:solidFill>
                <a:latin typeface="Calibri" pitchFamily="34" charset="0"/>
                <a:ea typeface="Calibri" pitchFamily="34" charset="-122"/>
                <a:cs typeface="Calibri" pitchFamily="34" charset="-120"/>
              </a:rPr>
              <a:t>Modalities: PopPK</a:t>
            </a:r>
            <a:r>
              <a:rPr lang="en-US" sz="1300"/>
              <a:t>, </a:t>
            </a:r>
            <a:r>
              <a:rPr lang="en-US" sz="1300">
                <a:solidFill>
                  <a:srgbClr val="1E2A33"/>
                </a:solidFill>
                <a:latin typeface="Calibri" pitchFamily="34" charset="0"/>
                <a:ea typeface="Calibri" pitchFamily="34" charset="-122"/>
                <a:cs typeface="Calibri" pitchFamily="34" charset="-120"/>
              </a:rPr>
              <a:t>ER, PKPD, PBPK and </a:t>
            </a:r>
            <a:r>
              <a:rPr lang="en-US" sz="1300">
                <a:solidFill>
                  <a:srgbClr val="1E2A33"/>
                </a:solidFill>
                <a:latin typeface="Calibri" pitchFamily="34" charset="0"/>
                <a:cs typeface="Calibri" pitchFamily="34" charset="-120"/>
              </a:rPr>
              <a:t>QSP</a:t>
            </a:r>
          </a:p>
          <a:p>
            <a:pPr>
              <a:spcAft>
                <a:spcPts val="900"/>
              </a:spcAft>
              <a:buSzPct val="100000"/>
            </a:pPr>
            <a:r>
              <a:rPr lang="en-US" sz="1300">
                <a:solidFill>
                  <a:srgbClr val="1E2A33"/>
                </a:solidFill>
                <a:latin typeface="Calibri" pitchFamily="34" charset="0"/>
                <a:cs typeface="Calibri" pitchFamily="34" charset="-120"/>
              </a:rPr>
              <a:t>At this time, it is important to:</a:t>
            </a:r>
          </a:p>
          <a:p>
            <a:pPr marL="152400" indent="-152400">
              <a:spcAft>
                <a:spcPts val="900"/>
              </a:spcAft>
              <a:buSzPct val="100000"/>
              <a:buChar char="•"/>
            </a:pPr>
            <a:r>
              <a:rPr lang="en-US" sz="1300">
                <a:solidFill>
                  <a:srgbClr val="1E2A33"/>
                </a:solidFill>
                <a:latin typeface="Calibri" pitchFamily="34" charset="0"/>
                <a:cs typeface="Calibri" pitchFamily="34" charset="-120"/>
              </a:rPr>
              <a:t>Characterize the exposure-response curve.</a:t>
            </a:r>
          </a:p>
          <a:p>
            <a:pPr marL="152400" indent="-152400">
              <a:spcAft>
                <a:spcPts val="900"/>
              </a:spcAft>
              <a:buSzPct val="100000"/>
              <a:buChar char="•"/>
            </a:pPr>
            <a:r>
              <a:rPr lang="en-US" sz="1300">
                <a:solidFill>
                  <a:srgbClr val="1E2A33"/>
                </a:solidFill>
                <a:latin typeface="Calibri" pitchFamily="34" charset="0"/>
                <a:cs typeface="Calibri" pitchFamily="34" charset="-120"/>
              </a:rPr>
              <a:t>Determine which dose(s) and regimens will have the highest probability of achieving the desired efficacy with manageable safety. </a:t>
            </a:r>
          </a:p>
          <a:p>
            <a:pPr>
              <a:spcAft>
                <a:spcPts val="900"/>
              </a:spcAft>
              <a:buSzPct val="100000"/>
            </a:pPr>
            <a:endParaRPr lang="en-US" sz="1300" dirty="0"/>
          </a:p>
        </p:txBody>
      </p:sp>
      <p:sp>
        <p:nvSpPr>
          <p:cNvPr id="22" name="Shape 20"/>
          <p:cNvSpPr/>
          <p:nvPr/>
        </p:nvSpPr>
        <p:spPr>
          <a:xfrm>
            <a:off x="9292086" y="1528752"/>
            <a:ext cx="2350969" cy="658368"/>
          </a:xfrm>
          <a:prstGeom prst="roundRect">
            <a:avLst>
              <a:gd name="adj" fmla="val 8333"/>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23" name="Text 21"/>
          <p:cNvSpPr/>
          <p:nvPr/>
        </p:nvSpPr>
        <p:spPr>
          <a:xfrm>
            <a:off x="9607053" y="1528752"/>
            <a:ext cx="1551486"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Phase </a:t>
            </a:r>
            <a:r>
              <a:rPr lang="en-US" sz="1250" b="1">
                <a:solidFill>
                  <a:srgbClr val="FFFFFF"/>
                </a:solidFill>
                <a:latin typeface="Georgia" pitchFamily="34" charset="0"/>
                <a:ea typeface="Georgia" pitchFamily="34" charset="-122"/>
                <a:cs typeface="Georgia" pitchFamily="34" charset="-120"/>
              </a:rPr>
              <a:t>3 /</a:t>
            </a:r>
            <a:r>
              <a:rPr lang="en-US" sz="1250" dirty="0"/>
              <a:t> </a:t>
            </a:r>
            <a:r>
              <a:rPr lang="en-US" sz="1250" b="1">
                <a:solidFill>
                  <a:srgbClr val="FFFFFF"/>
                </a:solidFill>
                <a:latin typeface="Georgia" pitchFamily="34" charset="0"/>
                <a:ea typeface="Georgia" pitchFamily="34" charset="-122"/>
                <a:cs typeface="Georgia" pitchFamily="34" charset="-120"/>
              </a:rPr>
              <a:t>Filing</a:t>
            </a:r>
            <a:endParaRPr lang="en-US" sz="1250" dirty="0"/>
          </a:p>
        </p:txBody>
      </p:sp>
      <p:sp>
        <p:nvSpPr>
          <p:cNvPr id="24" name="Shape 22"/>
          <p:cNvSpPr/>
          <p:nvPr/>
        </p:nvSpPr>
        <p:spPr>
          <a:xfrm>
            <a:off x="9292086" y="2383144"/>
            <a:ext cx="2350969" cy="2856346"/>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5" name="Text 23"/>
          <p:cNvSpPr/>
          <p:nvPr/>
        </p:nvSpPr>
        <p:spPr>
          <a:xfrm>
            <a:off x="9434338" y="2447152"/>
            <a:ext cx="2098989" cy="2539186"/>
          </a:xfrm>
          <a:prstGeom prst="rect">
            <a:avLst/>
          </a:prstGeom>
          <a:noFill/>
          <a:ln/>
        </p:spPr>
        <p:txBody>
          <a:bodyPr wrap="square" lIns="0" tIns="0" rIns="0" bIns="0" rtlCol="0" anchor="t"/>
          <a:lstStyle/>
          <a:p>
            <a:pPr>
              <a:spcAft>
                <a:spcPts val="900"/>
              </a:spcAft>
              <a:buSzPct val="100000"/>
            </a:pPr>
            <a:r>
              <a:rPr lang="en-US" sz="1300">
                <a:solidFill>
                  <a:srgbClr val="1E2A33"/>
                </a:solidFill>
                <a:latin typeface="Calibri" pitchFamily="34" charset="0"/>
                <a:ea typeface="Calibri" pitchFamily="34" charset="-122"/>
                <a:cs typeface="Calibri" pitchFamily="34" charset="-120"/>
              </a:rPr>
              <a:t>Modalities: PopPK</a:t>
            </a:r>
            <a:r>
              <a:rPr lang="en-US" sz="1300"/>
              <a:t>, </a:t>
            </a:r>
            <a:r>
              <a:rPr lang="en-US" sz="1300">
                <a:solidFill>
                  <a:srgbClr val="1E2A33"/>
                </a:solidFill>
                <a:latin typeface="Calibri" pitchFamily="34" charset="0"/>
                <a:ea typeface="Calibri" pitchFamily="34" charset="-122"/>
                <a:cs typeface="Calibri" pitchFamily="34" charset="-120"/>
              </a:rPr>
              <a:t>ER, PKPD, and PBPK </a:t>
            </a:r>
            <a:r>
              <a:rPr lang="en-US" sz="1300">
                <a:solidFill>
                  <a:srgbClr val="1E2A33"/>
                </a:solidFill>
                <a:latin typeface="Calibri" pitchFamily="34" charset="0"/>
                <a:cs typeface="Calibri" pitchFamily="34" charset="-120"/>
              </a:rPr>
              <a:t> </a:t>
            </a:r>
          </a:p>
          <a:p>
            <a:pPr>
              <a:spcAft>
                <a:spcPts val="900"/>
              </a:spcAft>
              <a:buSzPct val="100000"/>
            </a:pPr>
            <a:r>
              <a:rPr lang="en-US" sz="1300">
                <a:solidFill>
                  <a:srgbClr val="1E2A33"/>
                </a:solidFill>
                <a:latin typeface="Calibri" pitchFamily="34" charset="0"/>
                <a:cs typeface="Calibri" pitchFamily="34" charset="-120"/>
              </a:rPr>
              <a:t>At this time, it is important to:</a:t>
            </a:r>
          </a:p>
          <a:p>
            <a:pPr marL="152400" indent="-152400">
              <a:spcAft>
                <a:spcPts val="900"/>
              </a:spcAft>
              <a:buSzPct val="100000"/>
              <a:buChar char="•"/>
            </a:pPr>
            <a:r>
              <a:rPr lang="en-US" sz="1300">
                <a:solidFill>
                  <a:srgbClr val="1E2A33"/>
                </a:solidFill>
                <a:latin typeface="Calibri" pitchFamily="34" charset="0"/>
                <a:cs typeface="Calibri" pitchFamily="34" charset="-120"/>
              </a:rPr>
              <a:t>Confirm the dose studied is safe and efficacious</a:t>
            </a:r>
          </a:p>
          <a:p>
            <a:pPr marL="152400" indent="-152400">
              <a:spcAft>
                <a:spcPts val="900"/>
              </a:spcAft>
              <a:buSzPct val="100000"/>
              <a:buChar char="•"/>
            </a:pPr>
            <a:r>
              <a:rPr lang="en-US" sz="1300">
                <a:solidFill>
                  <a:srgbClr val="1E2A33"/>
                </a:solidFill>
                <a:latin typeface="Calibri" pitchFamily="34" charset="0"/>
                <a:cs typeface="Calibri" pitchFamily="34" charset="-120"/>
              </a:rPr>
              <a:t>Support the posology for all patients</a:t>
            </a:r>
          </a:p>
          <a:p>
            <a:pPr marL="152400" indent="-152400">
              <a:spcAft>
                <a:spcPts val="900"/>
              </a:spcAft>
              <a:buSzPct val="100000"/>
              <a:buChar char="•"/>
            </a:pPr>
            <a:r>
              <a:rPr lang="en-US" sz="1300">
                <a:solidFill>
                  <a:srgbClr val="1E2A33"/>
                </a:solidFill>
                <a:latin typeface="Calibri" pitchFamily="34" charset="0"/>
                <a:cs typeface="Calibri" pitchFamily="34" charset="-120"/>
              </a:rPr>
              <a:t>Plan for pediatric studies and expanding the indications.</a:t>
            </a:r>
          </a:p>
          <a:p>
            <a:pPr>
              <a:spcAft>
                <a:spcPts val="900"/>
              </a:spcAft>
              <a:buSzPct val="100000"/>
            </a:pPr>
            <a:endParaRPr lang="en-US" sz="1300">
              <a:solidFill>
                <a:srgbClr val="1E2A33"/>
              </a:solidFill>
              <a:latin typeface="Calibri" pitchFamily="34" charset="0"/>
              <a:cs typeface="Calibri" pitchFamily="34" charset="-120"/>
            </a:endParaRPr>
          </a:p>
          <a:p>
            <a:pPr>
              <a:spcAft>
                <a:spcPts val="900"/>
              </a:spcAft>
              <a:buSzPct val="100000"/>
            </a:pPr>
            <a:endParaRPr lang="en-US" sz="1300" dirty="0"/>
          </a:p>
        </p:txBody>
      </p:sp>
      <p:sp>
        <p:nvSpPr>
          <p:cNvPr id="26" name="Shape 24"/>
          <p:cNvSpPr/>
          <p:nvPr/>
        </p:nvSpPr>
        <p:spPr>
          <a:xfrm>
            <a:off x="548640" y="5543549"/>
            <a:ext cx="11094415" cy="808671"/>
          </a:xfrm>
          <a:prstGeom prst="roundRect">
            <a:avLst>
              <a:gd name="adj" fmla="val 6957"/>
            </a:avLst>
          </a:prstGeom>
          <a:solidFill>
            <a:srgbClr val="EAF1F4"/>
          </a:solidFill>
          <a:ln w="12700">
            <a:solidFill>
              <a:srgbClr val="D3DCE2"/>
            </a:solidFill>
            <a:prstDash val="solid"/>
          </a:ln>
        </p:spPr>
        <p:txBody>
          <a:bodyPr/>
          <a:lstStyle/>
          <a:p>
            <a:endParaRPr lang="en-US"/>
          </a:p>
        </p:txBody>
      </p:sp>
      <p:sp>
        <p:nvSpPr>
          <p:cNvPr id="27" name="Text 25"/>
          <p:cNvSpPr/>
          <p:nvPr/>
        </p:nvSpPr>
        <p:spPr>
          <a:xfrm>
            <a:off x="774913" y="5658990"/>
            <a:ext cx="10637215" cy="549212"/>
          </a:xfrm>
          <a:prstGeom prst="rect">
            <a:avLst/>
          </a:prstGeom>
          <a:noFill/>
          <a:ln/>
        </p:spPr>
        <p:txBody>
          <a:bodyPr wrap="square" lIns="0" tIns="0" rIns="0" bIns="0" rtlCol="0" anchor="ctr"/>
          <a:lstStyle/>
          <a:p>
            <a:pPr marL="0" indent="0">
              <a:lnSpc>
                <a:spcPct val="108000"/>
              </a:lnSpc>
              <a:buNone/>
            </a:pPr>
            <a:r>
              <a:rPr lang="en-US" sz="1300" b="1" dirty="0">
                <a:solidFill>
                  <a:srgbClr val="13293D"/>
                </a:solidFill>
                <a:latin typeface="Calibri" pitchFamily="34" charset="0"/>
                <a:ea typeface="Calibri" pitchFamily="34" charset="-122"/>
                <a:cs typeface="Calibri" pitchFamily="34" charset="-120"/>
              </a:rPr>
              <a:t>Same molecule, evolving questions.  </a:t>
            </a:r>
            <a:r>
              <a:rPr lang="en-US" sz="1300" dirty="0">
                <a:solidFill>
                  <a:srgbClr val="1E2A33"/>
                </a:solidFill>
                <a:latin typeface="Calibri" pitchFamily="34" charset="0"/>
                <a:ea typeface="Calibri" pitchFamily="34" charset="-122"/>
                <a:cs typeface="Calibri" pitchFamily="34" charset="-120"/>
              </a:rPr>
              <a:t>As data accumulates from discovery to filing, the useful modeling approach shifts — and often more than one approach is in play at once. That overlap is exactly where hybrid strategies live.</a:t>
            </a:r>
            <a:endParaRPr lang="en-US" sz="1300" dirty="0"/>
          </a:p>
        </p:txBody>
      </p:sp>
      <p:sp>
        <p:nvSpPr>
          <p:cNvPr id="29" name="Text 26"/>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30" name="Text 27"/>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4</a:t>
            </a:r>
            <a:endParaRPr lang="en-US" sz="900" dirty="0"/>
          </a:p>
        </p:txBody>
      </p:sp>
      <p:sp>
        <p:nvSpPr>
          <p:cNvPr id="28" name="Text 11">
            <a:extLst>
              <a:ext uri="{FF2B5EF4-FFF2-40B4-BE49-F238E27FC236}">
                <a16:creationId xmlns:a16="http://schemas.microsoft.com/office/drawing/2014/main" id="{007F2679-9580-C5EE-D015-9CB76573989E}"/>
              </a:ext>
            </a:extLst>
          </p:cNvPr>
          <p:cNvSpPr/>
          <p:nvPr/>
        </p:nvSpPr>
        <p:spPr>
          <a:xfrm>
            <a:off x="3719273" y="2447152"/>
            <a:ext cx="2376727" cy="2792337"/>
          </a:xfrm>
          <a:prstGeom prst="rect">
            <a:avLst/>
          </a:prstGeom>
          <a:noFill/>
          <a:ln/>
        </p:spPr>
        <p:txBody>
          <a:bodyPr wrap="square" lIns="0" tIns="0" rIns="0" bIns="0" rtlCol="0" anchor="t"/>
          <a:lstStyle/>
          <a:p>
            <a:pPr>
              <a:spcAft>
                <a:spcPts val="900"/>
              </a:spcAft>
              <a:buSzPct val="100000"/>
            </a:pPr>
            <a:r>
              <a:rPr lang="en-US" sz="1300">
                <a:solidFill>
                  <a:srgbClr val="1E2A33"/>
                </a:solidFill>
                <a:latin typeface="Calibri" pitchFamily="34" charset="0"/>
                <a:cs typeface="Calibri" pitchFamily="34" charset="-120"/>
              </a:rPr>
              <a:t>Modalities: PBPK, QSP, PopPK, PK/PD and ER </a:t>
            </a:r>
          </a:p>
          <a:p>
            <a:pPr>
              <a:spcAft>
                <a:spcPts val="900"/>
              </a:spcAft>
              <a:buSzPct val="100000"/>
            </a:pPr>
            <a:r>
              <a:rPr lang="en-US" sz="1300">
                <a:solidFill>
                  <a:srgbClr val="1E2A33"/>
                </a:solidFill>
                <a:latin typeface="Calibri" pitchFamily="34" charset="0"/>
                <a:cs typeface="Calibri" pitchFamily="34" charset="-120"/>
              </a:rPr>
              <a:t>At this time, it is important to:</a:t>
            </a:r>
          </a:p>
          <a:p>
            <a:pPr marL="152400" indent="-152400">
              <a:spcAft>
                <a:spcPts val="900"/>
              </a:spcAft>
              <a:buSzPct val="100000"/>
              <a:buChar char="•"/>
            </a:pPr>
            <a:r>
              <a:rPr lang="en-US" sz="1300">
                <a:solidFill>
                  <a:srgbClr val="1E2A33"/>
                </a:solidFill>
                <a:latin typeface="Calibri" pitchFamily="34" charset="0"/>
                <a:cs typeface="Calibri" pitchFamily="34" charset="-120"/>
              </a:rPr>
              <a:t>characterize the human PK</a:t>
            </a:r>
          </a:p>
          <a:p>
            <a:pPr marL="152400" indent="-152400">
              <a:spcAft>
                <a:spcPts val="900"/>
              </a:spcAft>
              <a:buSzPct val="100000"/>
              <a:buChar char="•"/>
            </a:pPr>
            <a:r>
              <a:rPr lang="en-US" sz="1300">
                <a:solidFill>
                  <a:srgbClr val="1E2A33"/>
                </a:solidFill>
                <a:latin typeface="Calibri" pitchFamily="34" charset="0"/>
                <a:cs typeface="Calibri" pitchFamily="34" charset="-120"/>
              </a:rPr>
              <a:t>confirm the anticipated pharmacological effect is occurring</a:t>
            </a:r>
          </a:p>
          <a:p>
            <a:pPr marL="152400" indent="-152400">
              <a:spcAft>
                <a:spcPts val="900"/>
              </a:spcAft>
              <a:buSzPct val="100000"/>
              <a:buChar char="•"/>
            </a:pPr>
            <a:r>
              <a:rPr lang="en-US" sz="1300">
                <a:solidFill>
                  <a:srgbClr val="1E2A33"/>
                </a:solidFill>
                <a:latin typeface="Calibri" pitchFamily="34" charset="0"/>
                <a:cs typeface="Calibri" pitchFamily="34" charset="-120"/>
              </a:rPr>
              <a:t>update our predictions for safety and efficacious doses.</a:t>
            </a:r>
          </a:p>
          <a:p>
            <a:pPr>
              <a:spcAft>
                <a:spcPts val="900"/>
              </a:spcAft>
              <a:buSzPct val="100000"/>
            </a:pPr>
            <a:endParaRPr lang="en-US" sz="1300">
              <a:solidFill>
                <a:srgbClr val="1E2A33"/>
              </a:solidFill>
              <a:latin typeface="Calibri" pitchFamily="34" charset="0"/>
              <a:cs typeface="Calibri"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MODELING TOOLBOX</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One map: from data-driven to mechanistic</a:t>
            </a:r>
            <a:endParaRPr lang="en-US" sz="2600" dirty="0"/>
          </a:p>
        </p:txBody>
      </p:sp>
      <p:sp>
        <p:nvSpPr>
          <p:cNvPr id="5" name="Shape 3"/>
          <p:cNvSpPr/>
          <p:nvPr/>
        </p:nvSpPr>
        <p:spPr>
          <a:xfrm>
            <a:off x="3291840" y="1554480"/>
            <a:ext cx="5760720" cy="4206240"/>
          </a:xfrm>
          <a:prstGeom prst="rect">
            <a:avLst/>
          </a:prstGeom>
          <a:solidFill>
            <a:srgbClr val="FFFFFF"/>
          </a:solidFill>
          <a:ln w="12700">
            <a:solidFill>
              <a:srgbClr val="D3DCE2"/>
            </a:solidFill>
            <a:prstDash val="solid"/>
          </a:ln>
        </p:spPr>
        <p:txBody>
          <a:bodyPr/>
          <a:lstStyle/>
          <a:p>
            <a:endParaRPr lang="en-US"/>
          </a:p>
        </p:txBody>
      </p:sp>
      <p:sp>
        <p:nvSpPr>
          <p:cNvPr id="6" name="Text 4"/>
          <p:cNvSpPr/>
          <p:nvPr/>
        </p:nvSpPr>
        <p:spPr>
          <a:xfrm>
            <a:off x="3291840" y="1536192"/>
            <a:ext cx="5760720" cy="274320"/>
          </a:xfrm>
          <a:prstGeom prst="rect">
            <a:avLst/>
          </a:prstGeom>
          <a:noFill/>
          <a:ln/>
        </p:spPr>
        <p:txBody>
          <a:bodyPr wrap="square" lIns="0" tIns="0" rIns="0" bIns="0" rtlCol="0" anchor="ctr"/>
          <a:lstStyle/>
          <a:p>
            <a:pPr marL="0" indent="0" algn="ctr">
              <a:buNone/>
            </a:pPr>
            <a:r>
              <a:rPr lang="en-US" sz="1000" b="1" dirty="0">
                <a:solidFill>
                  <a:srgbClr val="5A6B78"/>
                </a:solidFill>
                <a:latin typeface="Calibri" pitchFamily="34" charset="0"/>
                <a:ea typeface="Calibri" pitchFamily="34" charset="-122"/>
                <a:cs typeface="Calibri" pitchFamily="34" charset="-120"/>
              </a:rPr>
              <a:t>MECHANISTIC INSIGHT  →</a:t>
            </a:r>
            <a:endParaRPr lang="en-US" sz="1000" dirty="0"/>
          </a:p>
        </p:txBody>
      </p:sp>
      <p:sp>
        <p:nvSpPr>
          <p:cNvPr id="7" name="Text 5"/>
          <p:cNvSpPr/>
          <p:nvPr/>
        </p:nvSpPr>
        <p:spPr>
          <a:xfrm>
            <a:off x="3291840" y="5504688"/>
            <a:ext cx="5760720" cy="274320"/>
          </a:xfrm>
          <a:prstGeom prst="rect">
            <a:avLst/>
          </a:prstGeom>
          <a:noFill/>
          <a:ln/>
        </p:spPr>
        <p:txBody>
          <a:bodyPr wrap="square" lIns="0" tIns="0" rIns="0" bIns="0" rtlCol="0" anchor="ctr"/>
          <a:lstStyle/>
          <a:p>
            <a:pPr marL="0" indent="0" algn="ctr">
              <a:buNone/>
            </a:pPr>
            <a:r>
              <a:rPr lang="en-US" sz="1000" b="1" dirty="0">
                <a:solidFill>
                  <a:srgbClr val="5A6B78"/>
                </a:solidFill>
                <a:latin typeface="Calibri" pitchFamily="34" charset="0"/>
                <a:ea typeface="Calibri" pitchFamily="34" charset="-122"/>
                <a:cs typeface="Calibri" pitchFamily="34" charset="-120"/>
              </a:rPr>
              <a:t>← DATA-DRIVEN / EMPIRICAL</a:t>
            </a:r>
            <a:endParaRPr lang="en-US" sz="1000" dirty="0"/>
          </a:p>
        </p:txBody>
      </p:sp>
      <p:sp>
        <p:nvSpPr>
          <p:cNvPr id="8" name="Text 6"/>
          <p:cNvSpPr/>
          <p:nvPr/>
        </p:nvSpPr>
        <p:spPr>
          <a:xfrm>
            <a:off x="548640" y="1645920"/>
            <a:ext cx="2606040" cy="640080"/>
          </a:xfrm>
          <a:prstGeom prst="rect">
            <a:avLst/>
          </a:prstGeom>
          <a:noFill/>
          <a:ln/>
        </p:spPr>
        <p:txBody>
          <a:bodyPr wrap="square" lIns="0" tIns="0" rIns="0" bIns="0" rtlCol="0" anchor="ctr"/>
          <a:lstStyle/>
          <a:p>
            <a:pPr marL="0" indent="0" algn="r">
              <a:buNone/>
            </a:pPr>
            <a:r>
              <a:rPr lang="en-US" sz="1000" b="1" dirty="0">
                <a:solidFill>
                  <a:srgbClr val="5A6B78"/>
                </a:solidFill>
                <a:latin typeface="Calibri" pitchFamily="34" charset="0"/>
                <a:ea typeface="Calibri" pitchFamily="34" charset="-122"/>
                <a:cs typeface="Calibri" pitchFamily="34" charset="-120"/>
              </a:rPr>
              <a:t>DIRECTLY USES</a:t>
            </a:r>
            <a:endParaRPr lang="en-US" sz="1000" dirty="0"/>
          </a:p>
          <a:p>
            <a:pPr marL="0" indent="0" algn="r">
              <a:buNone/>
            </a:pPr>
            <a:r>
              <a:rPr lang="en-US" sz="1000" b="1" dirty="0">
                <a:solidFill>
                  <a:srgbClr val="5A6B78"/>
                </a:solidFill>
                <a:latin typeface="Calibri" pitchFamily="34" charset="0"/>
                <a:ea typeface="Calibri" pitchFamily="34" charset="-122"/>
                <a:cs typeface="Calibri" pitchFamily="34" charset="-120"/>
              </a:rPr>
              <a:t>PATIENT DATA</a:t>
            </a:r>
            <a:endParaRPr lang="en-US" sz="1000" dirty="0"/>
          </a:p>
        </p:txBody>
      </p:sp>
      <p:sp>
        <p:nvSpPr>
          <p:cNvPr id="9" name="Text 7"/>
          <p:cNvSpPr/>
          <p:nvPr/>
        </p:nvSpPr>
        <p:spPr>
          <a:xfrm>
            <a:off x="548640" y="4983480"/>
            <a:ext cx="2606040" cy="640080"/>
          </a:xfrm>
          <a:prstGeom prst="rect">
            <a:avLst/>
          </a:prstGeom>
          <a:noFill/>
          <a:ln/>
        </p:spPr>
        <p:txBody>
          <a:bodyPr wrap="square" lIns="0" tIns="0" rIns="0" bIns="0" rtlCol="0" anchor="ctr"/>
          <a:lstStyle/>
          <a:p>
            <a:pPr marL="0" indent="0" algn="r">
              <a:buNone/>
            </a:pPr>
            <a:r>
              <a:rPr lang="en-US" sz="1000" b="1" dirty="0">
                <a:solidFill>
                  <a:srgbClr val="5A6B78"/>
                </a:solidFill>
                <a:latin typeface="Calibri" pitchFamily="34" charset="0"/>
                <a:ea typeface="Calibri" pitchFamily="34" charset="-122"/>
                <a:cs typeface="Calibri" pitchFamily="34" charset="-120"/>
              </a:rPr>
              <a:t>BUILT FROM</a:t>
            </a:r>
            <a:endParaRPr lang="en-US" sz="1000" dirty="0"/>
          </a:p>
          <a:p>
            <a:pPr marL="0" indent="0" algn="r">
              <a:buNone/>
            </a:pPr>
            <a:r>
              <a:rPr lang="en-US" sz="1000" b="1" dirty="0">
                <a:solidFill>
                  <a:srgbClr val="5A6B78"/>
                </a:solidFill>
                <a:latin typeface="Calibri" pitchFamily="34" charset="0"/>
                <a:ea typeface="Calibri" pitchFamily="34" charset="-122"/>
                <a:cs typeface="Calibri" pitchFamily="34" charset="-120"/>
              </a:rPr>
              <a:t>BIOLOGY / SYSTEM</a:t>
            </a:r>
            <a:endParaRPr lang="en-US" sz="1000" dirty="0"/>
          </a:p>
        </p:txBody>
      </p:sp>
      <p:sp>
        <p:nvSpPr>
          <p:cNvPr id="10" name="Shape 8"/>
          <p:cNvSpPr/>
          <p:nvPr/>
        </p:nvSpPr>
        <p:spPr>
          <a:xfrm>
            <a:off x="3611880" y="2194560"/>
            <a:ext cx="1143000" cy="1143000"/>
          </a:xfrm>
          <a:prstGeom prst="ellipse">
            <a:avLst/>
          </a:prstGeom>
          <a:solidFill>
            <a:srgbClr val="6B7A8F"/>
          </a:solidFill>
          <a:ln w="31750">
            <a:solidFill>
              <a:srgbClr val="FFFFFF"/>
            </a:solidFill>
            <a:prstDash val="solid"/>
          </a:ln>
          <a:effectLst>
            <a:outerShdw blurRad="88900" dist="38100" dir="8100000" algn="bl" rotWithShape="0">
              <a:srgbClr val="000000">
                <a:alpha val="13000"/>
              </a:srgbClr>
            </a:outerShdw>
          </a:effectLst>
        </p:spPr>
        <p:txBody>
          <a:bodyPr/>
          <a:lstStyle/>
          <a:p>
            <a:endParaRPr lang="en-US"/>
          </a:p>
        </p:txBody>
      </p:sp>
      <p:sp>
        <p:nvSpPr>
          <p:cNvPr id="11" name="Text 9"/>
          <p:cNvSpPr/>
          <p:nvPr/>
        </p:nvSpPr>
        <p:spPr>
          <a:xfrm>
            <a:off x="3474720" y="2194560"/>
            <a:ext cx="1417320" cy="11430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ML /</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Stat.</a:t>
            </a:r>
            <a:endParaRPr lang="en-US" sz="1200" dirty="0"/>
          </a:p>
        </p:txBody>
      </p:sp>
      <p:sp>
        <p:nvSpPr>
          <p:cNvPr id="12" name="Shape 10"/>
          <p:cNvSpPr/>
          <p:nvPr/>
        </p:nvSpPr>
        <p:spPr>
          <a:xfrm>
            <a:off x="5074920" y="2697480"/>
            <a:ext cx="1143000" cy="1143000"/>
          </a:xfrm>
          <a:prstGeom prst="ellipse">
            <a:avLst/>
          </a:prstGeom>
          <a:solidFill>
            <a:srgbClr val="1C7293"/>
          </a:solidFill>
          <a:ln w="31750">
            <a:solidFill>
              <a:srgbClr val="FFFFFF"/>
            </a:solidFill>
            <a:prstDash val="solid"/>
          </a:ln>
          <a:effectLst>
            <a:outerShdw blurRad="88900" dist="38100" dir="8100000" algn="bl" rotWithShape="0">
              <a:srgbClr val="000000">
                <a:alpha val="13000"/>
              </a:srgbClr>
            </a:outerShdw>
          </a:effectLst>
        </p:spPr>
        <p:txBody>
          <a:bodyPr/>
          <a:lstStyle/>
          <a:p>
            <a:endParaRPr lang="en-US"/>
          </a:p>
        </p:txBody>
      </p:sp>
      <p:sp>
        <p:nvSpPr>
          <p:cNvPr id="13" name="Text 11"/>
          <p:cNvSpPr/>
          <p:nvPr/>
        </p:nvSpPr>
        <p:spPr>
          <a:xfrm>
            <a:off x="4937760" y="2697480"/>
            <a:ext cx="1417320" cy="11430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PopPK</a:t>
            </a:r>
            <a:endParaRPr lang="en-US" sz="1200" dirty="0"/>
          </a:p>
        </p:txBody>
      </p:sp>
      <p:sp>
        <p:nvSpPr>
          <p:cNvPr id="14" name="Shape 12"/>
          <p:cNvSpPr/>
          <p:nvPr/>
        </p:nvSpPr>
        <p:spPr>
          <a:xfrm>
            <a:off x="3931920" y="3840480"/>
            <a:ext cx="1188720" cy="1188720"/>
          </a:xfrm>
          <a:prstGeom prst="ellipse">
            <a:avLst/>
          </a:prstGeom>
          <a:solidFill>
            <a:srgbClr val="2E8B72"/>
          </a:solidFill>
          <a:ln w="31750">
            <a:solidFill>
              <a:srgbClr val="FFFFFF"/>
            </a:solidFill>
            <a:prstDash val="solid"/>
          </a:ln>
          <a:effectLst>
            <a:outerShdw blurRad="88900" dist="38100" dir="8100000" algn="bl" rotWithShape="0">
              <a:srgbClr val="000000">
                <a:alpha val="13000"/>
              </a:srgbClr>
            </a:outerShdw>
          </a:effectLst>
        </p:spPr>
        <p:txBody>
          <a:bodyPr/>
          <a:lstStyle/>
          <a:p>
            <a:endParaRPr lang="en-US"/>
          </a:p>
        </p:txBody>
      </p:sp>
      <p:sp>
        <p:nvSpPr>
          <p:cNvPr id="15" name="Text 13"/>
          <p:cNvSpPr/>
          <p:nvPr/>
        </p:nvSpPr>
        <p:spPr>
          <a:xfrm>
            <a:off x="3794760" y="3840480"/>
            <a:ext cx="1463040" cy="11887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Exposure-</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Response</a:t>
            </a:r>
            <a:endParaRPr lang="en-US" sz="1200" dirty="0"/>
          </a:p>
        </p:txBody>
      </p:sp>
      <p:sp>
        <p:nvSpPr>
          <p:cNvPr id="16" name="Shape 14"/>
          <p:cNvSpPr/>
          <p:nvPr/>
        </p:nvSpPr>
        <p:spPr>
          <a:xfrm>
            <a:off x="6720840" y="2331720"/>
            <a:ext cx="1143000" cy="1143000"/>
          </a:xfrm>
          <a:prstGeom prst="ellipse">
            <a:avLst/>
          </a:prstGeom>
          <a:solidFill>
            <a:srgbClr val="5B5F97"/>
          </a:solidFill>
          <a:ln w="31750">
            <a:solidFill>
              <a:srgbClr val="FFFFFF"/>
            </a:solidFill>
            <a:prstDash val="solid"/>
          </a:ln>
          <a:effectLst>
            <a:outerShdw blurRad="88900" dist="38100" dir="8100000" algn="bl" rotWithShape="0">
              <a:srgbClr val="000000">
                <a:alpha val="13000"/>
              </a:srgbClr>
            </a:outerShdw>
          </a:effectLst>
        </p:spPr>
        <p:txBody>
          <a:bodyPr/>
          <a:lstStyle/>
          <a:p>
            <a:endParaRPr lang="en-US"/>
          </a:p>
        </p:txBody>
      </p:sp>
      <p:sp>
        <p:nvSpPr>
          <p:cNvPr id="17" name="Text 15"/>
          <p:cNvSpPr/>
          <p:nvPr/>
        </p:nvSpPr>
        <p:spPr>
          <a:xfrm>
            <a:off x="6583680" y="2331720"/>
            <a:ext cx="1417320" cy="11430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PBPK</a:t>
            </a:r>
            <a:endParaRPr lang="en-US" sz="1200" dirty="0"/>
          </a:p>
        </p:txBody>
      </p:sp>
      <p:sp>
        <p:nvSpPr>
          <p:cNvPr id="18" name="Shape 16"/>
          <p:cNvSpPr/>
          <p:nvPr/>
        </p:nvSpPr>
        <p:spPr>
          <a:xfrm>
            <a:off x="7269480" y="3749040"/>
            <a:ext cx="1188720" cy="1188720"/>
          </a:xfrm>
          <a:prstGeom prst="ellipse">
            <a:avLst/>
          </a:prstGeom>
          <a:solidFill>
            <a:srgbClr val="D98C3E"/>
          </a:solidFill>
          <a:ln w="31750">
            <a:solidFill>
              <a:srgbClr val="FFFFFF"/>
            </a:solidFill>
            <a:prstDash val="solid"/>
          </a:ln>
          <a:effectLst>
            <a:outerShdw blurRad="88900" dist="38100" dir="8100000" algn="bl" rotWithShape="0">
              <a:srgbClr val="000000">
                <a:alpha val="13000"/>
              </a:srgbClr>
            </a:outerShdw>
          </a:effectLst>
        </p:spPr>
        <p:txBody>
          <a:bodyPr/>
          <a:lstStyle/>
          <a:p>
            <a:endParaRPr lang="en-US"/>
          </a:p>
        </p:txBody>
      </p:sp>
      <p:sp>
        <p:nvSpPr>
          <p:cNvPr id="19" name="Text 17"/>
          <p:cNvSpPr/>
          <p:nvPr/>
        </p:nvSpPr>
        <p:spPr>
          <a:xfrm>
            <a:off x="7132320" y="3749040"/>
            <a:ext cx="1463040" cy="11887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QSP</a:t>
            </a:r>
            <a:endParaRPr lang="en-US" sz="1200" dirty="0"/>
          </a:p>
        </p:txBody>
      </p:sp>
      <p:sp>
        <p:nvSpPr>
          <p:cNvPr id="20" name="Shape 18"/>
          <p:cNvSpPr/>
          <p:nvPr/>
        </p:nvSpPr>
        <p:spPr>
          <a:xfrm>
            <a:off x="9281160" y="1737360"/>
            <a:ext cx="2331720" cy="3566160"/>
          </a:xfrm>
          <a:prstGeom prst="roundRect">
            <a:avLst>
              <a:gd name="adj" fmla="val 3137"/>
            </a:avLst>
          </a:prstGeom>
          <a:solidFill>
            <a:srgbClr val="EAF1F4"/>
          </a:solidFill>
          <a:ln w="12700">
            <a:solidFill>
              <a:srgbClr val="D3DCE2"/>
            </a:solidFill>
            <a:prstDash val="solid"/>
          </a:ln>
        </p:spPr>
        <p:txBody>
          <a:bodyPr/>
          <a:lstStyle/>
          <a:p>
            <a:endParaRPr lang="en-US"/>
          </a:p>
        </p:txBody>
      </p:sp>
      <p:sp>
        <p:nvSpPr>
          <p:cNvPr id="21" name="Text 19"/>
          <p:cNvSpPr/>
          <p:nvPr/>
        </p:nvSpPr>
        <p:spPr>
          <a:xfrm>
            <a:off x="9464040" y="1938528"/>
            <a:ext cx="2011680" cy="32004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How to read it</a:t>
            </a:r>
            <a:endParaRPr lang="en-US" sz="1400" dirty="0"/>
          </a:p>
        </p:txBody>
      </p:sp>
      <p:sp>
        <p:nvSpPr>
          <p:cNvPr id="22" name="Text 20"/>
          <p:cNvSpPr/>
          <p:nvPr/>
        </p:nvSpPr>
        <p:spPr>
          <a:xfrm>
            <a:off x="9464040" y="2331720"/>
            <a:ext cx="2011680" cy="2834640"/>
          </a:xfrm>
          <a:prstGeom prst="rect">
            <a:avLst/>
          </a:prstGeom>
          <a:noFill/>
          <a:ln/>
        </p:spPr>
        <p:txBody>
          <a:bodyPr wrap="square" lIns="0" tIns="0" rIns="0" bIns="0" rtlCol="0" anchor="t"/>
          <a:lstStyle/>
          <a:p>
            <a:pPr marL="0" indent="0">
              <a:lnSpc>
                <a:spcPct val="105000"/>
              </a:lnSpc>
              <a:spcAft>
                <a:spcPts val="1200"/>
              </a:spcAft>
              <a:buNone/>
            </a:pPr>
            <a:r>
              <a:rPr lang="en-US" sz="1150" dirty="0">
                <a:solidFill>
                  <a:srgbClr val="5A6B78"/>
                </a:solidFill>
                <a:latin typeface="Calibri" pitchFamily="34" charset="0"/>
                <a:ea typeface="Calibri" pitchFamily="34" charset="-122"/>
                <a:cs typeface="Calibri" pitchFamily="34" charset="-120"/>
              </a:rPr>
              <a:t>Left → right: how much the model encodes biological mechanism.</a:t>
            </a:r>
            <a:endParaRPr lang="en-US" sz="1150" dirty="0"/>
          </a:p>
          <a:p>
            <a:pPr marL="0" indent="0">
              <a:lnSpc>
                <a:spcPct val="105000"/>
              </a:lnSpc>
              <a:spcAft>
                <a:spcPts val="1200"/>
              </a:spcAft>
              <a:buNone/>
            </a:pPr>
            <a:r>
              <a:rPr lang="en-US" sz="1150" dirty="0">
                <a:solidFill>
                  <a:srgbClr val="5A6B78"/>
                </a:solidFill>
                <a:latin typeface="Calibri" pitchFamily="34" charset="0"/>
                <a:ea typeface="Calibri" pitchFamily="34" charset="-122"/>
                <a:cs typeface="Calibri" pitchFamily="34" charset="-120"/>
              </a:rPr>
              <a:t>Top → bottom: built bottom-up from biology vs. fit to patient data.</a:t>
            </a:r>
            <a:endParaRPr lang="en-US" sz="1150" dirty="0"/>
          </a:p>
          <a:p>
            <a:pPr marL="0" indent="0">
              <a:lnSpc>
                <a:spcPct val="105000"/>
              </a:lnSpc>
              <a:buNone/>
            </a:pPr>
            <a:r>
              <a:rPr lang="en-US" sz="1150" b="1" dirty="0">
                <a:solidFill>
                  <a:srgbClr val="13293D"/>
                </a:solidFill>
                <a:latin typeface="Calibri" pitchFamily="34" charset="0"/>
                <a:ea typeface="Calibri" pitchFamily="34" charset="-122"/>
                <a:cs typeface="Calibri" pitchFamily="34" charset="-120"/>
              </a:rPr>
              <a:t>No approach is “best” — each occupies a different niche.</a:t>
            </a:r>
            <a:endParaRPr lang="en-US" sz="1150" dirty="0"/>
          </a:p>
        </p:txBody>
      </p:sp>
      <p:sp>
        <p:nvSpPr>
          <p:cNvPr id="24" name="Text 21"/>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5" name="Text 22"/>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APPROACH 1 OF 5</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Population PK (PopPK)</a:t>
            </a:r>
            <a:endParaRPr lang="en-US" sz="2600" dirty="0"/>
          </a:p>
        </p:txBody>
      </p:sp>
      <p:sp>
        <p:nvSpPr>
          <p:cNvPr id="5" name="Shape 3"/>
          <p:cNvSpPr/>
          <p:nvPr/>
        </p:nvSpPr>
        <p:spPr>
          <a:xfrm>
            <a:off x="548640" y="1325880"/>
            <a:ext cx="3977640" cy="4892040"/>
          </a:xfrm>
          <a:prstGeom prst="roundRect">
            <a:avLst>
              <a:gd name="adj" fmla="val 1839"/>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822960" y="1618488"/>
            <a:ext cx="868680" cy="868680"/>
          </a:xfrm>
          <a:prstGeom prst="ellipse">
            <a:avLst/>
          </a:prstGeom>
          <a:solidFill>
            <a:srgbClr val="1C729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48817" y="1844345"/>
            <a:ext cx="416966" cy="416966"/>
          </a:xfrm>
          <a:prstGeom prst="rect">
            <a:avLst/>
          </a:prstGeom>
        </p:spPr>
      </p:pic>
      <p:sp>
        <p:nvSpPr>
          <p:cNvPr id="8" name="Text 5"/>
          <p:cNvSpPr/>
          <p:nvPr/>
        </p:nvSpPr>
        <p:spPr>
          <a:xfrm>
            <a:off x="1828800" y="1673352"/>
            <a:ext cx="2514600" cy="77724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Population</a:t>
            </a:r>
            <a:endParaRPr lang="en-US" sz="1900" dirty="0"/>
          </a:p>
          <a:p>
            <a:pPr marL="0" indent="0">
              <a:buNone/>
            </a:pPr>
            <a:r>
              <a:rPr lang="en-US" sz="1900" b="1" dirty="0">
                <a:solidFill>
                  <a:srgbClr val="FFFFFF"/>
                </a:solidFill>
                <a:latin typeface="Georgia" pitchFamily="34" charset="0"/>
                <a:ea typeface="Georgia" pitchFamily="34" charset="-122"/>
                <a:cs typeface="Georgia" pitchFamily="34" charset="-120"/>
              </a:rPr>
              <a:t>Pharmacokinetics</a:t>
            </a:r>
            <a:endParaRPr lang="en-US" sz="1900" dirty="0"/>
          </a:p>
        </p:txBody>
      </p:sp>
      <p:sp>
        <p:nvSpPr>
          <p:cNvPr id="9" name="Text 6"/>
          <p:cNvSpPr/>
          <p:nvPr/>
        </p:nvSpPr>
        <p:spPr>
          <a:xfrm>
            <a:off x="841248" y="265176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WHAT IT IS</a:t>
            </a:r>
            <a:endParaRPr lang="en-US" sz="1100" dirty="0"/>
          </a:p>
        </p:txBody>
      </p:sp>
      <p:sp>
        <p:nvSpPr>
          <p:cNvPr id="10" name="Text 7"/>
          <p:cNvSpPr/>
          <p:nvPr/>
        </p:nvSpPr>
        <p:spPr>
          <a:xfrm>
            <a:off x="841248" y="2953512"/>
            <a:ext cx="3410712" cy="1965960"/>
          </a:xfrm>
          <a:prstGeom prst="rect">
            <a:avLst/>
          </a:prstGeom>
          <a:noFill/>
          <a:ln/>
        </p:spPr>
        <p:txBody>
          <a:bodyPr wrap="square" lIns="0" tIns="0" rIns="0" bIns="0" rtlCol="0" anchor="ctr"/>
          <a:lstStyle/>
          <a:p>
            <a:pPr marL="0" indent="0">
              <a:lnSpc>
                <a:spcPct val="112000"/>
              </a:lnSpc>
              <a:buNone/>
            </a:pPr>
            <a:r>
              <a:rPr lang="en-US" sz="1250" dirty="0">
                <a:solidFill>
                  <a:srgbClr val="E6EEF2"/>
                </a:solidFill>
                <a:latin typeface="Calibri" pitchFamily="34" charset="0"/>
                <a:ea typeface="Calibri" pitchFamily="34" charset="-122"/>
                <a:cs typeface="Calibri" pitchFamily="34" charset="-120"/>
              </a:rPr>
              <a:t>Nonlinear mixed-effects (compartmental) models that describe drug concentration over time across a whole population — quantifying the typical PK, the variability between and within patients, and the covariates that explain it.</a:t>
            </a:r>
            <a:endParaRPr lang="en-US" sz="1250" dirty="0"/>
          </a:p>
        </p:txBody>
      </p:sp>
      <p:sp>
        <p:nvSpPr>
          <p:cNvPr id="11" name="Text 8"/>
          <p:cNvSpPr/>
          <p:nvPr/>
        </p:nvSpPr>
        <p:spPr>
          <a:xfrm>
            <a:off x="841248" y="502920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TYPICAL STAGE</a:t>
            </a:r>
            <a:endParaRPr lang="en-US" sz="1100" dirty="0"/>
          </a:p>
        </p:txBody>
      </p:sp>
      <p:sp>
        <p:nvSpPr>
          <p:cNvPr id="12" name="Shape 9"/>
          <p:cNvSpPr/>
          <p:nvPr/>
        </p:nvSpPr>
        <p:spPr>
          <a:xfrm>
            <a:off x="841248" y="5349240"/>
            <a:ext cx="1691640" cy="457200"/>
          </a:xfrm>
          <a:prstGeom prst="roundRect">
            <a:avLst>
              <a:gd name="adj" fmla="val 50000"/>
            </a:avLst>
          </a:prstGeom>
          <a:solidFill>
            <a:srgbClr val="2A4A5F"/>
          </a:solidFill>
          <a:ln w="12700">
            <a:solidFill>
              <a:srgbClr val="3C5C72"/>
            </a:solidFill>
            <a:prstDash val="solid"/>
          </a:ln>
        </p:spPr>
        <p:txBody>
          <a:bodyPr/>
          <a:lstStyle/>
          <a:p>
            <a:endParaRPr lang="en-US"/>
          </a:p>
        </p:txBody>
      </p:sp>
      <p:sp>
        <p:nvSpPr>
          <p:cNvPr id="13" name="Text 10"/>
          <p:cNvSpPr/>
          <p:nvPr/>
        </p:nvSpPr>
        <p:spPr>
          <a:xfrm>
            <a:off x="841248" y="5349240"/>
            <a:ext cx="1691640" cy="457200"/>
          </a:xfrm>
          <a:prstGeom prst="rect">
            <a:avLst/>
          </a:prstGeom>
          <a:noFill/>
          <a:ln/>
        </p:spPr>
        <p:txBody>
          <a:bodyPr wrap="square" lIns="0" tIns="0" rIns="0" bIns="0" rtlCol="0" anchor="ctr"/>
          <a:lstStyle/>
          <a:p>
            <a:pPr marL="0" indent="0" algn="ctr">
              <a:buNone/>
            </a:pPr>
            <a:r>
              <a:rPr lang="en-US" sz="1200" b="1" dirty="0">
                <a:solidFill>
                  <a:srgbClr val="7C97A8"/>
                </a:solidFill>
                <a:latin typeface="Calibri" pitchFamily="34" charset="0"/>
                <a:ea typeface="Calibri" pitchFamily="34" charset="-122"/>
                <a:cs typeface="Calibri" pitchFamily="34" charset="-120"/>
              </a:rPr>
              <a:t>Preclinical</a:t>
            </a:r>
            <a:endParaRPr lang="en-US" sz="1200" dirty="0"/>
          </a:p>
        </p:txBody>
      </p:sp>
      <p:sp>
        <p:nvSpPr>
          <p:cNvPr id="14" name="Shape 11"/>
          <p:cNvSpPr/>
          <p:nvPr/>
        </p:nvSpPr>
        <p:spPr>
          <a:xfrm>
            <a:off x="2715768" y="5349240"/>
            <a:ext cx="1691640" cy="457200"/>
          </a:xfrm>
          <a:prstGeom prst="roundRect">
            <a:avLst>
              <a:gd name="adj" fmla="val 50000"/>
            </a:avLst>
          </a:prstGeom>
          <a:solidFill>
            <a:srgbClr val="1C7293"/>
          </a:solidFill>
          <a:ln/>
        </p:spPr>
        <p:txBody>
          <a:bodyPr/>
          <a:lstStyle/>
          <a:p>
            <a:endParaRPr lang="en-US"/>
          </a:p>
        </p:txBody>
      </p:sp>
      <p:sp>
        <p:nvSpPr>
          <p:cNvPr id="15" name="Text 12"/>
          <p:cNvSpPr/>
          <p:nvPr/>
        </p:nvSpPr>
        <p:spPr>
          <a:xfrm>
            <a:off x="271576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Clinical</a:t>
            </a:r>
            <a:endParaRPr lang="en-US" sz="1200" dirty="0"/>
          </a:p>
        </p:txBody>
      </p:sp>
      <p:sp>
        <p:nvSpPr>
          <p:cNvPr id="16" name="Shape 13"/>
          <p:cNvSpPr/>
          <p:nvPr/>
        </p:nvSpPr>
        <p:spPr>
          <a:xfrm>
            <a:off x="4800600"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Shape 14"/>
          <p:cNvSpPr/>
          <p:nvPr/>
        </p:nvSpPr>
        <p:spPr>
          <a:xfrm>
            <a:off x="4800600" y="1325880"/>
            <a:ext cx="3293212" cy="64008"/>
          </a:xfrm>
          <a:prstGeom prst="rect">
            <a:avLst/>
          </a:prstGeom>
          <a:solidFill>
            <a:srgbClr val="1C7293"/>
          </a:solidFill>
          <a:ln/>
        </p:spPr>
        <p:txBody>
          <a:bodyPr/>
          <a:lstStyle/>
          <a:p>
            <a:endParaRPr lang="en-US"/>
          </a:p>
        </p:txBody>
      </p:sp>
      <p:sp>
        <p:nvSpPr>
          <p:cNvPr id="18" name="Shape 15"/>
          <p:cNvSpPr/>
          <p:nvPr/>
        </p:nvSpPr>
        <p:spPr>
          <a:xfrm>
            <a:off x="4983480" y="1527048"/>
            <a:ext cx="457200" cy="457200"/>
          </a:xfrm>
          <a:prstGeom prst="ellipse">
            <a:avLst/>
          </a:prstGeom>
          <a:solidFill>
            <a:srgbClr val="1C729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102352" y="1645920"/>
            <a:ext cx="219456" cy="219456"/>
          </a:xfrm>
          <a:prstGeom prst="rect">
            <a:avLst/>
          </a:prstGeom>
        </p:spPr>
      </p:pic>
      <p:sp>
        <p:nvSpPr>
          <p:cNvPr id="20" name="Text 16"/>
          <p:cNvSpPr/>
          <p:nvPr/>
        </p:nvSpPr>
        <p:spPr>
          <a:xfrm>
            <a:off x="5550408"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Data it needs</a:t>
            </a:r>
            <a:endParaRPr lang="en-US" sz="1400" dirty="0"/>
          </a:p>
        </p:txBody>
      </p:sp>
      <p:sp>
        <p:nvSpPr>
          <p:cNvPr id="21" name="Text 17"/>
          <p:cNvSpPr/>
          <p:nvPr/>
        </p:nvSpPr>
        <p:spPr>
          <a:xfrm>
            <a:off x="5020056"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Clinical concentration-time data (often sparse)</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Dosing &amp; sampling records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Covariates: weight, age, organ function, disease</a:t>
            </a:r>
            <a:endParaRPr lang="en-US" sz="1100" dirty="0"/>
          </a:p>
        </p:txBody>
      </p:sp>
      <p:sp>
        <p:nvSpPr>
          <p:cNvPr id="22" name="Shape 18"/>
          <p:cNvSpPr/>
          <p:nvPr/>
        </p:nvSpPr>
        <p:spPr>
          <a:xfrm>
            <a:off x="8349844"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19"/>
          <p:cNvSpPr/>
          <p:nvPr/>
        </p:nvSpPr>
        <p:spPr>
          <a:xfrm>
            <a:off x="8349844" y="1325880"/>
            <a:ext cx="3293212" cy="64008"/>
          </a:xfrm>
          <a:prstGeom prst="rect">
            <a:avLst/>
          </a:prstGeom>
          <a:solidFill>
            <a:srgbClr val="13293D"/>
          </a:solidFill>
          <a:ln/>
        </p:spPr>
        <p:txBody>
          <a:bodyPr/>
          <a:lstStyle/>
          <a:p>
            <a:endParaRPr lang="en-US"/>
          </a:p>
        </p:txBody>
      </p:sp>
      <p:sp>
        <p:nvSpPr>
          <p:cNvPr id="24" name="Shape 20"/>
          <p:cNvSpPr/>
          <p:nvPr/>
        </p:nvSpPr>
        <p:spPr>
          <a:xfrm>
            <a:off x="8532724" y="1527048"/>
            <a:ext cx="457200" cy="457200"/>
          </a:xfrm>
          <a:prstGeom prst="ellipse">
            <a:avLst/>
          </a:prstGeom>
          <a:solidFill>
            <a:srgbClr val="13293D"/>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651596" y="1645920"/>
            <a:ext cx="219456" cy="219456"/>
          </a:xfrm>
          <a:prstGeom prst="rect">
            <a:avLst/>
          </a:prstGeom>
        </p:spPr>
      </p:pic>
      <p:sp>
        <p:nvSpPr>
          <p:cNvPr id="26" name="Text 21"/>
          <p:cNvSpPr/>
          <p:nvPr/>
        </p:nvSpPr>
        <p:spPr>
          <a:xfrm>
            <a:off x="9099652"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Questions it answers</a:t>
            </a:r>
            <a:endParaRPr lang="en-US" sz="1400" dirty="0"/>
          </a:p>
        </p:txBody>
      </p:sp>
      <p:sp>
        <p:nvSpPr>
          <p:cNvPr id="27" name="Text 22"/>
          <p:cNvSpPr/>
          <p:nvPr/>
        </p:nvSpPr>
        <p:spPr>
          <a:xfrm>
            <a:off x="8569300"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What exposure &amp; variability to expect?</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Which patient factors change exposure?</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Dose adjustment for subgroups; missed-dose</a:t>
            </a:r>
            <a:endParaRPr lang="en-US" sz="1100" dirty="0"/>
          </a:p>
        </p:txBody>
      </p:sp>
      <p:sp>
        <p:nvSpPr>
          <p:cNvPr id="28" name="Shape 23"/>
          <p:cNvSpPr/>
          <p:nvPr/>
        </p:nvSpPr>
        <p:spPr>
          <a:xfrm>
            <a:off x="4800600"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4"/>
          <p:cNvSpPr/>
          <p:nvPr/>
        </p:nvSpPr>
        <p:spPr>
          <a:xfrm>
            <a:off x="4800600" y="3931920"/>
            <a:ext cx="3293212" cy="64008"/>
          </a:xfrm>
          <a:prstGeom prst="rect">
            <a:avLst/>
          </a:prstGeom>
          <a:solidFill>
            <a:srgbClr val="2E8B72"/>
          </a:solidFill>
          <a:ln/>
        </p:spPr>
        <p:txBody>
          <a:bodyPr/>
          <a:lstStyle/>
          <a:p>
            <a:endParaRPr lang="en-US"/>
          </a:p>
        </p:txBody>
      </p:sp>
      <p:sp>
        <p:nvSpPr>
          <p:cNvPr id="30" name="Shape 25"/>
          <p:cNvSpPr/>
          <p:nvPr/>
        </p:nvSpPr>
        <p:spPr>
          <a:xfrm>
            <a:off x="4983480" y="4133088"/>
            <a:ext cx="457200" cy="457200"/>
          </a:xfrm>
          <a:prstGeom prst="ellipse">
            <a:avLst/>
          </a:prstGeom>
          <a:solidFill>
            <a:srgbClr val="2E8B72"/>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5102352" y="4251960"/>
            <a:ext cx="219456" cy="219456"/>
          </a:xfrm>
          <a:prstGeom prst="rect">
            <a:avLst/>
          </a:prstGeom>
        </p:spPr>
      </p:pic>
      <p:sp>
        <p:nvSpPr>
          <p:cNvPr id="32" name="Text 26"/>
          <p:cNvSpPr/>
          <p:nvPr/>
        </p:nvSpPr>
        <p:spPr>
          <a:xfrm>
            <a:off x="5550408"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Strengths</a:t>
            </a:r>
            <a:endParaRPr lang="en-US" sz="1400" dirty="0"/>
          </a:p>
        </p:txBody>
      </p:sp>
      <p:sp>
        <p:nvSpPr>
          <p:cNvPr id="33" name="Text 27"/>
          <p:cNvSpPr/>
          <p:nvPr/>
        </p:nvSpPr>
        <p:spPr>
          <a:xfrm>
            <a:off x="5020056"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Handles sparse, unbalanced real-world PK data</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Quantifies variability &amp; covariate effects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Regulatory-accepted; foundation for E-R</a:t>
            </a:r>
            <a:endParaRPr lang="en-US" sz="1100" dirty="0"/>
          </a:p>
        </p:txBody>
      </p:sp>
      <p:sp>
        <p:nvSpPr>
          <p:cNvPr id="34" name="Shape 28"/>
          <p:cNvSpPr/>
          <p:nvPr/>
        </p:nvSpPr>
        <p:spPr>
          <a:xfrm>
            <a:off x="8349844"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29"/>
          <p:cNvSpPr/>
          <p:nvPr/>
        </p:nvSpPr>
        <p:spPr>
          <a:xfrm>
            <a:off x="8349844" y="3931920"/>
            <a:ext cx="3293212" cy="64008"/>
          </a:xfrm>
          <a:prstGeom prst="rect">
            <a:avLst/>
          </a:prstGeom>
          <a:solidFill>
            <a:srgbClr val="C0603A"/>
          </a:solidFill>
          <a:ln/>
        </p:spPr>
        <p:txBody>
          <a:bodyPr/>
          <a:lstStyle/>
          <a:p>
            <a:endParaRPr lang="en-US"/>
          </a:p>
        </p:txBody>
      </p:sp>
      <p:sp>
        <p:nvSpPr>
          <p:cNvPr id="36" name="Shape 30"/>
          <p:cNvSpPr/>
          <p:nvPr/>
        </p:nvSpPr>
        <p:spPr>
          <a:xfrm>
            <a:off x="8532724" y="4133088"/>
            <a:ext cx="457200" cy="457200"/>
          </a:xfrm>
          <a:prstGeom prst="ellipse">
            <a:avLst/>
          </a:prstGeom>
          <a:solidFill>
            <a:srgbClr val="C0603A"/>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8651596" y="4251960"/>
            <a:ext cx="219456" cy="219456"/>
          </a:xfrm>
          <a:prstGeom prst="rect">
            <a:avLst/>
          </a:prstGeom>
        </p:spPr>
      </p:pic>
      <p:sp>
        <p:nvSpPr>
          <p:cNvPr id="38" name="Text 31"/>
          <p:cNvSpPr/>
          <p:nvPr/>
        </p:nvSpPr>
        <p:spPr>
          <a:xfrm>
            <a:off x="9099652"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Limitations</a:t>
            </a:r>
            <a:endParaRPr lang="en-US" sz="1400" dirty="0"/>
          </a:p>
        </p:txBody>
      </p:sp>
      <p:sp>
        <p:nvSpPr>
          <p:cNvPr id="39" name="Text 32"/>
          <p:cNvSpPr/>
          <p:nvPr/>
        </p:nvSpPr>
        <p:spPr>
          <a:xfrm>
            <a:off x="8569300"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Empirical — limited extrapolation power</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Needs clinical data (hungry for rare subgroups)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Cannot predict first-in-human de novo</a:t>
            </a:r>
            <a:endParaRPr lang="en-US" sz="1100" dirty="0"/>
          </a:p>
        </p:txBody>
      </p:sp>
      <p:sp>
        <p:nvSpPr>
          <p:cNvPr id="40" name="Text 3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41" name="Text 3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2E8B72"/>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2E8B72"/>
                </a:solidFill>
                <a:latin typeface="Calibri" pitchFamily="34" charset="0"/>
                <a:ea typeface="Calibri" pitchFamily="34" charset="-122"/>
                <a:cs typeface="Calibri" pitchFamily="34" charset="-120"/>
              </a:rPr>
              <a:t>APPROACH 2 OF 5</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Exposure-Response &amp; PK/PD</a:t>
            </a:r>
            <a:endParaRPr lang="en-US" sz="2600" dirty="0"/>
          </a:p>
        </p:txBody>
      </p:sp>
      <p:sp>
        <p:nvSpPr>
          <p:cNvPr id="5" name="Shape 3"/>
          <p:cNvSpPr/>
          <p:nvPr/>
        </p:nvSpPr>
        <p:spPr>
          <a:xfrm>
            <a:off x="548640" y="1325880"/>
            <a:ext cx="3977640" cy="4892040"/>
          </a:xfrm>
          <a:prstGeom prst="roundRect">
            <a:avLst>
              <a:gd name="adj" fmla="val 1839"/>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822960" y="1618488"/>
            <a:ext cx="868680" cy="868680"/>
          </a:xfrm>
          <a:prstGeom prst="ellipse">
            <a:avLst/>
          </a:prstGeom>
          <a:solidFill>
            <a:srgbClr val="2E8B72"/>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48817" y="1844345"/>
            <a:ext cx="416966" cy="416966"/>
          </a:xfrm>
          <a:prstGeom prst="rect">
            <a:avLst/>
          </a:prstGeom>
        </p:spPr>
      </p:pic>
      <p:sp>
        <p:nvSpPr>
          <p:cNvPr id="8" name="Text 5"/>
          <p:cNvSpPr/>
          <p:nvPr/>
        </p:nvSpPr>
        <p:spPr>
          <a:xfrm>
            <a:off x="1828800" y="1673352"/>
            <a:ext cx="2514600" cy="77724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Exposure-Response</a:t>
            </a:r>
            <a:endParaRPr lang="en-US" sz="1900" dirty="0"/>
          </a:p>
          <a:p>
            <a:pPr marL="0" indent="0">
              <a:buNone/>
            </a:pPr>
            <a:r>
              <a:rPr lang="en-US" sz="1900" b="1" dirty="0">
                <a:solidFill>
                  <a:srgbClr val="FFFFFF"/>
                </a:solidFill>
                <a:latin typeface="Georgia" pitchFamily="34" charset="0"/>
                <a:ea typeface="Georgia" pitchFamily="34" charset="-122"/>
                <a:cs typeface="Georgia" pitchFamily="34" charset="-120"/>
              </a:rPr>
              <a:t>&amp; PK/PD</a:t>
            </a:r>
            <a:endParaRPr lang="en-US" sz="1900" dirty="0"/>
          </a:p>
        </p:txBody>
      </p:sp>
      <p:sp>
        <p:nvSpPr>
          <p:cNvPr id="9" name="Text 6"/>
          <p:cNvSpPr/>
          <p:nvPr/>
        </p:nvSpPr>
        <p:spPr>
          <a:xfrm>
            <a:off x="841248" y="265176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WHAT IT IS</a:t>
            </a:r>
            <a:endParaRPr lang="en-US" sz="1100" dirty="0"/>
          </a:p>
        </p:txBody>
      </p:sp>
      <p:sp>
        <p:nvSpPr>
          <p:cNvPr id="10" name="Text 7"/>
          <p:cNvSpPr/>
          <p:nvPr/>
        </p:nvSpPr>
        <p:spPr>
          <a:xfrm>
            <a:off x="841248" y="2953512"/>
            <a:ext cx="3410712" cy="1965960"/>
          </a:xfrm>
          <a:prstGeom prst="rect">
            <a:avLst/>
          </a:prstGeom>
          <a:noFill/>
          <a:ln/>
        </p:spPr>
        <p:txBody>
          <a:bodyPr wrap="square" lIns="0" tIns="0" rIns="0" bIns="0" rtlCol="0" anchor="ctr"/>
          <a:lstStyle/>
          <a:p>
            <a:pPr marL="0" indent="0">
              <a:lnSpc>
                <a:spcPct val="112000"/>
              </a:lnSpc>
              <a:buNone/>
            </a:pPr>
            <a:r>
              <a:rPr lang="en-US" sz="1250" dirty="0">
                <a:solidFill>
                  <a:srgbClr val="E6EEF2"/>
                </a:solidFill>
                <a:latin typeface="Calibri" pitchFamily="34" charset="0"/>
                <a:ea typeface="Calibri" pitchFamily="34" charset="-122"/>
                <a:cs typeface="Calibri" pitchFamily="34" charset="-120"/>
              </a:rPr>
              <a:t>Models that link drug exposure (or a PK-driven target) to efficacy and safety outcomes — from empirical E-R (e.g. Emax, logistic) to semi-mechanistic PK/PD such as indirect-response, TMDD, and tumor-growth-inhibition models.</a:t>
            </a:r>
            <a:endParaRPr lang="en-US" sz="1250" dirty="0"/>
          </a:p>
        </p:txBody>
      </p:sp>
      <p:sp>
        <p:nvSpPr>
          <p:cNvPr id="11" name="Text 8"/>
          <p:cNvSpPr/>
          <p:nvPr/>
        </p:nvSpPr>
        <p:spPr>
          <a:xfrm>
            <a:off x="841248" y="502920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TYPICAL STAGE</a:t>
            </a:r>
            <a:endParaRPr lang="en-US" sz="1100" dirty="0"/>
          </a:p>
        </p:txBody>
      </p:sp>
      <p:sp>
        <p:nvSpPr>
          <p:cNvPr id="12" name="Shape 9"/>
          <p:cNvSpPr/>
          <p:nvPr/>
        </p:nvSpPr>
        <p:spPr>
          <a:xfrm>
            <a:off x="841248" y="5349240"/>
            <a:ext cx="1691640" cy="457200"/>
          </a:xfrm>
          <a:prstGeom prst="roundRect">
            <a:avLst>
              <a:gd name="adj" fmla="val 50000"/>
            </a:avLst>
          </a:prstGeom>
          <a:solidFill>
            <a:srgbClr val="2E8B72"/>
          </a:solidFill>
          <a:ln/>
        </p:spPr>
        <p:txBody>
          <a:bodyPr/>
          <a:lstStyle/>
          <a:p>
            <a:endParaRPr lang="en-US"/>
          </a:p>
        </p:txBody>
      </p:sp>
      <p:sp>
        <p:nvSpPr>
          <p:cNvPr id="13" name="Text 10"/>
          <p:cNvSpPr/>
          <p:nvPr/>
        </p:nvSpPr>
        <p:spPr>
          <a:xfrm>
            <a:off x="84124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Preclinical</a:t>
            </a:r>
            <a:endParaRPr lang="en-US" sz="1200" dirty="0"/>
          </a:p>
        </p:txBody>
      </p:sp>
      <p:sp>
        <p:nvSpPr>
          <p:cNvPr id="14" name="Shape 11"/>
          <p:cNvSpPr/>
          <p:nvPr/>
        </p:nvSpPr>
        <p:spPr>
          <a:xfrm>
            <a:off x="2715768" y="5349240"/>
            <a:ext cx="1691640" cy="457200"/>
          </a:xfrm>
          <a:prstGeom prst="roundRect">
            <a:avLst>
              <a:gd name="adj" fmla="val 50000"/>
            </a:avLst>
          </a:prstGeom>
          <a:solidFill>
            <a:srgbClr val="2E8B72"/>
          </a:solidFill>
          <a:ln/>
        </p:spPr>
        <p:txBody>
          <a:bodyPr/>
          <a:lstStyle/>
          <a:p>
            <a:endParaRPr lang="en-US"/>
          </a:p>
        </p:txBody>
      </p:sp>
      <p:sp>
        <p:nvSpPr>
          <p:cNvPr id="15" name="Text 12"/>
          <p:cNvSpPr/>
          <p:nvPr/>
        </p:nvSpPr>
        <p:spPr>
          <a:xfrm>
            <a:off x="271576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Clinical</a:t>
            </a:r>
            <a:endParaRPr lang="en-US" sz="1200" dirty="0"/>
          </a:p>
        </p:txBody>
      </p:sp>
      <p:sp>
        <p:nvSpPr>
          <p:cNvPr id="16" name="Shape 13"/>
          <p:cNvSpPr/>
          <p:nvPr/>
        </p:nvSpPr>
        <p:spPr>
          <a:xfrm>
            <a:off x="4800600"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Shape 14"/>
          <p:cNvSpPr/>
          <p:nvPr/>
        </p:nvSpPr>
        <p:spPr>
          <a:xfrm>
            <a:off x="4800600" y="1325880"/>
            <a:ext cx="3293212" cy="64008"/>
          </a:xfrm>
          <a:prstGeom prst="rect">
            <a:avLst/>
          </a:prstGeom>
          <a:solidFill>
            <a:srgbClr val="1C7293"/>
          </a:solidFill>
          <a:ln/>
        </p:spPr>
        <p:txBody>
          <a:bodyPr/>
          <a:lstStyle/>
          <a:p>
            <a:endParaRPr lang="en-US"/>
          </a:p>
        </p:txBody>
      </p:sp>
      <p:sp>
        <p:nvSpPr>
          <p:cNvPr id="18" name="Shape 15"/>
          <p:cNvSpPr/>
          <p:nvPr/>
        </p:nvSpPr>
        <p:spPr>
          <a:xfrm>
            <a:off x="4983480" y="1527048"/>
            <a:ext cx="457200" cy="457200"/>
          </a:xfrm>
          <a:prstGeom prst="ellipse">
            <a:avLst/>
          </a:prstGeom>
          <a:solidFill>
            <a:srgbClr val="1C729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102352" y="1645920"/>
            <a:ext cx="219456" cy="219456"/>
          </a:xfrm>
          <a:prstGeom prst="rect">
            <a:avLst/>
          </a:prstGeom>
        </p:spPr>
      </p:pic>
      <p:sp>
        <p:nvSpPr>
          <p:cNvPr id="20" name="Text 16"/>
          <p:cNvSpPr/>
          <p:nvPr/>
        </p:nvSpPr>
        <p:spPr>
          <a:xfrm>
            <a:off x="5550408"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Data it needs</a:t>
            </a:r>
            <a:endParaRPr lang="en-US" sz="1400" dirty="0"/>
          </a:p>
        </p:txBody>
      </p:sp>
      <p:sp>
        <p:nvSpPr>
          <p:cNvPr id="21" name="Text 17"/>
          <p:cNvSpPr/>
          <p:nvPr/>
        </p:nvSpPr>
        <p:spPr>
          <a:xfrm>
            <a:off x="5020056"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Exposure metrics + response / biomarker / AE data</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Longitudinal outcomes; dose-ranging studies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Preclinical PK/PD for translation</a:t>
            </a:r>
            <a:endParaRPr lang="en-US" sz="1100" dirty="0"/>
          </a:p>
        </p:txBody>
      </p:sp>
      <p:sp>
        <p:nvSpPr>
          <p:cNvPr id="22" name="Shape 18"/>
          <p:cNvSpPr/>
          <p:nvPr/>
        </p:nvSpPr>
        <p:spPr>
          <a:xfrm>
            <a:off x="8349844"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19"/>
          <p:cNvSpPr/>
          <p:nvPr/>
        </p:nvSpPr>
        <p:spPr>
          <a:xfrm>
            <a:off x="8349844" y="1325880"/>
            <a:ext cx="3293212" cy="64008"/>
          </a:xfrm>
          <a:prstGeom prst="rect">
            <a:avLst/>
          </a:prstGeom>
          <a:solidFill>
            <a:srgbClr val="13293D"/>
          </a:solidFill>
          <a:ln/>
        </p:spPr>
        <p:txBody>
          <a:bodyPr/>
          <a:lstStyle/>
          <a:p>
            <a:endParaRPr lang="en-US"/>
          </a:p>
        </p:txBody>
      </p:sp>
      <p:sp>
        <p:nvSpPr>
          <p:cNvPr id="24" name="Shape 20"/>
          <p:cNvSpPr/>
          <p:nvPr/>
        </p:nvSpPr>
        <p:spPr>
          <a:xfrm>
            <a:off x="8532724" y="1527048"/>
            <a:ext cx="457200" cy="457200"/>
          </a:xfrm>
          <a:prstGeom prst="ellipse">
            <a:avLst/>
          </a:prstGeom>
          <a:solidFill>
            <a:srgbClr val="13293D"/>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651596" y="1645920"/>
            <a:ext cx="219456" cy="219456"/>
          </a:xfrm>
          <a:prstGeom prst="rect">
            <a:avLst/>
          </a:prstGeom>
        </p:spPr>
      </p:pic>
      <p:sp>
        <p:nvSpPr>
          <p:cNvPr id="26" name="Text 21"/>
          <p:cNvSpPr/>
          <p:nvPr/>
        </p:nvSpPr>
        <p:spPr>
          <a:xfrm>
            <a:off x="9099652"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Questions it answers</a:t>
            </a:r>
            <a:endParaRPr lang="en-US" sz="1400" dirty="0"/>
          </a:p>
        </p:txBody>
      </p:sp>
      <p:sp>
        <p:nvSpPr>
          <p:cNvPr id="27" name="Text 22"/>
          <p:cNvSpPr/>
          <p:nvPr/>
        </p:nvSpPr>
        <p:spPr>
          <a:xfrm>
            <a:off x="8569300"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Is the dose right? Where is the therapeutic window?</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Efficacy vs. safety trade-off; benefit-risk</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Dose optimization</a:t>
            </a:r>
            <a:endParaRPr lang="en-US" sz="1100" dirty="0"/>
          </a:p>
        </p:txBody>
      </p:sp>
      <p:sp>
        <p:nvSpPr>
          <p:cNvPr id="28" name="Shape 23"/>
          <p:cNvSpPr/>
          <p:nvPr/>
        </p:nvSpPr>
        <p:spPr>
          <a:xfrm>
            <a:off x="4800600"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4"/>
          <p:cNvSpPr/>
          <p:nvPr/>
        </p:nvSpPr>
        <p:spPr>
          <a:xfrm>
            <a:off x="4800600" y="3931920"/>
            <a:ext cx="3293212" cy="64008"/>
          </a:xfrm>
          <a:prstGeom prst="rect">
            <a:avLst/>
          </a:prstGeom>
          <a:solidFill>
            <a:srgbClr val="2E8B72"/>
          </a:solidFill>
          <a:ln/>
        </p:spPr>
        <p:txBody>
          <a:bodyPr/>
          <a:lstStyle/>
          <a:p>
            <a:endParaRPr lang="en-US"/>
          </a:p>
        </p:txBody>
      </p:sp>
      <p:sp>
        <p:nvSpPr>
          <p:cNvPr id="30" name="Shape 25"/>
          <p:cNvSpPr/>
          <p:nvPr/>
        </p:nvSpPr>
        <p:spPr>
          <a:xfrm>
            <a:off x="4983480" y="4133088"/>
            <a:ext cx="457200" cy="457200"/>
          </a:xfrm>
          <a:prstGeom prst="ellipse">
            <a:avLst/>
          </a:prstGeom>
          <a:solidFill>
            <a:srgbClr val="2E8B72"/>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5102352" y="4251960"/>
            <a:ext cx="219456" cy="219456"/>
          </a:xfrm>
          <a:prstGeom prst="rect">
            <a:avLst/>
          </a:prstGeom>
        </p:spPr>
      </p:pic>
      <p:sp>
        <p:nvSpPr>
          <p:cNvPr id="32" name="Text 26"/>
          <p:cNvSpPr/>
          <p:nvPr/>
        </p:nvSpPr>
        <p:spPr>
          <a:xfrm>
            <a:off x="5550408"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Strengths</a:t>
            </a:r>
            <a:endParaRPr lang="en-US" sz="1400" dirty="0"/>
          </a:p>
        </p:txBody>
      </p:sp>
      <p:sp>
        <p:nvSpPr>
          <p:cNvPr id="33" name="Text 27"/>
          <p:cNvSpPr/>
          <p:nvPr/>
        </p:nvSpPr>
        <p:spPr>
          <a:xfrm>
            <a:off x="5020056"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Directly informs dose selection &amp; benefit-risk</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Flexible; can integrate biomarkers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Central to regulatory dose justification</a:t>
            </a:r>
            <a:endParaRPr lang="en-US" sz="1100" dirty="0"/>
          </a:p>
        </p:txBody>
      </p:sp>
      <p:sp>
        <p:nvSpPr>
          <p:cNvPr id="34" name="Shape 28"/>
          <p:cNvSpPr/>
          <p:nvPr/>
        </p:nvSpPr>
        <p:spPr>
          <a:xfrm>
            <a:off x="8349844"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29"/>
          <p:cNvSpPr/>
          <p:nvPr/>
        </p:nvSpPr>
        <p:spPr>
          <a:xfrm>
            <a:off x="8349844" y="3931920"/>
            <a:ext cx="3293212" cy="64008"/>
          </a:xfrm>
          <a:prstGeom prst="rect">
            <a:avLst/>
          </a:prstGeom>
          <a:solidFill>
            <a:srgbClr val="C0603A"/>
          </a:solidFill>
          <a:ln/>
        </p:spPr>
        <p:txBody>
          <a:bodyPr/>
          <a:lstStyle/>
          <a:p>
            <a:endParaRPr lang="en-US"/>
          </a:p>
        </p:txBody>
      </p:sp>
      <p:sp>
        <p:nvSpPr>
          <p:cNvPr id="36" name="Shape 30"/>
          <p:cNvSpPr/>
          <p:nvPr/>
        </p:nvSpPr>
        <p:spPr>
          <a:xfrm>
            <a:off x="8532724" y="4133088"/>
            <a:ext cx="457200" cy="457200"/>
          </a:xfrm>
          <a:prstGeom prst="ellipse">
            <a:avLst/>
          </a:prstGeom>
          <a:solidFill>
            <a:srgbClr val="C0603A"/>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8651596" y="4251960"/>
            <a:ext cx="219456" cy="219456"/>
          </a:xfrm>
          <a:prstGeom prst="rect">
            <a:avLst/>
          </a:prstGeom>
        </p:spPr>
      </p:pic>
      <p:sp>
        <p:nvSpPr>
          <p:cNvPr id="38" name="Text 31"/>
          <p:cNvSpPr/>
          <p:nvPr/>
        </p:nvSpPr>
        <p:spPr>
          <a:xfrm>
            <a:off x="9099652"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Limitations</a:t>
            </a:r>
            <a:endParaRPr lang="en-US" sz="1400" dirty="0"/>
          </a:p>
        </p:txBody>
      </p:sp>
      <p:sp>
        <p:nvSpPr>
          <p:cNvPr id="39" name="Text 32"/>
          <p:cNvSpPr/>
          <p:nvPr/>
        </p:nvSpPr>
        <p:spPr>
          <a:xfrm>
            <a:off x="8569300"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Exposure is not randomized → confounding</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Needs adequate dose range &amp; variability</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Empirical forms extrapolate poorly</a:t>
            </a:r>
            <a:endParaRPr lang="en-US" sz="1100" dirty="0"/>
          </a:p>
        </p:txBody>
      </p:sp>
      <p:sp>
        <p:nvSpPr>
          <p:cNvPr id="40" name="Text 3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41" name="Text 3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5B5F97"/>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5B5F97"/>
                </a:solidFill>
                <a:latin typeface="Calibri" pitchFamily="34" charset="0"/>
                <a:ea typeface="Calibri" pitchFamily="34" charset="-122"/>
                <a:cs typeface="Calibri" pitchFamily="34" charset="-120"/>
              </a:rPr>
              <a:t>APPROACH 3 OF 5</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Physiologically-Based PK (PBPK)</a:t>
            </a:r>
            <a:endParaRPr lang="en-US" sz="2600" dirty="0"/>
          </a:p>
        </p:txBody>
      </p:sp>
      <p:sp>
        <p:nvSpPr>
          <p:cNvPr id="5" name="Shape 3"/>
          <p:cNvSpPr/>
          <p:nvPr/>
        </p:nvSpPr>
        <p:spPr>
          <a:xfrm>
            <a:off x="548640" y="1325880"/>
            <a:ext cx="3977640" cy="4892040"/>
          </a:xfrm>
          <a:prstGeom prst="roundRect">
            <a:avLst>
              <a:gd name="adj" fmla="val 1839"/>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822960" y="1618488"/>
            <a:ext cx="868680" cy="868680"/>
          </a:xfrm>
          <a:prstGeom prst="ellipse">
            <a:avLst/>
          </a:prstGeom>
          <a:solidFill>
            <a:srgbClr val="5B5F97"/>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48817" y="1844345"/>
            <a:ext cx="416966" cy="416966"/>
          </a:xfrm>
          <a:prstGeom prst="rect">
            <a:avLst/>
          </a:prstGeom>
        </p:spPr>
      </p:pic>
      <p:sp>
        <p:nvSpPr>
          <p:cNvPr id="8" name="Text 5"/>
          <p:cNvSpPr/>
          <p:nvPr/>
        </p:nvSpPr>
        <p:spPr>
          <a:xfrm>
            <a:off x="1828800" y="1673352"/>
            <a:ext cx="2514600" cy="77724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Physiologically-</a:t>
            </a:r>
            <a:endParaRPr lang="en-US" sz="1900" dirty="0"/>
          </a:p>
          <a:p>
            <a:pPr marL="0" indent="0">
              <a:buNone/>
            </a:pPr>
            <a:r>
              <a:rPr lang="en-US" sz="1900" b="1" dirty="0">
                <a:solidFill>
                  <a:srgbClr val="FFFFFF"/>
                </a:solidFill>
                <a:latin typeface="Georgia" pitchFamily="34" charset="0"/>
                <a:ea typeface="Georgia" pitchFamily="34" charset="-122"/>
                <a:cs typeface="Georgia" pitchFamily="34" charset="-120"/>
              </a:rPr>
              <a:t>Based PK</a:t>
            </a:r>
            <a:endParaRPr lang="en-US" sz="1900" dirty="0"/>
          </a:p>
        </p:txBody>
      </p:sp>
      <p:sp>
        <p:nvSpPr>
          <p:cNvPr id="9" name="Text 6"/>
          <p:cNvSpPr/>
          <p:nvPr/>
        </p:nvSpPr>
        <p:spPr>
          <a:xfrm>
            <a:off x="841248" y="265176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WHAT IT IS</a:t>
            </a:r>
            <a:endParaRPr lang="en-US" sz="1100" dirty="0"/>
          </a:p>
        </p:txBody>
      </p:sp>
      <p:sp>
        <p:nvSpPr>
          <p:cNvPr id="10" name="Text 7"/>
          <p:cNvSpPr/>
          <p:nvPr/>
        </p:nvSpPr>
        <p:spPr>
          <a:xfrm>
            <a:off x="841248" y="2953512"/>
            <a:ext cx="3410712" cy="1965960"/>
          </a:xfrm>
          <a:prstGeom prst="rect">
            <a:avLst/>
          </a:prstGeom>
          <a:noFill/>
          <a:ln/>
        </p:spPr>
        <p:txBody>
          <a:bodyPr wrap="square" lIns="0" tIns="0" rIns="0" bIns="0" rtlCol="0" anchor="ctr"/>
          <a:lstStyle/>
          <a:p>
            <a:pPr marL="0" indent="0">
              <a:lnSpc>
                <a:spcPct val="112000"/>
              </a:lnSpc>
              <a:buNone/>
            </a:pPr>
            <a:r>
              <a:rPr lang="en-US" sz="1250" dirty="0">
                <a:solidFill>
                  <a:srgbClr val="E6EEF2"/>
                </a:solidFill>
                <a:latin typeface="Calibri" pitchFamily="34" charset="0"/>
                <a:ea typeface="Calibri" pitchFamily="34" charset="-122"/>
                <a:cs typeface="Calibri" pitchFamily="34" charset="-120"/>
              </a:rPr>
              <a:t>Mechanistic models that represent the body as physiological compartments (organs) connected by blood flow, combining system data (physiology, enzymes, transporters) with drug-specific ADME properties to predict concentrations bottom-up.</a:t>
            </a:r>
            <a:endParaRPr lang="en-US" sz="1250" dirty="0"/>
          </a:p>
        </p:txBody>
      </p:sp>
      <p:sp>
        <p:nvSpPr>
          <p:cNvPr id="11" name="Text 8"/>
          <p:cNvSpPr/>
          <p:nvPr/>
        </p:nvSpPr>
        <p:spPr>
          <a:xfrm>
            <a:off x="841248" y="502920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TYPICAL STAGE</a:t>
            </a:r>
            <a:endParaRPr lang="en-US" sz="1100" dirty="0"/>
          </a:p>
        </p:txBody>
      </p:sp>
      <p:sp>
        <p:nvSpPr>
          <p:cNvPr id="12" name="Shape 9"/>
          <p:cNvSpPr/>
          <p:nvPr/>
        </p:nvSpPr>
        <p:spPr>
          <a:xfrm>
            <a:off x="841248" y="5349240"/>
            <a:ext cx="1691640" cy="457200"/>
          </a:xfrm>
          <a:prstGeom prst="roundRect">
            <a:avLst>
              <a:gd name="adj" fmla="val 50000"/>
            </a:avLst>
          </a:prstGeom>
          <a:solidFill>
            <a:srgbClr val="5B5F97"/>
          </a:solidFill>
          <a:ln/>
        </p:spPr>
        <p:txBody>
          <a:bodyPr/>
          <a:lstStyle/>
          <a:p>
            <a:endParaRPr lang="en-US"/>
          </a:p>
        </p:txBody>
      </p:sp>
      <p:sp>
        <p:nvSpPr>
          <p:cNvPr id="13" name="Text 10"/>
          <p:cNvSpPr/>
          <p:nvPr/>
        </p:nvSpPr>
        <p:spPr>
          <a:xfrm>
            <a:off x="84124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Preclinical</a:t>
            </a:r>
            <a:endParaRPr lang="en-US" sz="1200" dirty="0"/>
          </a:p>
        </p:txBody>
      </p:sp>
      <p:sp>
        <p:nvSpPr>
          <p:cNvPr id="14" name="Shape 11"/>
          <p:cNvSpPr/>
          <p:nvPr/>
        </p:nvSpPr>
        <p:spPr>
          <a:xfrm>
            <a:off x="2715768" y="5349240"/>
            <a:ext cx="1691640" cy="457200"/>
          </a:xfrm>
          <a:prstGeom prst="roundRect">
            <a:avLst>
              <a:gd name="adj" fmla="val 50000"/>
            </a:avLst>
          </a:prstGeom>
          <a:solidFill>
            <a:srgbClr val="5B5F97"/>
          </a:solidFill>
          <a:ln/>
        </p:spPr>
        <p:txBody>
          <a:bodyPr/>
          <a:lstStyle/>
          <a:p>
            <a:endParaRPr lang="en-US"/>
          </a:p>
        </p:txBody>
      </p:sp>
      <p:sp>
        <p:nvSpPr>
          <p:cNvPr id="15" name="Text 12"/>
          <p:cNvSpPr/>
          <p:nvPr/>
        </p:nvSpPr>
        <p:spPr>
          <a:xfrm>
            <a:off x="271576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Clinical</a:t>
            </a:r>
            <a:endParaRPr lang="en-US" sz="1200" dirty="0"/>
          </a:p>
        </p:txBody>
      </p:sp>
      <p:sp>
        <p:nvSpPr>
          <p:cNvPr id="16" name="Shape 13"/>
          <p:cNvSpPr/>
          <p:nvPr/>
        </p:nvSpPr>
        <p:spPr>
          <a:xfrm>
            <a:off x="4800600"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Shape 14"/>
          <p:cNvSpPr/>
          <p:nvPr/>
        </p:nvSpPr>
        <p:spPr>
          <a:xfrm>
            <a:off x="4800600" y="1325880"/>
            <a:ext cx="3293212" cy="64008"/>
          </a:xfrm>
          <a:prstGeom prst="rect">
            <a:avLst/>
          </a:prstGeom>
          <a:solidFill>
            <a:srgbClr val="1C7293"/>
          </a:solidFill>
          <a:ln/>
        </p:spPr>
        <p:txBody>
          <a:bodyPr/>
          <a:lstStyle/>
          <a:p>
            <a:endParaRPr lang="en-US"/>
          </a:p>
        </p:txBody>
      </p:sp>
      <p:sp>
        <p:nvSpPr>
          <p:cNvPr id="18" name="Shape 15"/>
          <p:cNvSpPr/>
          <p:nvPr/>
        </p:nvSpPr>
        <p:spPr>
          <a:xfrm>
            <a:off x="4983480" y="1527048"/>
            <a:ext cx="457200" cy="457200"/>
          </a:xfrm>
          <a:prstGeom prst="ellipse">
            <a:avLst/>
          </a:prstGeom>
          <a:solidFill>
            <a:srgbClr val="1C729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102352" y="1645920"/>
            <a:ext cx="219456" cy="219456"/>
          </a:xfrm>
          <a:prstGeom prst="rect">
            <a:avLst/>
          </a:prstGeom>
        </p:spPr>
      </p:pic>
      <p:sp>
        <p:nvSpPr>
          <p:cNvPr id="20" name="Text 16"/>
          <p:cNvSpPr/>
          <p:nvPr/>
        </p:nvSpPr>
        <p:spPr>
          <a:xfrm>
            <a:off x="5550408"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Data it needs</a:t>
            </a:r>
            <a:endParaRPr lang="en-US" sz="1400" dirty="0"/>
          </a:p>
        </p:txBody>
      </p:sp>
      <p:sp>
        <p:nvSpPr>
          <p:cNvPr id="21" name="Text 17"/>
          <p:cNvSpPr/>
          <p:nvPr/>
        </p:nvSpPr>
        <p:spPr>
          <a:xfrm>
            <a:off x="5020056"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System data: physiology, enzyme/transporter levels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Drug data: physchem, permeability, metabolism, binding</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In vitro / in silico inputs (IVIVE); clinical to verify</a:t>
            </a:r>
            <a:endParaRPr lang="en-US" sz="1100" dirty="0"/>
          </a:p>
        </p:txBody>
      </p:sp>
      <p:sp>
        <p:nvSpPr>
          <p:cNvPr id="22" name="Shape 18"/>
          <p:cNvSpPr/>
          <p:nvPr/>
        </p:nvSpPr>
        <p:spPr>
          <a:xfrm>
            <a:off x="8349844"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19"/>
          <p:cNvSpPr/>
          <p:nvPr/>
        </p:nvSpPr>
        <p:spPr>
          <a:xfrm>
            <a:off x="8349844" y="1325880"/>
            <a:ext cx="3293212" cy="64008"/>
          </a:xfrm>
          <a:prstGeom prst="rect">
            <a:avLst/>
          </a:prstGeom>
          <a:solidFill>
            <a:srgbClr val="13293D"/>
          </a:solidFill>
          <a:ln/>
        </p:spPr>
        <p:txBody>
          <a:bodyPr/>
          <a:lstStyle/>
          <a:p>
            <a:endParaRPr lang="en-US"/>
          </a:p>
        </p:txBody>
      </p:sp>
      <p:sp>
        <p:nvSpPr>
          <p:cNvPr id="24" name="Shape 20"/>
          <p:cNvSpPr/>
          <p:nvPr/>
        </p:nvSpPr>
        <p:spPr>
          <a:xfrm>
            <a:off x="8532724" y="1527048"/>
            <a:ext cx="457200" cy="457200"/>
          </a:xfrm>
          <a:prstGeom prst="ellipse">
            <a:avLst/>
          </a:prstGeom>
          <a:solidFill>
            <a:srgbClr val="13293D"/>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651596" y="1645920"/>
            <a:ext cx="219456" cy="219456"/>
          </a:xfrm>
          <a:prstGeom prst="rect">
            <a:avLst/>
          </a:prstGeom>
        </p:spPr>
      </p:pic>
      <p:sp>
        <p:nvSpPr>
          <p:cNvPr id="26" name="Text 21"/>
          <p:cNvSpPr/>
          <p:nvPr/>
        </p:nvSpPr>
        <p:spPr>
          <a:xfrm>
            <a:off x="9099652"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Questions it answers</a:t>
            </a:r>
            <a:endParaRPr lang="en-US" sz="1400" dirty="0"/>
          </a:p>
        </p:txBody>
      </p:sp>
      <p:sp>
        <p:nvSpPr>
          <p:cNvPr id="27" name="Text 22"/>
          <p:cNvSpPr/>
          <p:nvPr/>
        </p:nvSpPr>
        <p:spPr>
          <a:xfrm>
            <a:off x="8569300"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First-in-human dose prediction</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Drug-drug interactions; organ impairment</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Pediatrics, pregnancy, food effect, tissue exposure</a:t>
            </a:r>
            <a:endParaRPr lang="en-US" sz="1100" dirty="0"/>
          </a:p>
        </p:txBody>
      </p:sp>
      <p:sp>
        <p:nvSpPr>
          <p:cNvPr id="28" name="Shape 23"/>
          <p:cNvSpPr/>
          <p:nvPr/>
        </p:nvSpPr>
        <p:spPr>
          <a:xfrm>
            <a:off x="4800600"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4"/>
          <p:cNvSpPr/>
          <p:nvPr/>
        </p:nvSpPr>
        <p:spPr>
          <a:xfrm>
            <a:off x="4800600" y="3931920"/>
            <a:ext cx="3293212" cy="64008"/>
          </a:xfrm>
          <a:prstGeom prst="rect">
            <a:avLst/>
          </a:prstGeom>
          <a:solidFill>
            <a:srgbClr val="2E8B72"/>
          </a:solidFill>
          <a:ln/>
        </p:spPr>
        <p:txBody>
          <a:bodyPr/>
          <a:lstStyle/>
          <a:p>
            <a:endParaRPr lang="en-US"/>
          </a:p>
        </p:txBody>
      </p:sp>
      <p:sp>
        <p:nvSpPr>
          <p:cNvPr id="30" name="Shape 25"/>
          <p:cNvSpPr/>
          <p:nvPr/>
        </p:nvSpPr>
        <p:spPr>
          <a:xfrm>
            <a:off x="4983480" y="4133088"/>
            <a:ext cx="457200" cy="457200"/>
          </a:xfrm>
          <a:prstGeom prst="ellipse">
            <a:avLst/>
          </a:prstGeom>
          <a:solidFill>
            <a:srgbClr val="2E8B72"/>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5102352" y="4251960"/>
            <a:ext cx="219456" cy="219456"/>
          </a:xfrm>
          <a:prstGeom prst="rect">
            <a:avLst/>
          </a:prstGeom>
        </p:spPr>
      </p:pic>
      <p:sp>
        <p:nvSpPr>
          <p:cNvPr id="32" name="Text 26"/>
          <p:cNvSpPr/>
          <p:nvPr/>
        </p:nvSpPr>
        <p:spPr>
          <a:xfrm>
            <a:off x="5550408"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Strengths</a:t>
            </a:r>
            <a:endParaRPr lang="en-US" sz="1400" dirty="0"/>
          </a:p>
        </p:txBody>
      </p:sp>
      <p:sp>
        <p:nvSpPr>
          <p:cNvPr id="33" name="Text 27"/>
          <p:cNvSpPr/>
          <p:nvPr/>
        </p:nvSpPr>
        <p:spPr>
          <a:xfrm>
            <a:off x="5020056"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Extrapolates to untested scenarios &amp; populations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Leverages in vitro data before clinical data exists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Can replace some clinical studies (e.g. DDI)</a:t>
            </a:r>
            <a:endParaRPr lang="en-US" sz="1100" dirty="0"/>
          </a:p>
        </p:txBody>
      </p:sp>
      <p:sp>
        <p:nvSpPr>
          <p:cNvPr id="34" name="Shape 28"/>
          <p:cNvSpPr/>
          <p:nvPr/>
        </p:nvSpPr>
        <p:spPr>
          <a:xfrm>
            <a:off x="8349844"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29"/>
          <p:cNvSpPr/>
          <p:nvPr/>
        </p:nvSpPr>
        <p:spPr>
          <a:xfrm>
            <a:off x="8349844" y="3931920"/>
            <a:ext cx="3293212" cy="64008"/>
          </a:xfrm>
          <a:prstGeom prst="rect">
            <a:avLst/>
          </a:prstGeom>
          <a:solidFill>
            <a:srgbClr val="C0603A"/>
          </a:solidFill>
          <a:ln/>
        </p:spPr>
        <p:txBody>
          <a:bodyPr/>
          <a:lstStyle/>
          <a:p>
            <a:endParaRPr lang="en-US"/>
          </a:p>
        </p:txBody>
      </p:sp>
      <p:sp>
        <p:nvSpPr>
          <p:cNvPr id="36" name="Shape 30"/>
          <p:cNvSpPr/>
          <p:nvPr/>
        </p:nvSpPr>
        <p:spPr>
          <a:xfrm>
            <a:off x="8532724" y="4133088"/>
            <a:ext cx="457200" cy="457200"/>
          </a:xfrm>
          <a:prstGeom prst="ellipse">
            <a:avLst/>
          </a:prstGeom>
          <a:solidFill>
            <a:srgbClr val="C0603A"/>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8651596" y="4251960"/>
            <a:ext cx="219456" cy="219456"/>
          </a:xfrm>
          <a:prstGeom prst="rect">
            <a:avLst/>
          </a:prstGeom>
        </p:spPr>
      </p:pic>
      <p:sp>
        <p:nvSpPr>
          <p:cNvPr id="38" name="Text 31"/>
          <p:cNvSpPr/>
          <p:nvPr/>
        </p:nvSpPr>
        <p:spPr>
          <a:xfrm>
            <a:off x="9099652"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Limitations</a:t>
            </a:r>
            <a:endParaRPr lang="en-US" sz="1400" dirty="0"/>
          </a:p>
        </p:txBody>
      </p:sp>
      <p:sp>
        <p:nvSpPr>
          <p:cNvPr id="39" name="Text 32"/>
          <p:cNvSpPr/>
          <p:nvPr/>
        </p:nvSpPr>
        <p:spPr>
          <a:xfrm>
            <a:off x="8569300"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Parameter- &amp; knowledge-intensive</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Uncertainty in system/drug inputs; needs verification</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Weaker at unexplained population variability</a:t>
            </a:r>
            <a:endParaRPr lang="en-US" sz="1100" dirty="0"/>
          </a:p>
        </p:txBody>
      </p:sp>
      <p:sp>
        <p:nvSpPr>
          <p:cNvPr id="40" name="Text 3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41" name="Text 3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D98C3E"/>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D98C3E"/>
                </a:solidFill>
                <a:latin typeface="Calibri" pitchFamily="34" charset="0"/>
                <a:ea typeface="Calibri" pitchFamily="34" charset="-122"/>
                <a:cs typeface="Calibri" pitchFamily="34" charset="-120"/>
              </a:rPr>
              <a:t>APPROACH 4 OF 5</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Quantitative Systems Pharmacology (QSP)</a:t>
            </a:r>
            <a:endParaRPr lang="en-US" sz="2600" dirty="0"/>
          </a:p>
        </p:txBody>
      </p:sp>
      <p:sp>
        <p:nvSpPr>
          <p:cNvPr id="5" name="Shape 3"/>
          <p:cNvSpPr/>
          <p:nvPr/>
        </p:nvSpPr>
        <p:spPr>
          <a:xfrm>
            <a:off x="548640" y="1325880"/>
            <a:ext cx="3977640" cy="4892040"/>
          </a:xfrm>
          <a:prstGeom prst="roundRect">
            <a:avLst>
              <a:gd name="adj" fmla="val 1839"/>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822960" y="1618488"/>
            <a:ext cx="868680" cy="868680"/>
          </a:xfrm>
          <a:prstGeom prst="ellipse">
            <a:avLst/>
          </a:prstGeom>
          <a:solidFill>
            <a:srgbClr val="D98C3E"/>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48817" y="1844345"/>
            <a:ext cx="416966" cy="416966"/>
          </a:xfrm>
          <a:prstGeom prst="rect">
            <a:avLst/>
          </a:prstGeom>
        </p:spPr>
      </p:pic>
      <p:sp>
        <p:nvSpPr>
          <p:cNvPr id="8" name="Text 5"/>
          <p:cNvSpPr/>
          <p:nvPr/>
        </p:nvSpPr>
        <p:spPr>
          <a:xfrm>
            <a:off x="1828800" y="1673352"/>
            <a:ext cx="2514600" cy="77724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Quantitative Systems</a:t>
            </a:r>
            <a:endParaRPr lang="en-US" sz="1900" dirty="0"/>
          </a:p>
          <a:p>
            <a:pPr marL="0" indent="0">
              <a:buNone/>
            </a:pPr>
            <a:r>
              <a:rPr lang="en-US" sz="1900" b="1" dirty="0">
                <a:solidFill>
                  <a:srgbClr val="FFFFFF"/>
                </a:solidFill>
                <a:latin typeface="Georgia" pitchFamily="34" charset="0"/>
                <a:ea typeface="Georgia" pitchFamily="34" charset="-122"/>
                <a:cs typeface="Georgia" pitchFamily="34" charset="-120"/>
              </a:rPr>
              <a:t>Pharmacology</a:t>
            </a:r>
            <a:endParaRPr lang="en-US" sz="1900" dirty="0"/>
          </a:p>
        </p:txBody>
      </p:sp>
      <p:sp>
        <p:nvSpPr>
          <p:cNvPr id="9" name="Text 6"/>
          <p:cNvSpPr/>
          <p:nvPr/>
        </p:nvSpPr>
        <p:spPr>
          <a:xfrm>
            <a:off x="841248" y="265176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WHAT IT IS</a:t>
            </a:r>
            <a:endParaRPr lang="en-US" sz="1100" dirty="0"/>
          </a:p>
        </p:txBody>
      </p:sp>
      <p:sp>
        <p:nvSpPr>
          <p:cNvPr id="10" name="Text 7"/>
          <p:cNvSpPr/>
          <p:nvPr/>
        </p:nvSpPr>
        <p:spPr>
          <a:xfrm>
            <a:off x="841248" y="2953512"/>
            <a:ext cx="3410712" cy="1965960"/>
          </a:xfrm>
          <a:prstGeom prst="rect">
            <a:avLst/>
          </a:prstGeom>
          <a:noFill/>
          <a:ln/>
        </p:spPr>
        <p:txBody>
          <a:bodyPr wrap="square" lIns="0" tIns="0" rIns="0" bIns="0" rtlCol="0" anchor="ctr"/>
          <a:lstStyle/>
          <a:p>
            <a:pPr marL="0" indent="0">
              <a:lnSpc>
                <a:spcPct val="112000"/>
              </a:lnSpc>
              <a:buNone/>
            </a:pPr>
            <a:r>
              <a:rPr lang="en-US" sz="1250" dirty="0">
                <a:solidFill>
                  <a:srgbClr val="E6EEF2"/>
                </a:solidFill>
                <a:latin typeface="Calibri" pitchFamily="34" charset="0"/>
                <a:ea typeface="Calibri" pitchFamily="34" charset="-122"/>
                <a:cs typeface="Calibri" pitchFamily="34" charset="-120"/>
              </a:rPr>
              <a:t>Mechanistic models of biological pathways and disease networks coupled to the drug's mechanism of action — integrating pharmacology, physiology, and disease biology to explore how a drug produces (or fails to produce) an effect.</a:t>
            </a:r>
            <a:endParaRPr lang="en-US" sz="1250" dirty="0"/>
          </a:p>
        </p:txBody>
      </p:sp>
      <p:sp>
        <p:nvSpPr>
          <p:cNvPr id="11" name="Text 8"/>
          <p:cNvSpPr/>
          <p:nvPr/>
        </p:nvSpPr>
        <p:spPr>
          <a:xfrm>
            <a:off x="841248" y="502920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TYPICAL STAGE</a:t>
            </a:r>
            <a:endParaRPr lang="en-US" sz="1100" dirty="0"/>
          </a:p>
        </p:txBody>
      </p:sp>
      <p:sp>
        <p:nvSpPr>
          <p:cNvPr id="12" name="Shape 9"/>
          <p:cNvSpPr/>
          <p:nvPr/>
        </p:nvSpPr>
        <p:spPr>
          <a:xfrm>
            <a:off x="841248" y="5349240"/>
            <a:ext cx="1691640" cy="457200"/>
          </a:xfrm>
          <a:prstGeom prst="roundRect">
            <a:avLst>
              <a:gd name="adj" fmla="val 50000"/>
            </a:avLst>
          </a:prstGeom>
          <a:solidFill>
            <a:srgbClr val="D98C3E"/>
          </a:solidFill>
          <a:ln/>
        </p:spPr>
        <p:txBody>
          <a:bodyPr/>
          <a:lstStyle/>
          <a:p>
            <a:endParaRPr lang="en-US"/>
          </a:p>
        </p:txBody>
      </p:sp>
      <p:sp>
        <p:nvSpPr>
          <p:cNvPr id="13" name="Text 10"/>
          <p:cNvSpPr/>
          <p:nvPr/>
        </p:nvSpPr>
        <p:spPr>
          <a:xfrm>
            <a:off x="84124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Preclinical</a:t>
            </a:r>
            <a:endParaRPr lang="en-US" sz="1200" dirty="0"/>
          </a:p>
        </p:txBody>
      </p:sp>
      <p:sp>
        <p:nvSpPr>
          <p:cNvPr id="14" name="Shape 11"/>
          <p:cNvSpPr/>
          <p:nvPr/>
        </p:nvSpPr>
        <p:spPr>
          <a:xfrm>
            <a:off x="2715768" y="5349240"/>
            <a:ext cx="1691640" cy="457200"/>
          </a:xfrm>
          <a:prstGeom prst="roundRect">
            <a:avLst>
              <a:gd name="adj" fmla="val 50000"/>
            </a:avLst>
          </a:prstGeom>
          <a:solidFill>
            <a:srgbClr val="D98C3E"/>
          </a:solidFill>
          <a:ln/>
        </p:spPr>
        <p:txBody>
          <a:bodyPr/>
          <a:lstStyle/>
          <a:p>
            <a:endParaRPr lang="en-US"/>
          </a:p>
        </p:txBody>
      </p:sp>
      <p:sp>
        <p:nvSpPr>
          <p:cNvPr id="15" name="Text 12"/>
          <p:cNvSpPr/>
          <p:nvPr/>
        </p:nvSpPr>
        <p:spPr>
          <a:xfrm>
            <a:off x="271576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Clinical</a:t>
            </a:r>
            <a:endParaRPr lang="en-US" sz="1200" dirty="0"/>
          </a:p>
        </p:txBody>
      </p:sp>
      <p:sp>
        <p:nvSpPr>
          <p:cNvPr id="16" name="Shape 13"/>
          <p:cNvSpPr/>
          <p:nvPr/>
        </p:nvSpPr>
        <p:spPr>
          <a:xfrm>
            <a:off x="4800600"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Shape 14"/>
          <p:cNvSpPr/>
          <p:nvPr/>
        </p:nvSpPr>
        <p:spPr>
          <a:xfrm>
            <a:off x="4800600" y="1325880"/>
            <a:ext cx="3293212" cy="64008"/>
          </a:xfrm>
          <a:prstGeom prst="rect">
            <a:avLst/>
          </a:prstGeom>
          <a:solidFill>
            <a:srgbClr val="1C7293"/>
          </a:solidFill>
          <a:ln/>
        </p:spPr>
        <p:txBody>
          <a:bodyPr/>
          <a:lstStyle/>
          <a:p>
            <a:endParaRPr lang="en-US"/>
          </a:p>
        </p:txBody>
      </p:sp>
      <p:sp>
        <p:nvSpPr>
          <p:cNvPr id="18" name="Shape 15"/>
          <p:cNvSpPr/>
          <p:nvPr/>
        </p:nvSpPr>
        <p:spPr>
          <a:xfrm>
            <a:off x="4983480" y="1527048"/>
            <a:ext cx="457200" cy="457200"/>
          </a:xfrm>
          <a:prstGeom prst="ellipse">
            <a:avLst/>
          </a:prstGeom>
          <a:solidFill>
            <a:srgbClr val="1C729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102352" y="1645920"/>
            <a:ext cx="219456" cy="219456"/>
          </a:xfrm>
          <a:prstGeom prst="rect">
            <a:avLst/>
          </a:prstGeom>
        </p:spPr>
      </p:pic>
      <p:sp>
        <p:nvSpPr>
          <p:cNvPr id="20" name="Text 16"/>
          <p:cNvSpPr/>
          <p:nvPr/>
        </p:nvSpPr>
        <p:spPr>
          <a:xfrm>
            <a:off x="5550408"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Data it needs</a:t>
            </a:r>
            <a:endParaRPr lang="en-US" sz="1400" dirty="0"/>
          </a:p>
        </p:txBody>
      </p:sp>
      <p:sp>
        <p:nvSpPr>
          <p:cNvPr id="21" name="Text 17"/>
          <p:cNvSpPr/>
          <p:nvPr/>
        </p:nvSpPr>
        <p:spPr>
          <a:xfrm>
            <a:off x="5020056"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Multi-scale &amp; heterogeneous: literature, omics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In vitro pharmacology, biomarkers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Preclinical &amp; clinical data across scales</a:t>
            </a:r>
            <a:endParaRPr lang="en-US" sz="1100" dirty="0"/>
          </a:p>
        </p:txBody>
      </p:sp>
      <p:sp>
        <p:nvSpPr>
          <p:cNvPr id="22" name="Shape 18"/>
          <p:cNvSpPr/>
          <p:nvPr/>
        </p:nvSpPr>
        <p:spPr>
          <a:xfrm>
            <a:off x="8349844"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19"/>
          <p:cNvSpPr/>
          <p:nvPr/>
        </p:nvSpPr>
        <p:spPr>
          <a:xfrm>
            <a:off x="8349844" y="1325880"/>
            <a:ext cx="3293212" cy="64008"/>
          </a:xfrm>
          <a:prstGeom prst="rect">
            <a:avLst/>
          </a:prstGeom>
          <a:solidFill>
            <a:srgbClr val="13293D"/>
          </a:solidFill>
          <a:ln/>
        </p:spPr>
        <p:txBody>
          <a:bodyPr/>
          <a:lstStyle/>
          <a:p>
            <a:endParaRPr lang="en-US"/>
          </a:p>
        </p:txBody>
      </p:sp>
      <p:sp>
        <p:nvSpPr>
          <p:cNvPr id="24" name="Shape 20"/>
          <p:cNvSpPr/>
          <p:nvPr/>
        </p:nvSpPr>
        <p:spPr>
          <a:xfrm>
            <a:off x="8532724" y="1527048"/>
            <a:ext cx="457200" cy="457200"/>
          </a:xfrm>
          <a:prstGeom prst="ellipse">
            <a:avLst/>
          </a:prstGeom>
          <a:solidFill>
            <a:srgbClr val="13293D"/>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651596" y="1645920"/>
            <a:ext cx="219456" cy="219456"/>
          </a:xfrm>
          <a:prstGeom prst="rect">
            <a:avLst/>
          </a:prstGeom>
        </p:spPr>
      </p:pic>
      <p:sp>
        <p:nvSpPr>
          <p:cNvPr id="26" name="Text 21"/>
          <p:cNvSpPr/>
          <p:nvPr/>
        </p:nvSpPr>
        <p:spPr>
          <a:xfrm>
            <a:off x="9099652"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Questions it answers</a:t>
            </a:r>
            <a:endParaRPr lang="en-US" sz="1400" dirty="0"/>
          </a:p>
        </p:txBody>
      </p:sp>
      <p:sp>
        <p:nvSpPr>
          <p:cNvPr id="27" name="Text 22"/>
          <p:cNvSpPr/>
          <p:nvPr/>
        </p:nvSpPr>
        <p:spPr>
          <a:xfrm>
            <a:off x="8569300"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Target selection &amp; validation; MoA hypotheses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Combination strategy; biomarker prediction</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Translation (animal → human); patient variability</a:t>
            </a:r>
            <a:endParaRPr lang="en-US" sz="1100" dirty="0"/>
          </a:p>
        </p:txBody>
      </p:sp>
      <p:sp>
        <p:nvSpPr>
          <p:cNvPr id="28" name="Shape 23"/>
          <p:cNvSpPr/>
          <p:nvPr/>
        </p:nvSpPr>
        <p:spPr>
          <a:xfrm>
            <a:off x="4800600"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4"/>
          <p:cNvSpPr/>
          <p:nvPr/>
        </p:nvSpPr>
        <p:spPr>
          <a:xfrm>
            <a:off x="4800600" y="3931920"/>
            <a:ext cx="3293212" cy="64008"/>
          </a:xfrm>
          <a:prstGeom prst="rect">
            <a:avLst/>
          </a:prstGeom>
          <a:solidFill>
            <a:srgbClr val="2E8B72"/>
          </a:solidFill>
          <a:ln/>
        </p:spPr>
        <p:txBody>
          <a:bodyPr/>
          <a:lstStyle/>
          <a:p>
            <a:endParaRPr lang="en-US"/>
          </a:p>
        </p:txBody>
      </p:sp>
      <p:sp>
        <p:nvSpPr>
          <p:cNvPr id="30" name="Shape 25"/>
          <p:cNvSpPr/>
          <p:nvPr/>
        </p:nvSpPr>
        <p:spPr>
          <a:xfrm>
            <a:off x="4983480" y="4133088"/>
            <a:ext cx="457200" cy="457200"/>
          </a:xfrm>
          <a:prstGeom prst="ellipse">
            <a:avLst/>
          </a:prstGeom>
          <a:solidFill>
            <a:srgbClr val="2E8B72"/>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5102352" y="4251960"/>
            <a:ext cx="219456" cy="219456"/>
          </a:xfrm>
          <a:prstGeom prst="rect">
            <a:avLst/>
          </a:prstGeom>
        </p:spPr>
      </p:pic>
      <p:sp>
        <p:nvSpPr>
          <p:cNvPr id="32" name="Text 26"/>
          <p:cNvSpPr/>
          <p:nvPr/>
        </p:nvSpPr>
        <p:spPr>
          <a:xfrm>
            <a:off x="5550408"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Strengths</a:t>
            </a:r>
            <a:endParaRPr lang="en-US" sz="1400" dirty="0"/>
          </a:p>
        </p:txBody>
      </p:sp>
      <p:sp>
        <p:nvSpPr>
          <p:cNvPr id="33" name="Text 27"/>
          <p:cNvSpPr/>
          <p:nvPr/>
        </p:nvSpPr>
        <p:spPr>
          <a:xfrm>
            <a:off x="5020056"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Deep mechanistic insight &amp; hypothesis testing</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Integrates disparate data sources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Explores combinations, novel targets, virtual patients</a:t>
            </a:r>
            <a:endParaRPr lang="en-US" sz="1100" dirty="0"/>
          </a:p>
        </p:txBody>
      </p:sp>
      <p:sp>
        <p:nvSpPr>
          <p:cNvPr id="34" name="Shape 28"/>
          <p:cNvSpPr/>
          <p:nvPr/>
        </p:nvSpPr>
        <p:spPr>
          <a:xfrm>
            <a:off x="8349844"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29"/>
          <p:cNvSpPr/>
          <p:nvPr/>
        </p:nvSpPr>
        <p:spPr>
          <a:xfrm>
            <a:off x="8349844" y="3931920"/>
            <a:ext cx="3293212" cy="64008"/>
          </a:xfrm>
          <a:prstGeom prst="rect">
            <a:avLst/>
          </a:prstGeom>
          <a:solidFill>
            <a:srgbClr val="C0603A"/>
          </a:solidFill>
          <a:ln/>
        </p:spPr>
        <p:txBody>
          <a:bodyPr/>
          <a:lstStyle/>
          <a:p>
            <a:endParaRPr lang="en-US"/>
          </a:p>
        </p:txBody>
      </p:sp>
      <p:sp>
        <p:nvSpPr>
          <p:cNvPr id="36" name="Shape 30"/>
          <p:cNvSpPr/>
          <p:nvPr/>
        </p:nvSpPr>
        <p:spPr>
          <a:xfrm>
            <a:off x="8532724" y="4133088"/>
            <a:ext cx="457200" cy="457200"/>
          </a:xfrm>
          <a:prstGeom prst="ellipse">
            <a:avLst/>
          </a:prstGeom>
          <a:solidFill>
            <a:srgbClr val="C0603A"/>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8651596" y="4251960"/>
            <a:ext cx="219456" cy="219456"/>
          </a:xfrm>
          <a:prstGeom prst="rect">
            <a:avLst/>
          </a:prstGeom>
        </p:spPr>
      </p:pic>
      <p:sp>
        <p:nvSpPr>
          <p:cNvPr id="38" name="Text 31"/>
          <p:cNvSpPr/>
          <p:nvPr/>
        </p:nvSpPr>
        <p:spPr>
          <a:xfrm>
            <a:off x="9099652"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Limitations</a:t>
            </a:r>
            <a:endParaRPr lang="en-US" sz="1400" dirty="0"/>
          </a:p>
        </p:txBody>
      </p:sp>
      <p:sp>
        <p:nvSpPr>
          <p:cNvPr id="39" name="Text 32"/>
          <p:cNvSpPr/>
          <p:nvPr/>
        </p:nvSpPr>
        <p:spPr>
          <a:xfrm>
            <a:off x="8569300"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Highly complex; many parameters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Identifiability &amp; formal validation are hard</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Resource-intensive; sensitive to data gaps</a:t>
            </a:r>
            <a:endParaRPr lang="en-US" sz="1100" dirty="0"/>
          </a:p>
        </p:txBody>
      </p:sp>
      <p:sp>
        <p:nvSpPr>
          <p:cNvPr id="40" name="Text 3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41" name="Text 3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6B7A8F"/>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6B7A8F"/>
                </a:solidFill>
                <a:latin typeface="Calibri" pitchFamily="34" charset="0"/>
                <a:ea typeface="Calibri" pitchFamily="34" charset="-122"/>
                <a:cs typeface="Calibri" pitchFamily="34" charset="-120"/>
              </a:rPr>
              <a:t>APPROACH 5 OF 5</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Data-Driven &amp; Machine-Learning Models</a:t>
            </a:r>
            <a:endParaRPr lang="en-US" sz="2600" dirty="0"/>
          </a:p>
        </p:txBody>
      </p:sp>
      <p:sp>
        <p:nvSpPr>
          <p:cNvPr id="5" name="Shape 3"/>
          <p:cNvSpPr/>
          <p:nvPr/>
        </p:nvSpPr>
        <p:spPr>
          <a:xfrm>
            <a:off x="548640" y="1325880"/>
            <a:ext cx="3977640" cy="4892040"/>
          </a:xfrm>
          <a:prstGeom prst="roundRect">
            <a:avLst>
              <a:gd name="adj" fmla="val 1839"/>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822960" y="1618488"/>
            <a:ext cx="868680" cy="868680"/>
          </a:xfrm>
          <a:prstGeom prst="ellipse">
            <a:avLst/>
          </a:prstGeom>
          <a:solidFill>
            <a:srgbClr val="6B7A8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48817" y="1844345"/>
            <a:ext cx="416966" cy="416966"/>
          </a:xfrm>
          <a:prstGeom prst="rect">
            <a:avLst/>
          </a:prstGeom>
        </p:spPr>
      </p:pic>
      <p:sp>
        <p:nvSpPr>
          <p:cNvPr id="8" name="Text 5"/>
          <p:cNvSpPr/>
          <p:nvPr/>
        </p:nvSpPr>
        <p:spPr>
          <a:xfrm>
            <a:off x="1828800" y="1673352"/>
            <a:ext cx="2514600" cy="77724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Data-Driven /</a:t>
            </a:r>
            <a:endParaRPr lang="en-US" sz="1900" dirty="0"/>
          </a:p>
          <a:p>
            <a:pPr marL="0" indent="0">
              <a:buNone/>
            </a:pPr>
            <a:r>
              <a:rPr lang="en-US" sz="1900" b="1" dirty="0">
                <a:solidFill>
                  <a:srgbClr val="FFFFFF"/>
                </a:solidFill>
                <a:latin typeface="Georgia" pitchFamily="34" charset="0"/>
                <a:ea typeface="Georgia" pitchFamily="34" charset="-122"/>
                <a:cs typeface="Georgia" pitchFamily="34" charset="-120"/>
              </a:rPr>
              <a:t>Machine Learning</a:t>
            </a:r>
            <a:endParaRPr lang="en-US" sz="1900" dirty="0"/>
          </a:p>
        </p:txBody>
      </p:sp>
      <p:sp>
        <p:nvSpPr>
          <p:cNvPr id="9" name="Text 6"/>
          <p:cNvSpPr/>
          <p:nvPr/>
        </p:nvSpPr>
        <p:spPr>
          <a:xfrm>
            <a:off x="841248" y="265176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WHAT IT IS</a:t>
            </a:r>
            <a:endParaRPr lang="en-US" sz="1100" dirty="0"/>
          </a:p>
        </p:txBody>
      </p:sp>
      <p:sp>
        <p:nvSpPr>
          <p:cNvPr id="10" name="Text 7"/>
          <p:cNvSpPr/>
          <p:nvPr/>
        </p:nvSpPr>
        <p:spPr>
          <a:xfrm>
            <a:off x="841248" y="2953512"/>
            <a:ext cx="3410712" cy="1965960"/>
          </a:xfrm>
          <a:prstGeom prst="rect">
            <a:avLst/>
          </a:prstGeom>
          <a:noFill/>
          <a:ln/>
        </p:spPr>
        <p:txBody>
          <a:bodyPr wrap="square" lIns="0" tIns="0" rIns="0" bIns="0" rtlCol="0" anchor="ctr"/>
          <a:lstStyle/>
          <a:p>
            <a:pPr marL="0" indent="0">
              <a:lnSpc>
                <a:spcPct val="112000"/>
              </a:lnSpc>
              <a:buNone/>
            </a:pPr>
            <a:r>
              <a:rPr lang="en-US" sz="1250" dirty="0">
                <a:solidFill>
                  <a:srgbClr val="E6EEF2"/>
                </a:solidFill>
                <a:latin typeface="Calibri" pitchFamily="34" charset="0"/>
                <a:ea typeface="Calibri" pitchFamily="34" charset="-122"/>
                <a:cs typeface="Calibri" pitchFamily="34" charset="-120"/>
              </a:rPr>
              <a:t>Statistical and machine-learning models that learn patterns directly from data without encoding an explicit mechanism — regression, classification, and modern ML applied to large or high-dimensional datasets.</a:t>
            </a:r>
            <a:endParaRPr lang="en-US" sz="1250" dirty="0"/>
          </a:p>
        </p:txBody>
      </p:sp>
      <p:sp>
        <p:nvSpPr>
          <p:cNvPr id="11" name="Text 8"/>
          <p:cNvSpPr/>
          <p:nvPr/>
        </p:nvSpPr>
        <p:spPr>
          <a:xfrm>
            <a:off x="841248" y="5029200"/>
            <a:ext cx="3429000" cy="274320"/>
          </a:xfrm>
          <a:prstGeom prst="rect">
            <a:avLst/>
          </a:prstGeom>
          <a:noFill/>
          <a:ln/>
        </p:spPr>
        <p:txBody>
          <a:bodyPr wrap="square" lIns="0" tIns="0" rIns="0" bIns="0" rtlCol="0" anchor="ctr"/>
          <a:lstStyle/>
          <a:p>
            <a:pPr marL="0" indent="0">
              <a:buNone/>
            </a:pPr>
            <a:r>
              <a:rPr lang="en-US" sz="1100" b="1" kern="0" spc="150" dirty="0">
                <a:solidFill>
                  <a:srgbClr val="9FD0DC"/>
                </a:solidFill>
                <a:latin typeface="Calibri" pitchFamily="34" charset="0"/>
                <a:ea typeface="Calibri" pitchFamily="34" charset="-122"/>
                <a:cs typeface="Calibri" pitchFamily="34" charset="-120"/>
              </a:rPr>
              <a:t>TYPICAL STAGE</a:t>
            </a:r>
            <a:endParaRPr lang="en-US" sz="1100" dirty="0"/>
          </a:p>
        </p:txBody>
      </p:sp>
      <p:sp>
        <p:nvSpPr>
          <p:cNvPr id="12" name="Shape 9"/>
          <p:cNvSpPr/>
          <p:nvPr/>
        </p:nvSpPr>
        <p:spPr>
          <a:xfrm>
            <a:off x="841248" y="5349240"/>
            <a:ext cx="1691640" cy="457200"/>
          </a:xfrm>
          <a:prstGeom prst="roundRect">
            <a:avLst>
              <a:gd name="adj" fmla="val 50000"/>
            </a:avLst>
          </a:prstGeom>
          <a:solidFill>
            <a:srgbClr val="6B7A8F"/>
          </a:solidFill>
          <a:ln/>
        </p:spPr>
        <p:txBody>
          <a:bodyPr/>
          <a:lstStyle/>
          <a:p>
            <a:endParaRPr lang="en-US"/>
          </a:p>
        </p:txBody>
      </p:sp>
      <p:sp>
        <p:nvSpPr>
          <p:cNvPr id="13" name="Text 10"/>
          <p:cNvSpPr/>
          <p:nvPr/>
        </p:nvSpPr>
        <p:spPr>
          <a:xfrm>
            <a:off x="84124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Preclinical</a:t>
            </a:r>
            <a:endParaRPr lang="en-US" sz="1200" dirty="0"/>
          </a:p>
        </p:txBody>
      </p:sp>
      <p:sp>
        <p:nvSpPr>
          <p:cNvPr id="14" name="Shape 11"/>
          <p:cNvSpPr/>
          <p:nvPr/>
        </p:nvSpPr>
        <p:spPr>
          <a:xfrm>
            <a:off x="2715768" y="5349240"/>
            <a:ext cx="1691640" cy="457200"/>
          </a:xfrm>
          <a:prstGeom prst="roundRect">
            <a:avLst>
              <a:gd name="adj" fmla="val 50000"/>
            </a:avLst>
          </a:prstGeom>
          <a:solidFill>
            <a:srgbClr val="6B7A8F"/>
          </a:solidFill>
          <a:ln/>
        </p:spPr>
        <p:txBody>
          <a:bodyPr/>
          <a:lstStyle/>
          <a:p>
            <a:endParaRPr lang="en-US"/>
          </a:p>
        </p:txBody>
      </p:sp>
      <p:sp>
        <p:nvSpPr>
          <p:cNvPr id="15" name="Text 12"/>
          <p:cNvSpPr/>
          <p:nvPr/>
        </p:nvSpPr>
        <p:spPr>
          <a:xfrm>
            <a:off x="2715768" y="534924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Clinical</a:t>
            </a:r>
            <a:endParaRPr lang="en-US" sz="1200" dirty="0"/>
          </a:p>
        </p:txBody>
      </p:sp>
      <p:sp>
        <p:nvSpPr>
          <p:cNvPr id="16" name="Shape 13"/>
          <p:cNvSpPr/>
          <p:nvPr/>
        </p:nvSpPr>
        <p:spPr>
          <a:xfrm>
            <a:off x="4800600"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Shape 14"/>
          <p:cNvSpPr/>
          <p:nvPr/>
        </p:nvSpPr>
        <p:spPr>
          <a:xfrm>
            <a:off x="4800600" y="1325880"/>
            <a:ext cx="3293212" cy="64008"/>
          </a:xfrm>
          <a:prstGeom prst="rect">
            <a:avLst/>
          </a:prstGeom>
          <a:solidFill>
            <a:srgbClr val="1C7293"/>
          </a:solidFill>
          <a:ln/>
        </p:spPr>
        <p:txBody>
          <a:bodyPr/>
          <a:lstStyle/>
          <a:p>
            <a:endParaRPr lang="en-US"/>
          </a:p>
        </p:txBody>
      </p:sp>
      <p:sp>
        <p:nvSpPr>
          <p:cNvPr id="18" name="Shape 15"/>
          <p:cNvSpPr/>
          <p:nvPr/>
        </p:nvSpPr>
        <p:spPr>
          <a:xfrm>
            <a:off x="4983480" y="1527048"/>
            <a:ext cx="457200" cy="457200"/>
          </a:xfrm>
          <a:prstGeom prst="ellipse">
            <a:avLst/>
          </a:prstGeom>
          <a:solidFill>
            <a:srgbClr val="1C729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102352" y="1645920"/>
            <a:ext cx="219456" cy="219456"/>
          </a:xfrm>
          <a:prstGeom prst="rect">
            <a:avLst/>
          </a:prstGeom>
        </p:spPr>
      </p:pic>
      <p:sp>
        <p:nvSpPr>
          <p:cNvPr id="20" name="Text 16"/>
          <p:cNvSpPr/>
          <p:nvPr/>
        </p:nvSpPr>
        <p:spPr>
          <a:xfrm>
            <a:off x="5550408"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Data it needs</a:t>
            </a:r>
            <a:endParaRPr lang="en-US" sz="1400" dirty="0"/>
          </a:p>
        </p:txBody>
      </p:sp>
      <p:sp>
        <p:nvSpPr>
          <p:cNvPr id="21" name="Text 17"/>
          <p:cNvSpPr/>
          <p:nvPr/>
        </p:nvSpPr>
        <p:spPr>
          <a:xfrm>
            <a:off x="5020056"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Large / structured datasets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Real-world data, high-dimensional biomarkers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Omics, imaging, EHR</a:t>
            </a:r>
            <a:endParaRPr lang="en-US" sz="1100" dirty="0"/>
          </a:p>
        </p:txBody>
      </p:sp>
      <p:sp>
        <p:nvSpPr>
          <p:cNvPr id="22" name="Shape 18"/>
          <p:cNvSpPr/>
          <p:nvPr/>
        </p:nvSpPr>
        <p:spPr>
          <a:xfrm>
            <a:off x="8349844" y="132588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3" name="Shape 19"/>
          <p:cNvSpPr/>
          <p:nvPr/>
        </p:nvSpPr>
        <p:spPr>
          <a:xfrm>
            <a:off x="8349844" y="1325880"/>
            <a:ext cx="3293212" cy="64008"/>
          </a:xfrm>
          <a:prstGeom prst="rect">
            <a:avLst/>
          </a:prstGeom>
          <a:solidFill>
            <a:srgbClr val="13293D"/>
          </a:solidFill>
          <a:ln/>
        </p:spPr>
        <p:txBody>
          <a:bodyPr/>
          <a:lstStyle/>
          <a:p>
            <a:endParaRPr lang="en-US"/>
          </a:p>
        </p:txBody>
      </p:sp>
      <p:sp>
        <p:nvSpPr>
          <p:cNvPr id="24" name="Shape 20"/>
          <p:cNvSpPr/>
          <p:nvPr/>
        </p:nvSpPr>
        <p:spPr>
          <a:xfrm>
            <a:off x="8532724" y="1527048"/>
            <a:ext cx="457200" cy="457200"/>
          </a:xfrm>
          <a:prstGeom prst="ellipse">
            <a:avLst/>
          </a:prstGeom>
          <a:solidFill>
            <a:srgbClr val="13293D"/>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651596" y="1645920"/>
            <a:ext cx="219456" cy="219456"/>
          </a:xfrm>
          <a:prstGeom prst="rect">
            <a:avLst/>
          </a:prstGeom>
        </p:spPr>
      </p:pic>
      <p:sp>
        <p:nvSpPr>
          <p:cNvPr id="26" name="Text 21"/>
          <p:cNvSpPr/>
          <p:nvPr/>
        </p:nvSpPr>
        <p:spPr>
          <a:xfrm>
            <a:off x="9099652" y="154533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Questions it answers</a:t>
            </a:r>
            <a:endParaRPr lang="en-US" sz="1400" dirty="0"/>
          </a:p>
        </p:txBody>
      </p:sp>
      <p:sp>
        <p:nvSpPr>
          <p:cNvPr id="27" name="Text 22"/>
          <p:cNvSpPr/>
          <p:nvPr/>
        </p:nvSpPr>
        <p:spPr>
          <a:xfrm>
            <a:off x="8569300" y="207568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Covariate &amp; subgroup discovery; prediction</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Prognostic / predictive signatures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Hypothesis generation &amp; screening</a:t>
            </a:r>
            <a:endParaRPr lang="en-US" sz="1100" dirty="0"/>
          </a:p>
        </p:txBody>
      </p:sp>
      <p:sp>
        <p:nvSpPr>
          <p:cNvPr id="28" name="Shape 23"/>
          <p:cNvSpPr/>
          <p:nvPr/>
        </p:nvSpPr>
        <p:spPr>
          <a:xfrm>
            <a:off x="4800600"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9" name="Shape 24"/>
          <p:cNvSpPr/>
          <p:nvPr/>
        </p:nvSpPr>
        <p:spPr>
          <a:xfrm>
            <a:off x="4800600" y="3931920"/>
            <a:ext cx="3293212" cy="64008"/>
          </a:xfrm>
          <a:prstGeom prst="rect">
            <a:avLst/>
          </a:prstGeom>
          <a:solidFill>
            <a:srgbClr val="2E8B72"/>
          </a:solidFill>
          <a:ln/>
        </p:spPr>
        <p:txBody>
          <a:bodyPr/>
          <a:lstStyle/>
          <a:p>
            <a:endParaRPr lang="en-US"/>
          </a:p>
        </p:txBody>
      </p:sp>
      <p:sp>
        <p:nvSpPr>
          <p:cNvPr id="30" name="Shape 25"/>
          <p:cNvSpPr/>
          <p:nvPr/>
        </p:nvSpPr>
        <p:spPr>
          <a:xfrm>
            <a:off x="4983480" y="4133088"/>
            <a:ext cx="457200" cy="457200"/>
          </a:xfrm>
          <a:prstGeom prst="ellipse">
            <a:avLst/>
          </a:prstGeom>
          <a:solidFill>
            <a:srgbClr val="2E8B72"/>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5102352" y="4251960"/>
            <a:ext cx="219456" cy="219456"/>
          </a:xfrm>
          <a:prstGeom prst="rect">
            <a:avLst/>
          </a:prstGeom>
        </p:spPr>
      </p:pic>
      <p:sp>
        <p:nvSpPr>
          <p:cNvPr id="32" name="Text 26"/>
          <p:cNvSpPr/>
          <p:nvPr/>
        </p:nvSpPr>
        <p:spPr>
          <a:xfrm>
            <a:off x="5550408"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Strengths</a:t>
            </a:r>
            <a:endParaRPr lang="en-US" sz="1400" dirty="0"/>
          </a:p>
        </p:txBody>
      </p:sp>
      <p:sp>
        <p:nvSpPr>
          <p:cNvPr id="33" name="Text 27"/>
          <p:cNvSpPr/>
          <p:nvPr/>
        </p:nvSpPr>
        <p:spPr>
          <a:xfrm>
            <a:off x="5020056"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Flexible; handles high-dimensional data</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Fast prediction; captures complex patterns</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Scales to large data</a:t>
            </a:r>
            <a:endParaRPr lang="en-US" sz="1100" dirty="0"/>
          </a:p>
        </p:txBody>
      </p:sp>
      <p:sp>
        <p:nvSpPr>
          <p:cNvPr id="34" name="Shape 28"/>
          <p:cNvSpPr/>
          <p:nvPr/>
        </p:nvSpPr>
        <p:spPr>
          <a:xfrm>
            <a:off x="8349844" y="3931920"/>
            <a:ext cx="3293212" cy="2286000"/>
          </a:xfrm>
          <a:prstGeom prst="roundRect">
            <a:avLst>
              <a:gd name="adj" fmla="val 3200"/>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5" name="Shape 29"/>
          <p:cNvSpPr/>
          <p:nvPr/>
        </p:nvSpPr>
        <p:spPr>
          <a:xfrm>
            <a:off x="8349844" y="3931920"/>
            <a:ext cx="3293212" cy="64008"/>
          </a:xfrm>
          <a:prstGeom prst="rect">
            <a:avLst/>
          </a:prstGeom>
          <a:solidFill>
            <a:srgbClr val="C0603A"/>
          </a:solidFill>
          <a:ln/>
        </p:spPr>
        <p:txBody>
          <a:bodyPr/>
          <a:lstStyle/>
          <a:p>
            <a:endParaRPr lang="en-US"/>
          </a:p>
        </p:txBody>
      </p:sp>
      <p:sp>
        <p:nvSpPr>
          <p:cNvPr id="36" name="Shape 30"/>
          <p:cNvSpPr/>
          <p:nvPr/>
        </p:nvSpPr>
        <p:spPr>
          <a:xfrm>
            <a:off x="8532724" y="4133088"/>
            <a:ext cx="457200" cy="457200"/>
          </a:xfrm>
          <a:prstGeom prst="ellipse">
            <a:avLst/>
          </a:prstGeom>
          <a:solidFill>
            <a:srgbClr val="C0603A"/>
          </a:solidFill>
          <a:ln/>
        </p:spPr>
        <p:txBody>
          <a:bodyPr/>
          <a:lstStyle/>
          <a:p>
            <a:endParaRPr lang="en-US"/>
          </a:p>
        </p:txBody>
      </p:sp>
      <p:pic>
        <p:nvPicPr>
          <p:cNvPr id="37" name="Image 4" descr="preencoded.png"/>
          <p:cNvPicPr>
            <a:picLocks noChangeAspect="1"/>
          </p:cNvPicPr>
          <p:nvPr/>
        </p:nvPicPr>
        <p:blipFill>
          <a:blip r:embed="rId7"/>
          <a:stretch>
            <a:fillRect/>
          </a:stretch>
        </p:blipFill>
        <p:spPr>
          <a:xfrm>
            <a:off x="8651596" y="4251960"/>
            <a:ext cx="219456" cy="219456"/>
          </a:xfrm>
          <a:prstGeom prst="rect">
            <a:avLst/>
          </a:prstGeom>
        </p:spPr>
      </p:pic>
      <p:sp>
        <p:nvSpPr>
          <p:cNvPr id="38" name="Text 31"/>
          <p:cNvSpPr/>
          <p:nvPr/>
        </p:nvSpPr>
        <p:spPr>
          <a:xfrm>
            <a:off x="9099652" y="4151376"/>
            <a:ext cx="2378812" cy="45720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Limitations</a:t>
            </a:r>
            <a:endParaRPr lang="en-US" sz="1400" dirty="0"/>
          </a:p>
        </p:txBody>
      </p:sp>
      <p:sp>
        <p:nvSpPr>
          <p:cNvPr id="39" name="Text 32"/>
          <p:cNvSpPr/>
          <p:nvPr/>
        </p:nvSpPr>
        <p:spPr>
          <a:xfrm>
            <a:off x="8569300" y="4681728"/>
            <a:ext cx="2872588" cy="1417320"/>
          </a:xfrm>
          <a:prstGeom prst="rect">
            <a:avLst/>
          </a:prstGeom>
          <a:noFill/>
          <a:ln/>
        </p:spPr>
        <p:txBody>
          <a:bodyPr wrap="square" lIns="0" tIns="0" rIns="0" bIns="0" rtlCol="0" anchor="t"/>
          <a:lstStyle/>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Data-hungry; limited extrapolation</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Little mechanistic insight; not inherently causal</a:t>
            </a:r>
            <a:endParaRPr lang="en-US" sz="1100" dirty="0"/>
          </a:p>
          <a:p>
            <a:pPr marL="152400" indent="-152400">
              <a:lnSpc>
                <a:spcPct val="100000"/>
              </a:lnSpc>
              <a:spcAft>
                <a:spcPts val="500"/>
              </a:spcAft>
              <a:buSzPct val="100000"/>
              <a:buChar char="•"/>
            </a:pPr>
            <a:r>
              <a:rPr lang="en-US" sz="1100" dirty="0">
                <a:solidFill>
                  <a:srgbClr val="1E2A33"/>
                </a:solidFill>
                <a:latin typeface="Calibri" pitchFamily="34" charset="0"/>
                <a:ea typeface="Calibri" pitchFamily="34" charset="-122"/>
                <a:cs typeface="Calibri" pitchFamily="34" charset="-120"/>
              </a:rPr>
              <a:t>Interpretability &amp; overfitting risks</a:t>
            </a:r>
            <a:endParaRPr lang="en-US" sz="1100" dirty="0"/>
          </a:p>
        </p:txBody>
      </p:sp>
      <p:sp>
        <p:nvSpPr>
          <p:cNvPr id="40" name="Text 3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41" name="Text 3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AT A GLANCE</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Comparing the approaches side by side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641451863"/>
              </p:ext>
            </p:extLst>
          </p:nvPr>
        </p:nvGraphicFramePr>
        <p:xfrm>
          <a:off x="548640" y="1417320"/>
          <a:ext cx="11045952" cy="4206240"/>
        </p:xfrm>
        <a:graphic>
          <a:graphicData uri="http://schemas.openxmlformats.org/drawingml/2006/table">
            <a:tbl>
              <a:tblPr/>
              <a:tblGrid>
                <a:gridCol w="18745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1810512">
                  <a:extLst>
                    <a:ext uri="{9D8B030D-6E8A-4147-A177-3AD203B41FA5}">
                      <a16:colId xmlns:a16="http://schemas.microsoft.com/office/drawing/2014/main" val="20004"/>
                    </a:ext>
                  </a:extLst>
                </a:gridCol>
              </a:tblGrid>
              <a:tr h="45720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Approach</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Nature</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Key data</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Best-fit questions</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3293D"/>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Main limitation</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3293D"/>
                    </a:solidFill>
                  </a:tcPr>
                </a:tc>
                <a:extLst>
                  <a:ext uri="{0D108BD9-81ED-4DB2-BD59-A6C34878D82A}">
                    <a16:rowId xmlns:a16="http://schemas.microsoft.com/office/drawing/2014/main" val="10000"/>
                  </a:ext>
                </a:extLst>
              </a:tr>
              <a:tr h="74980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PopPK</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C7293"/>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Empirical / population</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Sparse clinical PK + covariates</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Exposure, variability, dose adjustment</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Limited extrapolation</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Exposure-Response</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B72"/>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Empirical → semi-mechanistic</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Exposure + outcomes/biomarkers</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Dose selection, benefit-risk</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Confounded exposure</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PBPK</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5F97"/>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Mechanistic (physiology)</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In vitro + system physiology</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FIH dose, DDI, special populations</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Input &amp; knowledge intensive</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QSP</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8C3E"/>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Mechanistic (biology)</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Multi-scale, omics, biomarkers</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Target/MoA, combinations, translation</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Complex; hard to validate</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Data-driven / ML</a:t>
                      </a:r>
                      <a:endParaRPr lang="en-US" sz="16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B7A8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Empirical / statistical</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Large, high-dimensional data</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Prediction, subgroup discovery</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E2A33"/>
                          </a:solidFill>
                          <a:latin typeface="Calibri" pitchFamily="34" charset="0"/>
                          <a:ea typeface="Calibri" pitchFamily="34" charset="-122"/>
                          <a:cs typeface="Calibri" pitchFamily="34" charset="-120"/>
                        </a:rPr>
                        <a:t>Poor extrapolation; opaque</a:t>
                      </a:r>
                      <a:endParaRPr lang="en-US" sz="1400" dirty="0">
                        <a:latin typeface="Calibri" charset="0"/>
                        <a:ea typeface="Calibri" charset="0"/>
                        <a:cs typeface="Calibri" charset="0"/>
                      </a:endParaRPr>
                    </a:p>
                  </a:txBody>
                  <a:tcPr marL="76200" marR="76200" marT="50800" marB="508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5897880"/>
            <a:ext cx="11094415" cy="457200"/>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Read across, not down.  </a:t>
            </a:r>
            <a:r>
              <a:rPr lang="en-US" sz="1250" dirty="0">
                <a:solidFill>
                  <a:srgbClr val="1E2A33"/>
                </a:solidFill>
                <a:latin typeface="Calibri" pitchFamily="34" charset="0"/>
                <a:ea typeface="Calibri" pitchFamily="34" charset="-122"/>
                <a:cs typeface="Calibri" pitchFamily="34" charset="-120"/>
              </a:rPr>
              <a:t>There is no single winner — the right column depends entirely on your question. The next section turns that into a decision framework.</a:t>
            </a:r>
            <a:endParaRPr lang="en-US" sz="1250" dirty="0"/>
          </a:p>
        </p:txBody>
      </p:sp>
      <p:sp>
        <p:nvSpPr>
          <p:cNvPr id="8" name="Text 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9" name="Text 5"/>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CHOOSING AN APPROACH</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A fit-for-purpose framework</a:t>
            </a:r>
            <a:endParaRPr lang="en-US" sz="2600" dirty="0"/>
          </a:p>
        </p:txBody>
      </p:sp>
      <p:sp>
        <p:nvSpPr>
          <p:cNvPr id="5" name="Text 3"/>
          <p:cNvSpPr/>
          <p:nvPr/>
        </p:nvSpPr>
        <p:spPr>
          <a:xfrm>
            <a:off x="548640" y="1371600"/>
            <a:ext cx="11094415" cy="365760"/>
          </a:xfrm>
          <a:prstGeom prst="rect">
            <a:avLst/>
          </a:prstGeom>
          <a:noFill/>
          <a:ln/>
        </p:spPr>
        <p:txBody>
          <a:bodyPr wrap="square" lIns="0" tIns="0" rIns="0" bIns="0" rtlCol="0" anchor="ctr"/>
          <a:lstStyle/>
          <a:p>
            <a:pPr marL="0" indent="0">
              <a:buNone/>
            </a:pPr>
            <a:r>
              <a:rPr lang="en-US" sz="1400" b="1" dirty="0">
                <a:solidFill>
                  <a:srgbClr val="13293D"/>
                </a:solidFill>
                <a:latin typeface="Calibri" pitchFamily="34" charset="0"/>
                <a:ea typeface="Calibri" pitchFamily="34" charset="-122"/>
                <a:cs typeface="Calibri" pitchFamily="34" charset="-120"/>
              </a:rPr>
              <a:t>Start from the decision, not the method. Work through five questions:</a:t>
            </a:r>
            <a:endParaRPr lang="en-US" sz="1400" dirty="0"/>
          </a:p>
        </p:txBody>
      </p:sp>
      <p:sp>
        <p:nvSpPr>
          <p:cNvPr id="6" name="Shape 4"/>
          <p:cNvSpPr/>
          <p:nvPr/>
        </p:nvSpPr>
        <p:spPr>
          <a:xfrm>
            <a:off x="548640" y="1965960"/>
            <a:ext cx="2036003" cy="25146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7" name="Shape 5"/>
          <p:cNvSpPr/>
          <p:nvPr/>
        </p:nvSpPr>
        <p:spPr>
          <a:xfrm>
            <a:off x="1200882" y="2221992"/>
            <a:ext cx="731520" cy="731520"/>
          </a:xfrm>
          <a:prstGeom prst="ellipse">
            <a:avLst/>
          </a:prstGeom>
          <a:solidFill>
            <a:srgbClr val="1C7293"/>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391077" y="2412187"/>
            <a:ext cx="351130" cy="351130"/>
          </a:xfrm>
          <a:prstGeom prst="rect">
            <a:avLst/>
          </a:prstGeom>
        </p:spPr>
      </p:pic>
      <p:sp>
        <p:nvSpPr>
          <p:cNvPr id="9" name="Text 6"/>
          <p:cNvSpPr/>
          <p:nvPr/>
        </p:nvSpPr>
        <p:spPr>
          <a:xfrm>
            <a:off x="640080" y="3063240"/>
            <a:ext cx="1853123" cy="502920"/>
          </a:xfrm>
          <a:prstGeom prst="rect">
            <a:avLst/>
          </a:prstGeom>
          <a:noFill/>
          <a:ln/>
        </p:spPr>
        <p:txBody>
          <a:bodyPr wrap="square" lIns="0" tIns="0" rIns="0" bIns="0" rtlCol="0" anchor="ctr"/>
          <a:lstStyle/>
          <a:p>
            <a:pPr marL="0" indent="0" algn="ctr">
              <a:buNone/>
            </a:pPr>
            <a:r>
              <a:rPr lang="en-US" sz="1350" b="1" dirty="0">
                <a:solidFill>
                  <a:srgbClr val="13293D"/>
                </a:solidFill>
                <a:latin typeface="Georgia" pitchFamily="34" charset="0"/>
                <a:ea typeface="Georgia" pitchFamily="34" charset="-122"/>
                <a:cs typeface="Georgia" pitchFamily="34" charset="-120"/>
              </a:rPr>
              <a:t>1. The question</a:t>
            </a:r>
            <a:endParaRPr lang="en-US" sz="1350" dirty="0"/>
          </a:p>
        </p:txBody>
      </p:sp>
      <p:sp>
        <p:nvSpPr>
          <p:cNvPr id="10" name="Text 7"/>
          <p:cNvSpPr/>
          <p:nvPr/>
        </p:nvSpPr>
        <p:spPr>
          <a:xfrm>
            <a:off x="694944" y="3593592"/>
            <a:ext cx="1743395" cy="822960"/>
          </a:xfrm>
          <a:prstGeom prst="rect">
            <a:avLst/>
          </a:prstGeom>
          <a:noFill/>
          <a:ln/>
        </p:spPr>
        <p:txBody>
          <a:bodyPr wrap="square" lIns="0" tIns="0" rIns="0" bIns="0" rtlCol="0" anchor="ctr"/>
          <a:lstStyle/>
          <a:p>
            <a:pPr marL="0" indent="0" algn="ctr">
              <a:lnSpc>
                <a:spcPct val="103000"/>
              </a:lnSpc>
              <a:buNone/>
            </a:pPr>
            <a:r>
              <a:rPr lang="en-US" sz="1050" dirty="0">
                <a:solidFill>
                  <a:srgbClr val="5A6B78"/>
                </a:solidFill>
                <a:latin typeface="Calibri" pitchFamily="34" charset="0"/>
                <a:ea typeface="Calibri" pitchFamily="34" charset="-122"/>
                <a:cs typeface="Calibri" pitchFamily="34" charset="-120"/>
              </a:rPr>
              <a:t>What decision must this support? Define the context of use precisely.</a:t>
            </a:r>
            <a:endParaRPr lang="en-US" sz="1050" dirty="0"/>
          </a:p>
        </p:txBody>
      </p:sp>
      <p:sp>
        <p:nvSpPr>
          <p:cNvPr id="11" name="Shape 8"/>
          <p:cNvSpPr/>
          <p:nvPr/>
        </p:nvSpPr>
        <p:spPr>
          <a:xfrm>
            <a:off x="2813243" y="1965960"/>
            <a:ext cx="2036003" cy="25146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9"/>
          <p:cNvSpPr/>
          <p:nvPr/>
        </p:nvSpPr>
        <p:spPr>
          <a:xfrm>
            <a:off x="3465485" y="2221992"/>
            <a:ext cx="731520" cy="731520"/>
          </a:xfrm>
          <a:prstGeom prst="ellipse">
            <a:avLst/>
          </a:prstGeom>
          <a:solidFill>
            <a:srgbClr val="1C7293"/>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655680" y="2412187"/>
            <a:ext cx="351130" cy="351130"/>
          </a:xfrm>
          <a:prstGeom prst="rect">
            <a:avLst/>
          </a:prstGeom>
        </p:spPr>
      </p:pic>
      <p:sp>
        <p:nvSpPr>
          <p:cNvPr id="14" name="Text 10"/>
          <p:cNvSpPr/>
          <p:nvPr/>
        </p:nvSpPr>
        <p:spPr>
          <a:xfrm>
            <a:off x="2904683" y="3063240"/>
            <a:ext cx="1853123" cy="502920"/>
          </a:xfrm>
          <a:prstGeom prst="rect">
            <a:avLst/>
          </a:prstGeom>
          <a:noFill/>
          <a:ln/>
        </p:spPr>
        <p:txBody>
          <a:bodyPr wrap="square" lIns="0" tIns="0" rIns="0" bIns="0" rtlCol="0" anchor="ctr"/>
          <a:lstStyle/>
          <a:p>
            <a:pPr marL="0" indent="0" algn="ctr">
              <a:buNone/>
            </a:pPr>
            <a:r>
              <a:rPr lang="en-US" sz="1350" b="1" dirty="0">
                <a:solidFill>
                  <a:srgbClr val="13293D"/>
                </a:solidFill>
                <a:latin typeface="Georgia" pitchFamily="34" charset="0"/>
                <a:ea typeface="Georgia" pitchFamily="34" charset="-122"/>
                <a:cs typeface="Georgia" pitchFamily="34" charset="-120"/>
              </a:rPr>
              <a:t>2. The stakes</a:t>
            </a:r>
            <a:endParaRPr lang="en-US" sz="1350" dirty="0"/>
          </a:p>
        </p:txBody>
      </p:sp>
      <p:sp>
        <p:nvSpPr>
          <p:cNvPr id="15" name="Text 11"/>
          <p:cNvSpPr/>
          <p:nvPr/>
        </p:nvSpPr>
        <p:spPr>
          <a:xfrm>
            <a:off x="2959547" y="3593592"/>
            <a:ext cx="1743395" cy="822960"/>
          </a:xfrm>
          <a:prstGeom prst="rect">
            <a:avLst/>
          </a:prstGeom>
          <a:noFill/>
          <a:ln/>
        </p:spPr>
        <p:txBody>
          <a:bodyPr wrap="square" lIns="0" tIns="0" rIns="0" bIns="0" rtlCol="0" anchor="ctr"/>
          <a:lstStyle/>
          <a:p>
            <a:pPr marL="0" indent="0" algn="ctr">
              <a:lnSpc>
                <a:spcPct val="103000"/>
              </a:lnSpc>
              <a:buNone/>
            </a:pPr>
            <a:r>
              <a:rPr lang="en-US" sz="1050" dirty="0">
                <a:solidFill>
                  <a:srgbClr val="5A6B78"/>
                </a:solidFill>
                <a:latin typeface="Calibri" pitchFamily="34" charset="0"/>
                <a:ea typeface="Calibri" pitchFamily="34" charset="-122"/>
                <a:cs typeface="Calibri" pitchFamily="34" charset="-120"/>
              </a:rPr>
              <a:t>How costly is being wrong? Higher stakes → more evidence, more rigor.</a:t>
            </a:r>
            <a:endParaRPr lang="en-US" sz="1050" dirty="0"/>
          </a:p>
        </p:txBody>
      </p:sp>
      <p:sp>
        <p:nvSpPr>
          <p:cNvPr id="16" name="Shape 12"/>
          <p:cNvSpPr/>
          <p:nvPr/>
        </p:nvSpPr>
        <p:spPr>
          <a:xfrm>
            <a:off x="5077846" y="1965960"/>
            <a:ext cx="2036003" cy="25146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Shape 13"/>
          <p:cNvSpPr/>
          <p:nvPr/>
        </p:nvSpPr>
        <p:spPr>
          <a:xfrm>
            <a:off x="5730088" y="2221992"/>
            <a:ext cx="731520" cy="731520"/>
          </a:xfrm>
          <a:prstGeom prst="ellipse">
            <a:avLst/>
          </a:prstGeom>
          <a:solidFill>
            <a:srgbClr val="1C7293"/>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5920283" y="2412187"/>
            <a:ext cx="351130" cy="351130"/>
          </a:xfrm>
          <a:prstGeom prst="rect">
            <a:avLst/>
          </a:prstGeom>
        </p:spPr>
      </p:pic>
      <p:sp>
        <p:nvSpPr>
          <p:cNvPr id="19" name="Text 14"/>
          <p:cNvSpPr/>
          <p:nvPr/>
        </p:nvSpPr>
        <p:spPr>
          <a:xfrm>
            <a:off x="5169286" y="3063240"/>
            <a:ext cx="1853123" cy="502920"/>
          </a:xfrm>
          <a:prstGeom prst="rect">
            <a:avLst/>
          </a:prstGeom>
          <a:noFill/>
          <a:ln/>
        </p:spPr>
        <p:txBody>
          <a:bodyPr wrap="square" lIns="0" tIns="0" rIns="0" bIns="0" rtlCol="0" anchor="ctr"/>
          <a:lstStyle/>
          <a:p>
            <a:pPr marL="0" indent="0" algn="ctr">
              <a:buNone/>
            </a:pPr>
            <a:r>
              <a:rPr lang="en-US" sz="1350" b="1" dirty="0">
                <a:solidFill>
                  <a:srgbClr val="13293D"/>
                </a:solidFill>
                <a:latin typeface="Georgia" pitchFamily="34" charset="0"/>
                <a:ea typeface="Georgia" pitchFamily="34" charset="-122"/>
                <a:cs typeface="Georgia" pitchFamily="34" charset="-120"/>
              </a:rPr>
              <a:t>3. The data</a:t>
            </a:r>
            <a:endParaRPr lang="en-US" sz="1350" dirty="0"/>
          </a:p>
        </p:txBody>
      </p:sp>
      <p:sp>
        <p:nvSpPr>
          <p:cNvPr id="20" name="Text 15"/>
          <p:cNvSpPr/>
          <p:nvPr/>
        </p:nvSpPr>
        <p:spPr>
          <a:xfrm>
            <a:off x="5224150" y="3593592"/>
            <a:ext cx="1743395" cy="822960"/>
          </a:xfrm>
          <a:prstGeom prst="rect">
            <a:avLst/>
          </a:prstGeom>
          <a:noFill/>
          <a:ln/>
        </p:spPr>
        <p:txBody>
          <a:bodyPr wrap="square" lIns="0" tIns="0" rIns="0" bIns="0" rtlCol="0" anchor="ctr"/>
          <a:lstStyle/>
          <a:p>
            <a:pPr marL="0" indent="0" algn="ctr">
              <a:lnSpc>
                <a:spcPct val="103000"/>
              </a:lnSpc>
              <a:buNone/>
            </a:pPr>
            <a:r>
              <a:rPr lang="en-US" sz="1050" dirty="0">
                <a:solidFill>
                  <a:srgbClr val="5A6B78"/>
                </a:solidFill>
                <a:latin typeface="Calibri" pitchFamily="34" charset="0"/>
                <a:ea typeface="Calibri" pitchFamily="34" charset="-122"/>
                <a:cs typeface="Calibri" pitchFamily="34" charset="-120"/>
              </a:rPr>
              <a:t>What data exist or are attainable, at what quality and cost?</a:t>
            </a:r>
            <a:endParaRPr lang="en-US" sz="1050" dirty="0"/>
          </a:p>
        </p:txBody>
      </p:sp>
      <p:sp>
        <p:nvSpPr>
          <p:cNvPr id="21" name="Shape 16"/>
          <p:cNvSpPr/>
          <p:nvPr/>
        </p:nvSpPr>
        <p:spPr>
          <a:xfrm>
            <a:off x="7342449" y="1965960"/>
            <a:ext cx="2036003" cy="25146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17"/>
          <p:cNvSpPr/>
          <p:nvPr/>
        </p:nvSpPr>
        <p:spPr>
          <a:xfrm>
            <a:off x="7994691" y="2221992"/>
            <a:ext cx="731520" cy="731520"/>
          </a:xfrm>
          <a:prstGeom prst="ellipse">
            <a:avLst/>
          </a:prstGeom>
          <a:solidFill>
            <a:srgbClr val="1C7293"/>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8184886" y="2412187"/>
            <a:ext cx="351130" cy="351130"/>
          </a:xfrm>
          <a:prstGeom prst="rect">
            <a:avLst/>
          </a:prstGeom>
        </p:spPr>
      </p:pic>
      <p:sp>
        <p:nvSpPr>
          <p:cNvPr id="24" name="Text 18"/>
          <p:cNvSpPr/>
          <p:nvPr/>
        </p:nvSpPr>
        <p:spPr>
          <a:xfrm>
            <a:off x="7433889" y="3063240"/>
            <a:ext cx="1853123" cy="502920"/>
          </a:xfrm>
          <a:prstGeom prst="rect">
            <a:avLst/>
          </a:prstGeom>
          <a:noFill/>
          <a:ln/>
        </p:spPr>
        <p:txBody>
          <a:bodyPr wrap="square" lIns="0" tIns="0" rIns="0" bIns="0" rtlCol="0" anchor="ctr"/>
          <a:lstStyle/>
          <a:p>
            <a:pPr marL="0" indent="0" algn="ctr">
              <a:buNone/>
            </a:pPr>
            <a:r>
              <a:rPr lang="en-US" sz="1350" b="1" dirty="0">
                <a:solidFill>
                  <a:srgbClr val="13293D"/>
                </a:solidFill>
                <a:latin typeface="Georgia" pitchFamily="34" charset="0"/>
                <a:ea typeface="Georgia" pitchFamily="34" charset="-122"/>
                <a:cs typeface="Georgia" pitchFamily="34" charset="-120"/>
              </a:rPr>
              <a:t>4. The reach</a:t>
            </a:r>
            <a:endParaRPr lang="en-US" sz="1350" dirty="0"/>
          </a:p>
        </p:txBody>
      </p:sp>
      <p:sp>
        <p:nvSpPr>
          <p:cNvPr id="25" name="Text 19"/>
          <p:cNvSpPr/>
          <p:nvPr/>
        </p:nvSpPr>
        <p:spPr>
          <a:xfrm>
            <a:off x="7488753" y="3593592"/>
            <a:ext cx="1743395" cy="822960"/>
          </a:xfrm>
          <a:prstGeom prst="rect">
            <a:avLst/>
          </a:prstGeom>
          <a:noFill/>
          <a:ln/>
        </p:spPr>
        <p:txBody>
          <a:bodyPr wrap="square" lIns="0" tIns="0" rIns="0" bIns="0" rtlCol="0" anchor="ctr"/>
          <a:lstStyle/>
          <a:p>
            <a:pPr marL="0" indent="0" algn="ctr">
              <a:lnSpc>
                <a:spcPct val="103000"/>
              </a:lnSpc>
              <a:buNone/>
            </a:pPr>
            <a:r>
              <a:rPr lang="en-US" sz="1050" dirty="0">
                <a:solidFill>
                  <a:srgbClr val="5A6B78"/>
                </a:solidFill>
                <a:latin typeface="Calibri" pitchFamily="34" charset="0"/>
                <a:ea typeface="Calibri" pitchFamily="34" charset="-122"/>
                <a:cs typeface="Calibri" pitchFamily="34" charset="-120"/>
              </a:rPr>
              <a:t>Interpolating within data, or extrapolating beyond? Extrapolation needs mechanism.</a:t>
            </a:r>
            <a:endParaRPr lang="en-US" sz="1050" dirty="0"/>
          </a:p>
        </p:txBody>
      </p:sp>
      <p:sp>
        <p:nvSpPr>
          <p:cNvPr id="26" name="Shape 20"/>
          <p:cNvSpPr/>
          <p:nvPr/>
        </p:nvSpPr>
        <p:spPr>
          <a:xfrm>
            <a:off x="9607052" y="1965960"/>
            <a:ext cx="2036003" cy="25146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7" name="Shape 21"/>
          <p:cNvSpPr/>
          <p:nvPr/>
        </p:nvSpPr>
        <p:spPr>
          <a:xfrm>
            <a:off x="10259294" y="2221992"/>
            <a:ext cx="731520" cy="731520"/>
          </a:xfrm>
          <a:prstGeom prst="ellipse">
            <a:avLst/>
          </a:prstGeom>
          <a:solidFill>
            <a:srgbClr val="1C7293"/>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10449489" y="2412187"/>
            <a:ext cx="351130" cy="351130"/>
          </a:xfrm>
          <a:prstGeom prst="rect">
            <a:avLst/>
          </a:prstGeom>
        </p:spPr>
      </p:pic>
      <p:sp>
        <p:nvSpPr>
          <p:cNvPr id="29" name="Text 22"/>
          <p:cNvSpPr/>
          <p:nvPr/>
        </p:nvSpPr>
        <p:spPr>
          <a:xfrm>
            <a:off x="9698492" y="3063240"/>
            <a:ext cx="1853123" cy="502920"/>
          </a:xfrm>
          <a:prstGeom prst="rect">
            <a:avLst/>
          </a:prstGeom>
          <a:noFill/>
          <a:ln/>
        </p:spPr>
        <p:txBody>
          <a:bodyPr wrap="square" lIns="0" tIns="0" rIns="0" bIns="0" rtlCol="0" anchor="ctr"/>
          <a:lstStyle/>
          <a:p>
            <a:pPr marL="0" indent="0" algn="ctr">
              <a:buNone/>
            </a:pPr>
            <a:r>
              <a:rPr lang="en-US" sz="1350" b="1" dirty="0">
                <a:solidFill>
                  <a:srgbClr val="13293D"/>
                </a:solidFill>
                <a:latin typeface="Georgia" pitchFamily="34" charset="0"/>
                <a:ea typeface="Georgia" pitchFamily="34" charset="-122"/>
                <a:cs typeface="Georgia" pitchFamily="34" charset="-120"/>
              </a:rPr>
              <a:t>5. Credibility</a:t>
            </a:r>
            <a:endParaRPr lang="en-US" sz="1350" dirty="0"/>
          </a:p>
        </p:txBody>
      </p:sp>
      <p:sp>
        <p:nvSpPr>
          <p:cNvPr id="30" name="Text 23"/>
          <p:cNvSpPr/>
          <p:nvPr/>
        </p:nvSpPr>
        <p:spPr>
          <a:xfrm>
            <a:off x="9753356" y="3593592"/>
            <a:ext cx="1743395" cy="822960"/>
          </a:xfrm>
          <a:prstGeom prst="rect">
            <a:avLst/>
          </a:prstGeom>
          <a:noFill/>
          <a:ln/>
        </p:spPr>
        <p:txBody>
          <a:bodyPr wrap="square" lIns="0" tIns="0" rIns="0" bIns="0" rtlCol="0" anchor="ctr"/>
          <a:lstStyle/>
          <a:p>
            <a:pPr marL="0" indent="0" algn="ctr">
              <a:lnSpc>
                <a:spcPct val="103000"/>
              </a:lnSpc>
              <a:buNone/>
            </a:pPr>
            <a:r>
              <a:rPr lang="en-US" sz="1050" dirty="0">
                <a:solidFill>
                  <a:srgbClr val="5A6B78"/>
                </a:solidFill>
                <a:latin typeface="Calibri" pitchFamily="34" charset="0"/>
                <a:ea typeface="Calibri" pitchFamily="34" charset="-122"/>
                <a:cs typeface="Calibri" pitchFamily="34" charset="-120"/>
              </a:rPr>
              <a:t>What level of validation / regulatory acceptance is required?</a:t>
            </a:r>
            <a:endParaRPr lang="en-US" sz="1050" dirty="0"/>
          </a:p>
        </p:txBody>
      </p:sp>
      <p:sp>
        <p:nvSpPr>
          <p:cNvPr id="31" name="Shape 24"/>
          <p:cNvSpPr/>
          <p:nvPr/>
        </p:nvSpPr>
        <p:spPr>
          <a:xfrm>
            <a:off x="548640" y="4892040"/>
            <a:ext cx="11094415" cy="1051560"/>
          </a:xfrm>
          <a:prstGeom prst="roundRect">
            <a:avLst>
              <a:gd name="adj" fmla="val 6957"/>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32" name="Shape 25"/>
          <p:cNvSpPr/>
          <p:nvPr/>
        </p:nvSpPr>
        <p:spPr>
          <a:xfrm>
            <a:off x="822960" y="5138928"/>
            <a:ext cx="548640" cy="548640"/>
          </a:xfrm>
          <a:prstGeom prst="ellipse">
            <a:avLst/>
          </a:prstGeom>
          <a:solidFill>
            <a:srgbClr val="D98C3E"/>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965606" y="5281574"/>
            <a:ext cx="263347" cy="263347"/>
          </a:xfrm>
          <a:prstGeom prst="rect">
            <a:avLst/>
          </a:prstGeom>
        </p:spPr>
      </p:pic>
      <p:sp>
        <p:nvSpPr>
          <p:cNvPr id="34" name="Text 26"/>
          <p:cNvSpPr/>
          <p:nvPr/>
        </p:nvSpPr>
        <p:spPr>
          <a:xfrm>
            <a:off x="1554480" y="4983480"/>
            <a:ext cx="9814255" cy="868680"/>
          </a:xfrm>
          <a:prstGeom prst="rect">
            <a:avLst/>
          </a:prstGeom>
          <a:noFill/>
          <a:ln/>
        </p:spPr>
        <p:txBody>
          <a:bodyPr wrap="square" lIns="0" tIns="0" rIns="0" bIns="0" rtlCol="0" anchor="ctr"/>
          <a:lstStyle/>
          <a:p>
            <a:pPr marL="0" indent="0">
              <a:lnSpc>
                <a:spcPct val="108000"/>
              </a:lnSpc>
              <a:buNone/>
            </a:pPr>
            <a:r>
              <a:rPr lang="en-US" sz="1350" b="1" dirty="0">
                <a:solidFill>
                  <a:srgbClr val="FFFFFF"/>
                </a:solidFill>
                <a:latin typeface="Calibri" pitchFamily="34" charset="0"/>
                <a:ea typeface="Calibri" pitchFamily="34" charset="-122"/>
                <a:cs typeface="Calibri" pitchFamily="34" charset="-120"/>
              </a:rPr>
              <a:t>Then apply parsimony:  </a:t>
            </a:r>
            <a:r>
              <a:rPr lang="en-US" sz="1350" dirty="0">
                <a:solidFill>
                  <a:srgbClr val="CFE0E8"/>
                </a:solidFill>
                <a:latin typeface="Calibri" pitchFamily="34" charset="0"/>
                <a:ea typeface="Calibri" pitchFamily="34" charset="-122"/>
                <a:cs typeface="Calibri" pitchFamily="34" charset="-120"/>
              </a:rPr>
              <a:t>choose the simplest approach that answers the question with adequate confidence. Add complexity — or a second approach — only when a real gap remains.</a:t>
            </a:r>
            <a:endParaRPr lang="en-US" sz="1350" dirty="0"/>
          </a:p>
        </p:txBody>
      </p:sp>
      <p:sp>
        <p:nvSpPr>
          <p:cNvPr id="36"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37" name="Text 28"/>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WHEN TO COMBINE</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One approach — or a hybrid strategy?</a:t>
            </a:r>
            <a:endParaRPr lang="en-US" sz="2600" dirty="0"/>
          </a:p>
        </p:txBody>
      </p:sp>
      <p:sp>
        <p:nvSpPr>
          <p:cNvPr id="5" name="Shape 3"/>
          <p:cNvSpPr/>
          <p:nvPr/>
        </p:nvSpPr>
        <p:spPr>
          <a:xfrm>
            <a:off x="548640" y="1600200"/>
            <a:ext cx="5364328" cy="3383280"/>
          </a:xfrm>
          <a:prstGeom prst="roundRect">
            <a:avLst>
              <a:gd name="adj" fmla="val 2162"/>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548640" y="1600200"/>
            <a:ext cx="5364328" cy="548640"/>
          </a:xfrm>
          <a:prstGeom prst="rect">
            <a:avLst/>
          </a:prstGeom>
          <a:solidFill>
            <a:srgbClr val="2E8B72"/>
          </a:solidFill>
          <a:ln/>
        </p:spPr>
        <p:txBody>
          <a:bodyPr/>
          <a:lstStyle/>
          <a:p>
            <a:endParaRPr lang="en-US"/>
          </a:p>
        </p:txBody>
      </p:sp>
      <p:sp>
        <p:nvSpPr>
          <p:cNvPr id="7" name="Shape 5"/>
          <p:cNvSpPr/>
          <p:nvPr/>
        </p:nvSpPr>
        <p:spPr>
          <a:xfrm>
            <a:off x="731520" y="1673352"/>
            <a:ext cx="402336" cy="402336"/>
          </a:xfrm>
          <a:prstGeom prst="ellipse">
            <a:avLst/>
          </a:prstGeom>
          <a:solidFill>
            <a:srgbClr val="FFFFFF"/>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6127" y="1777959"/>
            <a:ext cx="193121" cy="193121"/>
          </a:xfrm>
          <a:prstGeom prst="rect">
            <a:avLst/>
          </a:prstGeom>
        </p:spPr>
      </p:pic>
      <p:sp>
        <p:nvSpPr>
          <p:cNvPr id="9" name="Text 6"/>
          <p:cNvSpPr/>
          <p:nvPr/>
        </p:nvSpPr>
        <p:spPr>
          <a:xfrm>
            <a:off x="1234440" y="1600200"/>
            <a:ext cx="4541368" cy="5486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 single approach is enough when…</a:t>
            </a:r>
            <a:endParaRPr lang="en-US" sz="1500" dirty="0"/>
          </a:p>
        </p:txBody>
      </p:sp>
      <p:sp>
        <p:nvSpPr>
          <p:cNvPr id="10" name="Text 7"/>
          <p:cNvSpPr/>
          <p:nvPr/>
        </p:nvSpPr>
        <p:spPr>
          <a:xfrm>
            <a:off x="868680" y="2350008"/>
            <a:ext cx="4724248" cy="2423160"/>
          </a:xfrm>
          <a:prstGeom prst="rect">
            <a:avLst/>
          </a:prstGeom>
          <a:noFill/>
          <a:ln/>
        </p:spPr>
        <p:txBody>
          <a:bodyPr wrap="square" lIns="0" tIns="0" rIns="0" bIns="0" rtlCol="0" anchor="ctr"/>
          <a:lstStyle/>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The question is well-trodden and narrow</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Adequate, relevant data already exist</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You are interpolating within that data</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Stakes are moderate; time is short</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One method's outputs directly answer it</a:t>
            </a:r>
            <a:endParaRPr lang="en-US" sz="1350" dirty="0"/>
          </a:p>
        </p:txBody>
      </p:sp>
      <p:sp>
        <p:nvSpPr>
          <p:cNvPr id="11" name="Shape 8"/>
          <p:cNvSpPr/>
          <p:nvPr/>
        </p:nvSpPr>
        <p:spPr>
          <a:xfrm>
            <a:off x="6278728" y="1600200"/>
            <a:ext cx="5364328" cy="3383280"/>
          </a:xfrm>
          <a:prstGeom prst="roundRect">
            <a:avLst>
              <a:gd name="adj" fmla="val 2162"/>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2" name="Shape 9"/>
          <p:cNvSpPr/>
          <p:nvPr/>
        </p:nvSpPr>
        <p:spPr>
          <a:xfrm>
            <a:off x="6278728" y="1600200"/>
            <a:ext cx="5364328" cy="548640"/>
          </a:xfrm>
          <a:prstGeom prst="rect">
            <a:avLst/>
          </a:prstGeom>
          <a:solidFill>
            <a:srgbClr val="1C7293"/>
          </a:solidFill>
          <a:ln/>
        </p:spPr>
        <p:txBody>
          <a:bodyPr/>
          <a:lstStyle/>
          <a:p>
            <a:endParaRPr lang="en-US"/>
          </a:p>
        </p:txBody>
      </p:sp>
      <p:sp>
        <p:nvSpPr>
          <p:cNvPr id="13" name="Shape 10"/>
          <p:cNvSpPr/>
          <p:nvPr/>
        </p:nvSpPr>
        <p:spPr>
          <a:xfrm>
            <a:off x="6461608" y="1673352"/>
            <a:ext cx="402336" cy="402336"/>
          </a:xfrm>
          <a:prstGeom prst="ellipse">
            <a:avLst/>
          </a:prstGeom>
          <a:solidFill>
            <a:srgbClr val="FFFFFF"/>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6566215" y="1777959"/>
            <a:ext cx="193121" cy="193121"/>
          </a:xfrm>
          <a:prstGeom prst="rect">
            <a:avLst/>
          </a:prstGeom>
        </p:spPr>
      </p:pic>
      <p:sp>
        <p:nvSpPr>
          <p:cNvPr id="15" name="Text 11"/>
          <p:cNvSpPr/>
          <p:nvPr/>
        </p:nvSpPr>
        <p:spPr>
          <a:xfrm>
            <a:off x="6964528" y="1600200"/>
            <a:ext cx="4541368" cy="5486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 hybrid strategy adds value when…</a:t>
            </a:r>
            <a:endParaRPr lang="en-US" sz="1500" dirty="0"/>
          </a:p>
        </p:txBody>
      </p:sp>
      <p:sp>
        <p:nvSpPr>
          <p:cNvPr id="16" name="Text 12"/>
          <p:cNvSpPr/>
          <p:nvPr/>
        </p:nvSpPr>
        <p:spPr>
          <a:xfrm>
            <a:off x="6598768" y="2350008"/>
            <a:ext cx="4724248" cy="2423160"/>
          </a:xfrm>
          <a:prstGeom prst="rect">
            <a:avLst/>
          </a:prstGeom>
          <a:noFill/>
          <a:ln/>
        </p:spPr>
        <p:txBody>
          <a:bodyPr wrap="square" lIns="0" tIns="0" rIns="0" bIns="0" rtlCol="0" anchor="ctr"/>
          <a:lstStyle/>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The question spans scales or stages (molecule → system, preclinical → clinical)</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You need both mechanism and population variability</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You must extrapolate beyond available data</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The decision is high-stakes — you want convergent evidence</a:t>
            </a:r>
            <a:endParaRPr lang="en-US" sz="1350" dirty="0"/>
          </a:p>
          <a:p>
            <a:pPr marL="177800" indent="-177800">
              <a:spcAft>
                <a:spcPts val="1400"/>
              </a:spcAft>
              <a:buSzPct val="100000"/>
              <a:buChar char="•"/>
            </a:pPr>
            <a:r>
              <a:rPr lang="en-US" sz="1350" dirty="0">
                <a:solidFill>
                  <a:srgbClr val="1E2A33"/>
                </a:solidFill>
                <a:latin typeface="Calibri" pitchFamily="34" charset="0"/>
                <a:ea typeface="Calibri" pitchFamily="34" charset="-122"/>
                <a:cs typeface="Calibri" pitchFamily="34" charset="-120"/>
              </a:rPr>
              <a:t>One approach's weakness is another's strength</a:t>
            </a:r>
            <a:endParaRPr lang="en-US" sz="1350" dirty="0"/>
          </a:p>
        </p:txBody>
      </p:sp>
      <p:sp>
        <p:nvSpPr>
          <p:cNvPr id="17" name="Text 13"/>
          <p:cNvSpPr/>
          <p:nvPr/>
        </p:nvSpPr>
        <p:spPr>
          <a:xfrm>
            <a:off x="548640" y="5486400"/>
            <a:ext cx="11094415" cy="457200"/>
          </a:xfrm>
          <a:prstGeom prst="rect">
            <a:avLst/>
          </a:prstGeom>
          <a:noFill/>
          <a:ln/>
        </p:spPr>
        <p:txBody>
          <a:bodyPr wrap="square" lIns="0" tIns="0" rIns="0" bIns="0" rtlCol="0" anchor="ctr"/>
          <a:lstStyle/>
          <a:p>
            <a:pPr marL="0" indent="0" algn="ctr">
              <a:buNone/>
            </a:pPr>
            <a:r>
              <a:rPr lang="en-US" sz="1350" b="1" dirty="0">
                <a:solidFill>
                  <a:srgbClr val="13293D"/>
                </a:solidFill>
                <a:latin typeface="Calibri" pitchFamily="34" charset="0"/>
                <a:ea typeface="Calibri" pitchFamily="34" charset="-122"/>
                <a:cs typeface="Calibri" pitchFamily="34" charset="-120"/>
              </a:rPr>
              <a:t>Hybrid ≠ more complex for its own sake.  </a:t>
            </a:r>
            <a:r>
              <a:rPr lang="en-US" sz="1350" dirty="0">
                <a:solidFill>
                  <a:srgbClr val="1E2A33"/>
                </a:solidFill>
                <a:latin typeface="Calibri" pitchFamily="34" charset="0"/>
                <a:ea typeface="Calibri" pitchFamily="34" charset="-122"/>
                <a:cs typeface="Calibri" pitchFamily="34" charset="-120"/>
              </a:rPr>
              <a:t>It is a deliberate choice to cover a gap that a single approach cannot.</a:t>
            </a:r>
            <a:endParaRPr lang="en-US" sz="1350" dirty="0"/>
          </a:p>
        </p:txBody>
      </p:sp>
      <p:sp>
        <p:nvSpPr>
          <p:cNvPr id="19" name="Text 1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0" name="Text 15"/>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FOUR WAYS TO COMBINE</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A taxonomy of hybrid strategies</a:t>
            </a:r>
            <a:endParaRPr lang="en-US" sz="2600" dirty="0"/>
          </a:p>
        </p:txBody>
      </p:sp>
      <p:sp>
        <p:nvSpPr>
          <p:cNvPr id="5" name="Shape 3"/>
          <p:cNvSpPr/>
          <p:nvPr/>
        </p:nvSpPr>
        <p:spPr>
          <a:xfrm>
            <a:off x="548640" y="1463040"/>
            <a:ext cx="5364328" cy="2148840"/>
          </a:xfrm>
          <a:prstGeom prst="roundRect">
            <a:avLst>
              <a:gd name="adj" fmla="val 3404"/>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548640" y="1463040"/>
            <a:ext cx="100584" cy="2148840"/>
          </a:xfrm>
          <a:prstGeom prst="rect">
            <a:avLst/>
          </a:prstGeom>
          <a:solidFill>
            <a:srgbClr val="1C7293"/>
          </a:solidFill>
          <a:ln/>
        </p:spPr>
        <p:txBody>
          <a:bodyPr/>
          <a:lstStyle/>
          <a:p>
            <a:endParaRPr lang="en-US"/>
          </a:p>
        </p:txBody>
      </p:sp>
      <p:sp>
        <p:nvSpPr>
          <p:cNvPr id="7" name="Shape 5"/>
          <p:cNvSpPr/>
          <p:nvPr/>
        </p:nvSpPr>
        <p:spPr>
          <a:xfrm>
            <a:off x="868680" y="1828800"/>
            <a:ext cx="777240" cy="777240"/>
          </a:xfrm>
          <a:prstGeom prst="ellipse">
            <a:avLst/>
          </a:prstGeom>
          <a:solidFill>
            <a:srgbClr val="1C7293"/>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70762" y="2030882"/>
            <a:ext cx="373075" cy="373075"/>
          </a:xfrm>
          <a:prstGeom prst="rect">
            <a:avLst/>
          </a:prstGeom>
        </p:spPr>
      </p:pic>
      <p:sp>
        <p:nvSpPr>
          <p:cNvPr id="9" name="Text 6"/>
          <p:cNvSpPr/>
          <p:nvPr/>
        </p:nvSpPr>
        <p:spPr>
          <a:xfrm>
            <a:off x="1874520" y="1783080"/>
            <a:ext cx="3855568" cy="548640"/>
          </a:xfrm>
          <a:prstGeom prst="rect">
            <a:avLst/>
          </a:prstGeom>
          <a:noFill/>
          <a:ln/>
        </p:spPr>
        <p:txBody>
          <a:bodyPr wrap="square" lIns="0" tIns="0" rIns="0" bIns="0" rtlCol="0" anchor="ctr"/>
          <a:lstStyle/>
          <a:p>
            <a:pPr marL="0" indent="0">
              <a:buNone/>
            </a:pPr>
            <a:r>
              <a:rPr lang="en-US" sz="1800" b="1" dirty="0">
                <a:solidFill>
                  <a:srgbClr val="13293D"/>
                </a:solidFill>
                <a:latin typeface="Georgia" pitchFamily="34" charset="0"/>
                <a:ea typeface="Georgia" pitchFamily="34" charset="-122"/>
                <a:cs typeface="Georgia" pitchFamily="34" charset="-120"/>
              </a:rPr>
              <a:t>Sequential</a:t>
            </a:r>
            <a:endParaRPr lang="en-US" sz="1800" dirty="0"/>
          </a:p>
        </p:txBody>
      </p:sp>
      <p:sp>
        <p:nvSpPr>
          <p:cNvPr id="10" name="Text 7"/>
          <p:cNvSpPr/>
          <p:nvPr/>
        </p:nvSpPr>
        <p:spPr>
          <a:xfrm>
            <a:off x="1874520" y="2377440"/>
            <a:ext cx="3809848" cy="1005840"/>
          </a:xfrm>
          <a:prstGeom prst="rect">
            <a:avLst/>
          </a:prstGeom>
          <a:noFill/>
          <a:ln/>
        </p:spPr>
        <p:txBody>
          <a:bodyPr wrap="square" lIns="0" tIns="0" rIns="0" bIns="0" rtlCol="0" anchor="ctr"/>
          <a:lstStyle/>
          <a:p>
            <a:pPr marL="0" indent="0">
              <a:lnSpc>
                <a:spcPct val="110000"/>
              </a:lnSpc>
              <a:buNone/>
            </a:pPr>
            <a:r>
              <a:rPr lang="en-US" sz="1300" dirty="0">
                <a:solidFill>
                  <a:srgbClr val="5A6B78"/>
                </a:solidFill>
                <a:latin typeface="Calibri" pitchFamily="34" charset="0"/>
                <a:ea typeface="Calibri" pitchFamily="34" charset="-122"/>
                <a:cs typeface="Calibri" pitchFamily="34" charset="-120"/>
              </a:rPr>
              <a:t>One model's output becomes the next model's input, in a chain.</a:t>
            </a:r>
            <a:endParaRPr lang="en-US" sz="1300" dirty="0"/>
          </a:p>
        </p:txBody>
      </p:sp>
      <p:sp>
        <p:nvSpPr>
          <p:cNvPr id="11" name="Text 8"/>
          <p:cNvSpPr/>
          <p:nvPr/>
        </p:nvSpPr>
        <p:spPr>
          <a:xfrm>
            <a:off x="5227168" y="1600200"/>
            <a:ext cx="548640" cy="548640"/>
          </a:xfrm>
          <a:prstGeom prst="rect">
            <a:avLst/>
          </a:prstGeom>
          <a:noFill/>
          <a:ln/>
        </p:spPr>
        <p:txBody>
          <a:bodyPr wrap="square" lIns="0" tIns="0" rIns="0" bIns="0" rtlCol="0" anchor="ctr"/>
          <a:lstStyle/>
          <a:p>
            <a:pPr marL="0" indent="0" algn="r">
              <a:buNone/>
            </a:pPr>
            <a:r>
              <a:rPr lang="en-US" sz="3000" b="1" dirty="0">
                <a:solidFill>
                  <a:srgbClr val="D3DCE2"/>
                </a:solidFill>
                <a:latin typeface="Georgia" pitchFamily="34" charset="0"/>
                <a:ea typeface="Georgia" pitchFamily="34" charset="-122"/>
                <a:cs typeface="Georgia" pitchFamily="34" charset="-120"/>
              </a:rPr>
              <a:t>1</a:t>
            </a:r>
            <a:endParaRPr lang="en-US" sz="3000" dirty="0"/>
          </a:p>
        </p:txBody>
      </p:sp>
      <p:sp>
        <p:nvSpPr>
          <p:cNvPr id="12" name="Shape 9"/>
          <p:cNvSpPr/>
          <p:nvPr/>
        </p:nvSpPr>
        <p:spPr>
          <a:xfrm>
            <a:off x="6278728" y="1463040"/>
            <a:ext cx="5364328" cy="2148840"/>
          </a:xfrm>
          <a:prstGeom prst="roundRect">
            <a:avLst>
              <a:gd name="adj" fmla="val 3404"/>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3" name="Shape 10"/>
          <p:cNvSpPr/>
          <p:nvPr/>
        </p:nvSpPr>
        <p:spPr>
          <a:xfrm>
            <a:off x="6278728" y="1463040"/>
            <a:ext cx="100584" cy="2148840"/>
          </a:xfrm>
          <a:prstGeom prst="rect">
            <a:avLst/>
          </a:prstGeom>
          <a:solidFill>
            <a:srgbClr val="2E8B72"/>
          </a:solidFill>
          <a:ln/>
        </p:spPr>
        <p:txBody>
          <a:bodyPr/>
          <a:lstStyle/>
          <a:p>
            <a:endParaRPr lang="en-US"/>
          </a:p>
        </p:txBody>
      </p:sp>
      <p:sp>
        <p:nvSpPr>
          <p:cNvPr id="14" name="Shape 11"/>
          <p:cNvSpPr/>
          <p:nvPr/>
        </p:nvSpPr>
        <p:spPr>
          <a:xfrm>
            <a:off x="6598768" y="1828800"/>
            <a:ext cx="777240" cy="777240"/>
          </a:xfrm>
          <a:prstGeom prst="ellipse">
            <a:avLst/>
          </a:prstGeom>
          <a:solidFill>
            <a:srgbClr val="2E8B72"/>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6800850" y="2030882"/>
            <a:ext cx="373075" cy="373075"/>
          </a:xfrm>
          <a:prstGeom prst="rect">
            <a:avLst/>
          </a:prstGeom>
        </p:spPr>
      </p:pic>
      <p:sp>
        <p:nvSpPr>
          <p:cNvPr id="16" name="Text 12"/>
          <p:cNvSpPr/>
          <p:nvPr/>
        </p:nvSpPr>
        <p:spPr>
          <a:xfrm>
            <a:off x="7604608" y="1783080"/>
            <a:ext cx="3855568" cy="548640"/>
          </a:xfrm>
          <a:prstGeom prst="rect">
            <a:avLst/>
          </a:prstGeom>
          <a:noFill/>
          <a:ln/>
        </p:spPr>
        <p:txBody>
          <a:bodyPr wrap="square" lIns="0" tIns="0" rIns="0" bIns="0" rtlCol="0" anchor="ctr"/>
          <a:lstStyle/>
          <a:p>
            <a:pPr marL="0" indent="0">
              <a:buNone/>
            </a:pPr>
            <a:r>
              <a:rPr lang="en-US" sz="1800" b="1" dirty="0">
                <a:solidFill>
                  <a:srgbClr val="13293D"/>
                </a:solidFill>
                <a:latin typeface="Georgia" pitchFamily="34" charset="0"/>
                <a:ea typeface="Georgia" pitchFamily="34" charset="-122"/>
                <a:cs typeface="Georgia" pitchFamily="34" charset="-120"/>
              </a:rPr>
              <a:t>Parallel</a:t>
            </a:r>
            <a:endParaRPr lang="en-US" sz="1800" dirty="0"/>
          </a:p>
        </p:txBody>
      </p:sp>
      <p:sp>
        <p:nvSpPr>
          <p:cNvPr id="17" name="Text 13"/>
          <p:cNvSpPr/>
          <p:nvPr/>
        </p:nvSpPr>
        <p:spPr>
          <a:xfrm>
            <a:off x="7604608" y="2377440"/>
            <a:ext cx="3809848" cy="1005840"/>
          </a:xfrm>
          <a:prstGeom prst="rect">
            <a:avLst/>
          </a:prstGeom>
          <a:noFill/>
          <a:ln/>
        </p:spPr>
        <p:txBody>
          <a:bodyPr wrap="square" lIns="0" tIns="0" rIns="0" bIns="0" rtlCol="0" anchor="ctr"/>
          <a:lstStyle/>
          <a:p>
            <a:pPr marL="0" indent="0">
              <a:lnSpc>
                <a:spcPct val="110000"/>
              </a:lnSpc>
              <a:buNone/>
            </a:pPr>
            <a:r>
              <a:rPr lang="en-US" sz="1300" dirty="0">
                <a:solidFill>
                  <a:srgbClr val="5A6B78"/>
                </a:solidFill>
                <a:latin typeface="Calibri" pitchFamily="34" charset="0"/>
                <a:ea typeface="Calibri" pitchFamily="34" charset="-122"/>
                <a:cs typeface="Calibri" pitchFamily="34" charset="-120"/>
              </a:rPr>
              <a:t>Independent models answer different facets, then are triangulated.</a:t>
            </a:r>
            <a:endParaRPr lang="en-US" sz="1300" dirty="0"/>
          </a:p>
        </p:txBody>
      </p:sp>
      <p:sp>
        <p:nvSpPr>
          <p:cNvPr id="18" name="Text 14"/>
          <p:cNvSpPr/>
          <p:nvPr/>
        </p:nvSpPr>
        <p:spPr>
          <a:xfrm>
            <a:off x="10957255" y="1600200"/>
            <a:ext cx="548640" cy="548640"/>
          </a:xfrm>
          <a:prstGeom prst="rect">
            <a:avLst/>
          </a:prstGeom>
          <a:noFill/>
          <a:ln/>
        </p:spPr>
        <p:txBody>
          <a:bodyPr wrap="square" lIns="0" tIns="0" rIns="0" bIns="0" rtlCol="0" anchor="ctr"/>
          <a:lstStyle/>
          <a:p>
            <a:pPr marL="0" indent="0" algn="r">
              <a:buNone/>
            </a:pPr>
            <a:r>
              <a:rPr lang="en-US" sz="3000" b="1" dirty="0">
                <a:solidFill>
                  <a:srgbClr val="D3DCE2"/>
                </a:solidFill>
                <a:latin typeface="Georgia" pitchFamily="34" charset="0"/>
                <a:ea typeface="Georgia" pitchFamily="34" charset="-122"/>
                <a:cs typeface="Georgia" pitchFamily="34" charset="-120"/>
              </a:rPr>
              <a:t>2</a:t>
            </a:r>
            <a:endParaRPr lang="en-US" sz="3000" dirty="0"/>
          </a:p>
        </p:txBody>
      </p:sp>
      <p:sp>
        <p:nvSpPr>
          <p:cNvPr id="19" name="Shape 15"/>
          <p:cNvSpPr/>
          <p:nvPr/>
        </p:nvSpPr>
        <p:spPr>
          <a:xfrm>
            <a:off x="548640" y="3931920"/>
            <a:ext cx="5364328" cy="2148840"/>
          </a:xfrm>
          <a:prstGeom prst="roundRect">
            <a:avLst>
              <a:gd name="adj" fmla="val 3404"/>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0" name="Shape 16"/>
          <p:cNvSpPr/>
          <p:nvPr/>
        </p:nvSpPr>
        <p:spPr>
          <a:xfrm>
            <a:off x="548640" y="3931920"/>
            <a:ext cx="100584" cy="2148840"/>
          </a:xfrm>
          <a:prstGeom prst="rect">
            <a:avLst/>
          </a:prstGeom>
          <a:solidFill>
            <a:srgbClr val="5B5F97"/>
          </a:solidFill>
          <a:ln/>
        </p:spPr>
        <p:txBody>
          <a:bodyPr/>
          <a:lstStyle/>
          <a:p>
            <a:endParaRPr lang="en-US"/>
          </a:p>
        </p:txBody>
      </p:sp>
      <p:sp>
        <p:nvSpPr>
          <p:cNvPr id="21" name="Shape 17"/>
          <p:cNvSpPr/>
          <p:nvPr/>
        </p:nvSpPr>
        <p:spPr>
          <a:xfrm>
            <a:off x="868680" y="4297680"/>
            <a:ext cx="777240" cy="777240"/>
          </a:xfrm>
          <a:prstGeom prst="ellipse">
            <a:avLst/>
          </a:prstGeom>
          <a:solidFill>
            <a:srgbClr val="5B5F97"/>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1070762" y="4499762"/>
            <a:ext cx="373075" cy="373075"/>
          </a:xfrm>
          <a:prstGeom prst="rect">
            <a:avLst/>
          </a:prstGeom>
        </p:spPr>
      </p:pic>
      <p:sp>
        <p:nvSpPr>
          <p:cNvPr id="23" name="Text 18"/>
          <p:cNvSpPr/>
          <p:nvPr/>
        </p:nvSpPr>
        <p:spPr>
          <a:xfrm>
            <a:off x="1874520" y="4251960"/>
            <a:ext cx="3855568" cy="548640"/>
          </a:xfrm>
          <a:prstGeom prst="rect">
            <a:avLst/>
          </a:prstGeom>
          <a:noFill/>
          <a:ln/>
        </p:spPr>
        <p:txBody>
          <a:bodyPr wrap="square" lIns="0" tIns="0" rIns="0" bIns="0" rtlCol="0" anchor="ctr"/>
          <a:lstStyle/>
          <a:p>
            <a:pPr marL="0" indent="0">
              <a:buNone/>
            </a:pPr>
            <a:r>
              <a:rPr lang="en-US" sz="1800" b="1" dirty="0">
                <a:solidFill>
                  <a:srgbClr val="13293D"/>
                </a:solidFill>
                <a:latin typeface="Georgia" pitchFamily="34" charset="0"/>
                <a:ea typeface="Georgia" pitchFamily="34" charset="-122"/>
                <a:cs typeface="Georgia" pitchFamily="34" charset="-120"/>
              </a:rPr>
              <a:t>Cross-informative</a:t>
            </a:r>
            <a:endParaRPr lang="en-US" sz="1800" dirty="0"/>
          </a:p>
        </p:txBody>
      </p:sp>
      <p:sp>
        <p:nvSpPr>
          <p:cNvPr id="24" name="Text 19"/>
          <p:cNvSpPr/>
          <p:nvPr/>
        </p:nvSpPr>
        <p:spPr>
          <a:xfrm>
            <a:off x="1874520" y="4846320"/>
            <a:ext cx="3809848" cy="1005840"/>
          </a:xfrm>
          <a:prstGeom prst="rect">
            <a:avLst/>
          </a:prstGeom>
          <a:noFill/>
          <a:ln/>
        </p:spPr>
        <p:txBody>
          <a:bodyPr wrap="square" lIns="0" tIns="0" rIns="0" bIns="0" rtlCol="0" anchor="ctr"/>
          <a:lstStyle/>
          <a:p>
            <a:pPr marL="0" indent="0">
              <a:lnSpc>
                <a:spcPct val="110000"/>
              </a:lnSpc>
              <a:buNone/>
            </a:pPr>
            <a:r>
              <a:rPr lang="en-US" sz="1300" dirty="0">
                <a:solidFill>
                  <a:srgbClr val="5A6B78"/>
                </a:solidFill>
                <a:latin typeface="Calibri" pitchFamily="34" charset="0"/>
                <a:ea typeface="Calibri" pitchFamily="34" charset="-122"/>
                <a:cs typeface="Calibri" pitchFamily="34" charset="-120"/>
              </a:rPr>
              <a:t>Models exchange information to calibrate or constrain each other.</a:t>
            </a:r>
            <a:endParaRPr lang="en-US" sz="1300" dirty="0"/>
          </a:p>
        </p:txBody>
      </p:sp>
      <p:sp>
        <p:nvSpPr>
          <p:cNvPr id="25" name="Text 20"/>
          <p:cNvSpPr/>
          <p:nvPr/>
        </p:nvSpPr>
        <p:spPr>
          <a:xfrm>
            <a:off x="5227168" y="4069080"/>
            <a:ext cx="548640" cy="548640"/>
          </a:xfrm>
          <a:prstGeom prst="rect">
            <a:avLst/>
          </a:prstGeom>
          <a:noFill/>
          <a:ln/>
        </p:spPr>
        <p:txBody>
          <a:bodyPr wrap="square" lIns="0" tIns="0" rIns="0" bIns="0" rtlCol="0" anchor="ctr"/>
          <a:lstStyle/>
          <a:p>
            <a:pPr marL="0" indent="0" algn="r">
              <a:buNone/>
            </a:pPr>
            <a:r>
              <a:rPr lang="en-US" sz="3000" b="1" dirty="0">
                <a:solidFill>
                  <a:srgbClr val="D3DCE2"/>
                </a:solidFill>
                <a:latin typeface="Georgia" pitchFamily="34" charset="0"/>
                <a:ea typeface="Georgia" pitchFamily="34" charset="-122"/>
                <a:cs typeface="Georgia" pitchFamily="34" charset="-120"/>
              </a:rPr>
              <a:t>3</a:t>
            </a:r>
            <a:endParaRPr lang="en-US" sz="3000" dirty="0"/>
          </a:p>
        </p:txBody>
      </p:sp>
      <p:sp>
        <p:nvSpPr>
          <p:cNvPr id="26" name="Shape 21"/>
          <p:cNvSpPr/>
          <p:nvPr/>
        </p:nvSpPr>
        <p:spPr>
          <a:xfrm>
            <a:off x="6278728" y="3931920"/>
            <a:ext cx="5364328" cy="2148840"/>
          </a:xfrm>
          <a:prstGeom prst="roundRect">
            <a:avLst>
              <a:gd name="adj" fmla="val 3404"/>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7" name="Shape 22"/>
          <p:cNvSpPr/>
          <p:nvPr/>
        </p:nvSpPr>
        <p:spPr>
          <a:xfrm>
            <a:off x="6278728" y="3931920"/>
            <a:ext cx="100584" cy="2148840"/>
          </a:xfrm>
          <a:prstGeom prst="rect">
            <a:avLst/>
          </a:prstGeom>
          <a:solidFill>
            <a:srgbClr val="D98C3E"/>
          </a:solidFill>
          <a:ln/>
        </p:spPr>
        <p:txBody>
          <a:bodyPr/>
          <a:lstStyle/>
          <a:p>
            <a:endParaRPr lang="en-US"/>
          </a:p>
        </p:txBody>
      </p:sp>
      <p:sp>
        <p:nvSpPr>
          <p:cNvPr id="28" name="Shape 23"/>
          <p:cNvSpPr/>
          <p:nvPr/>
        </p:nvSpPr>
        <p:spPr>
          <a:xfrm>
            <a:off x="6598768" y="4297680"/>
            <a:ext cx="777240" cy="777240"/>
          </a:xfrm>
          <a:prstGeom prst="ellipse">
            <a:avLst/>
          </a:prstGeom>
          <a:solidFill>
            <a:srgbClr val="D98C3E"/>
          </a:solidFill>
          <a:ln/>
        </p:spPr>
        <p:txBody>
          <a:bodyPr/>
          <a:lstStyle/>
          <a:p>
            <a:endParaRPr lang="en-US"/>
          </a:p>
        </p:txBody>
      </p:sp>
      <p:pic>
        <p:nvPicPr>
          <p:cNvPr id="29" name="Image 3" descr="preencoded.png"/>
          <p:cNvPicPr>
            <a:picLocks noChangeAspect="1"/>
          </p:cNvPicPr>
          <p:nvPr/>
        </p:nvPicPr>
        <p:blipFill>
          <a:blip r:embed="rId6"/>
          <a:stretch>
            <a:fillRect/>
          </a:stretch>
        </p:blipFill>
        <p:spPr>
          <a:xfrm>
            <a:off x="6800850" y="4499762"/>
            <a:ext cx="373075" cy="373075"/>
          </a:xfrm>
          <a:prstGeom prst="rect">
            <a:avLst/>
          </a:prstGeom>
        </p:spPr>
      </p:pic>
      <p:sp>
        <p:nvSpPr>
          <p:cNvPr id="30" name="Text 24"/>
          <p:cNvSpPr/>
          <p:nvPr/>
        </p:nvSpPr>
        <p:spPr>
          <a:xfrm>
            <a:off x="7604608" y="4251960"/>
            <a:ext cx="3855568" cy="548640"/>
          </a:xfrm>
          <a:prstGeom prst="rect">
            <a:avLst/>
          </a:prstGeom>
          <a:noFill/>
          <a:ln/>
        </p:spPr>
        <p:txBody>
          <a:bodyPr wrap="square" lIns="0" tIns="0" rIns="0" bIns="0" rtlCol="0" anchor="ctr"/>
          <a:lstStyle/>
          <a:p>
            <a:pPr marL="0" indent="0">
              <a:buNone/>
            </a:pPr>
            <a:r>
              <a:rPr lang="en-US" sz="1800" b="1" dirty="0">
                <a:solidFill>
                  <a:srgbClr val="13293D"/>
                </a:solidFill>
                <a:latin typeface="Georgia" pitchFamily="34" charset="0"/>
                <a:ea typeface="Georgia" pitchFamily="34" charset="-122"/>
                <a:cs typeface="Georgia" pitchFamily="34" charset="-120"/>
              </a:rPr>
              <a:t>Mechanistically integrated</a:t>
            </a:r>
            <a:endParaRPr lang="en-US" sz="1800" dirty="0"/>
          </a:p>
        </p:txBody>
      </p:sp>
      <p:sp>
        <p:nvSpPr>
          <p:cNvPr id="31" name="Text 25"/>
          <p:cNvSpPr/>
          <p:nvPr/>
        </p:nvSpPr>
        <p:spPr>
          <a:xfrm>
            <a:off x="7604608" y="4846320"/>
            <a:ext cx="3809848" cy="1005840"/>
          </a:xfrm>
          <a:prstGeom prst="rect">
            <a:avLst/>
          </a:prstGeom>
          <a:noFill/>
          <a:ln/>
        </p:spPr>
        <p:txBody>
          <a:bodyPr wrap="square" lIns="0" tIns="0" rIns="0" bIns="0" rtlCol="0" anchor="ctr"/>
          <a:lstStyle/>
          <a:p>
            <a:pPr marL="0" indent="0">
              <a:lnSpc>
                <a:spcPct val="110000"/>
              </a:lnSpc>
              <a:buNone/>
            </a:pPr>
            <a:r>
              <a:rPr lang="en-US" sz="1300" dirty="0">
                <a:solidFill>
                  <a:srgbClr val="5A6B78"/>
                </a:solidFill>
                <a:latin typeface="Calibri" pitchFamily="34" charset="0"/>
                <a:ea typeface="Calibri" pitchFamily="34" charset="-122"/>
                <a:cs typeface="Calibri" pitchFamily="34" charset="-120"/>
              </a:rPr>
              <a:t>Multiple mechanisms/scales fused into one unified model.</a:t>
            </a:r>
            <a:endParaRPr lang="en-US" sz="1300" dirty="0"/>
          </a:p>
        </p:txBody>
      </p:sp>
      <p:sp>
        <p:nvSpPr>
          <p:cNvPr id="32" name="Text 26"/>
          <p:cNvSpPr/>
          <p:nvPr/>
        </p:nvSpPr>
        <p:spPr>
          <a:xfrm>
            <a:off x="10957255" y="4069080"/>
            <a:ext cx="548640" cy="548640"/>
          </a:xfrm>
          <a:prstGeom prst="rect">
            <a:avLst/>
          </a:prstGeom>
          <a:noFill/>
          <a:ln/>
        </p:spPr>
        <p:txBody>
          <a:bodyPr wrap="square" lIns="0" tIns="0" rIns="0" bIns="0" rtlCol="0" anchor="ctr"/>
          <a:lstStyle/>
          <a:p>
            <a:pPr marL="0" indent="0" algn="r">
              <a:buNone/>
            </a:pPr>
            <a:r>
              <a:rPr lang="en-US" sz="3000" b="1" dirty="0">
                <a:solidFill>
                  <a:srgbClr val="D3DCE2"/>
                </a:solidFill>
                <a:latin typeface="Georgia" pitchFamily="34" charset="0"/>
                <a:ea typeface="Georgia" pitchFamily="34" charset="-122"/>
                <a:cs typeface="Georgia" pitchFamily="34" charset="-120"/>
              </a:rPr>
              <a:t>4</a:t>
            </a:r>
            <a:endParaRPr lang="en-US" sz="3000" dirty="0"/>
          </a:p>
        </p:txBody>
      </p:sp>
      <p:sp>
        <p:nvSpPr>
          <p:cNvPr id="34"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35" name="Text 28"/>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HYBRID STRATEGY</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Sequential</a:t>
            </a:r>
            <a:endParaRPr lang="en-US" sz="2600" dirty="0"/>
          </a:p>
        </p:txBody>
      </p:sp>
      <p:sp>
        <p:nvSpPr>
          <p:cNvPr id="5" name="Shape 3"/>
          <p:cNvSpPr/>
          <p:nvPr/>
        </p:nvSpPr>
        <p:spPr>
          <a:xfrm>
            <a:off x="548640" y="1371600"/>
            <a:ext cx="11094415" cy="868680"/>
          </a:xfrm>
          <a:prstGeom prst="roundRect">
            <a:avLst>
              <a:gd name="adj" fmla="val 8421"/>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822960" y="1371600"/>
            <a:ext cx="10545775" cy="868680"/>
          </a:xfrm>
          <a:prstGeom prst="rect">
            <a:avLst/>
          </a:prstGeom>
          <a:noFill/>
          <a:ln/>
        </p:spPr>
        <p:txBody>
          <a:bodyPr wrap="square" lIns="0" tIns="0" rIns="0" bIns="0" rtlCol="0" anchor="ctr"/>
          <a:lstStyle/>
          <a:p>
            <a:pPr marL="0" indent="0">
              <a:lnSpc>
                <a:spcPct val="105000"/>
              </a:lnSpc>
              <a:buNone/>
            </a:pPr>
            <a:r>
              <a:rPr lang="en-US" sz="1400" i="1" dirty="0">
                <a:solidFill>
                  <a:srgbClr val="E6EEF2"/>
                </a:solidFill>
                <a:latin typeface="Calibri" pitchFamily="34" charset="0"/>
                <a:ea typeface="Calibri" pitchFamily="34" charset="-122"/>
                <a:cs typeface="Calibri" pitchFamily="34" charset="-120"/>
              </a:rPr>
              <a:t>One approach produces an output that becomes the input for the next — a pipeline that carries information forward as the program advances.</a:t>
            </a:r>
            <a:endParaRPr lang="en-US" sz="1400" dirty="0"/>
          </a:p>
        </p:txBody>
      </p:sp>
      <p:sp>
        <p:nvSpPr>
          <p:cNvPr id="7" name="Shape 5"/>
          <p:cNvSpPr/>
          <p:nvPr/>
        </p:nvSpPr>
        <p:spPr>
          <a:xfrm>
            <a:off x="548640" y="2743200"/>
            <a:ext cx="2194560" cy="1051560"/>
          </a:xfrm>
          <a:prstGeom prst="roundRect">
            <a:avLst>
              <a:gd name="adj" fmla="val 8696"/>
            </a:avLst>
          </a:prstGeom>
          <a:solidFill>
            <a:srgbClr val="5B5F97"/>
          </a:solidFill>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594360"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PBPK</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(FIH dose)</a:t>
            </a:r>
            <a:endParaRPr lang="en-US" sz="1300" dirty="0"/>
          </a:p>
        </p:txBody>
      </p:sp>
      <p:sp>
        <p:nvSpPr>
          <p:cNvPr id="9" name="Shape 7"/>
          <p:cNvSpPr/>
          <p:nvPr/>
        </p:nvSpPr>
        <p:spPr>
          <a:xfrm>
            <a:off x="2852928" y="3268980"/>
            <a:ext cx="2035912" cy="0"/>
          </a:xfrm>
          <a:prstGeom prst="line">
            <a:avLst/>
          </a:prstGeom>
          <a:noFill/>
          <a:ln w="31750">
            <a:solidFill>
              <a:srgbClr val="5A6B78"/>
            </a:solidFill>
            <a:prstDash val="solid"/>
            <a:tailEnd type="triangle"/>
          </a:ln>
        </p:spPr>
        <p:txBody>
          <a:bodyPr/>
          <a:lstStyle/>
          <a:p>
            <a:endParaRPr lang="en-US"/>
          </a:p>
        </p:txBody>
      </p:sp>
      <p:sp>
        <p:nvSpPr>
          <p:cNvPr id="10" name="Shape 8"/>
          <p:cNvSpPr/>
          <p:nvPr/>
        </p:nvSpPr>
        <p:spPr>
          <a:xfrm>
            <a:off x="4998568" y="2743200"/>
            <a:ext cx="2194560" cy="1051560"/>
          </a:xfrm>
          <a:prstGeom prst="roundRect">
            <a:avLst>
              <a:gd name="adj" fmla="val 8696"/>
            </a:avLst>
          </a:prstGeom>
          <a:solidFill>
            <a:srgbClr val="1C7293"/>
          </a:solidFill>
          <a:ln/>
          <a:effectLst>
            <a:outerShdw blurRad="88900" dist="38100" dir="8100000" algn="bl" rotWithShape="0">
              <a:srgbClr val="000000">
                <a:alpha val="13000"/>
              </a:srgbClr>
            </a:outerShdw>
          </a:effectLst>
        </p:spPr>
        <p:txBody>
          <a:bodyPr/>
          <a:lstStyle/>
          <a:p>
            <a:endParaRPr lang="en-US"/>
          </a:p>
        </p:txBody>
      </p:sp>
      <p:sp>
        <p:nvSpPr>
          <p:cNvPr id="11" name="Text 9"/>
          <p:cNvSpPr/>
          <p:nvPr/>
        </p:nvSpPr>
        <p:spPr>
          <a:xfrm>
            <a:off x="5044288"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PopPK</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(Phase 1)</a:t>
            </a:r>
            <a:endParaRPr lang="en-US" sz="1300" dirty="0"/>
          </a:p>
        </p:txBody>
      </p:sp>
      <p:sp>
        <p:nvSpPr>
          <p:cNvPr id="12" name="Shape 10"/>
          <p:cNvSpPr/>
          <p:nvPr/>
        </p:nvSpPr>
        <p:spPr>
          <a:xfrm>
            <a:off x="7302856" y="3268980"/>
            <a:ext cx="2035912" cy="0"/>
          </a:xfrm>
          <a:prstGeom prst="line">
            <a:avLst/>
          </a:prstGeom>
          <a:noFill/>
          <a:ln w="31750">
            <a:solidFill>
              <a:srgbClr val="5A6B78"/>
            </a:solidFill>
            <a:prstDash val="solid"/>
            <a:tailEnd type="triangle"/>
          </a:ln>
        </p:spPr>
        <p:txBody>
          <a:bodyPr/>
          <a:lstStyle/>
          <a:p>
            <a:endParaRPr lang="en-US"/>
          </a:p>
        </p:txBody>
      </p:sp>
      <p:sp>
        <p:nvSpPr>
          <p:cNvPr id="13" name="Shape 11"/>
          <p:cNvSpPr/>
          <p:nvPr/>
        </p:nvSpPr>
        <p:spPr>
          <a:xfrm>
            <a:off x="9448495" y="2743200"/>
            <a:ext cx="2194560" cy="1051560"/>
          </a:xfrm>
          <a:prstGeom prst="roundRect">
            <a:avLst>
              <a:gd name="adj" fmla="val 8696"/>
            </a:avLst>
          </a:prstGeom>
          <a:solidFill>
            <a:srgbClr val="2E8B72"/>
          </a:solidFill>
          <a:ln/>
          <a:effectLst>
            <a:outerShdw blurRad="88900" dist="38100" dir="8100000" algn="bl" rotWithShape="0">
              <a:srgbClr val="000000">
                <a:alpha val="13000"/>
              </a:srgbClr>
            </a:outerShdw>
          </a:effectLst>
        </p:spPr>
        <p:txBody>
          <a:bodyPr/>
          <a:lstStyle/>
          <a:p>
            <a:endParaRPr lang="en-US"/>
          </a:p>
        </p:txBody>
      </p:sp>
      <p:sp>
        <p:nvSpPr>
          <p:cNvPr id="14" name="Text 12"/>
          <p:cNvSpPr/>
          <p:nvPr/>
        </p:nvSpPr>
        <p:spPr>
          <a:xfrm>
            <a:off x="9494215"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Exposure-</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Response</a:t>
            </a:r>
            <a:endParaRPr lang="en-US" sz="1300" dirty="0"/>
          </a:p>
        </p:txBody>
      </p:sp>
      <p:sp>
        <p:nvSpPr>
          <p:cNvPr id="15" name="Shape 13"/>
          <p:cNvSpPr/>
          <p:nvPr/>
        </p:nvSpPr>
        <p:spPr>
          <a:xfrm>
            <a:off x="548640"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6" name="Shape 14"/>
          <p:cNvSpPr/>
          <p:nvPr/>
        </p:nvSpPr>
        <p:spPr>
          <a:xfrm>
            <a:off x="548640" y="4206240"/>
            <a:ext cx="5364328" cy="64008"/>
          </a:xfrm>
          <a:prstGeom prst="rect">
            <a:avLst/>
          </a:prstGeom>
          <a:solidFill>
            <a:srgbClr val="1C7293"/>
          </a:solidFill>
          <a:ln/>
        </p:spPr>
        <p:txBody>
          <a:bodyPr/>
          <a:lstStyle/>
          <a:p>
            <a:endParaRPr lang="en-US"/>
          </a:p>
        </p:txBody>
      </p:sp>
      <p:sp>
        <p:nvSpPr>
          <p:cNvPr id="17" name="Shape 15"/>
          <p:cNvSpPr/>
          <p:nvPr/>
        </p:nvSpPr>
        <p:spPr>
          <a:xfrm>
            <a:off x="749808" y="4434840"/>
            <a:ext cx="457200" cy="457200"/>
          </a:xfrm>
          <a:prstGeom prst="ellipse">
            <a:avLst/>
          </a:prstGeom>
          <a:solidFill>
            <a:srgbClr val="1C7293"/>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868680" y="4553712"/>
            <a:ext cx="219456" cy="219456"/>
          </a:xfrm>
          <a:prstGeom prst="rect">
            <a:avLst/>
          </a:prstGeom>
        </p:spPr>
      </p:pic>
      <p:sp>
        <p:nvSpPr>
          <p:cNvPr id="19" name="Text 16"/>
          <p:cNvSpPr/>
          <p:nvPr/>
        </p:nvSpPr>
        <p:spPr>
          <a:xfrm>
            <a:off x="1325880"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Example</a:t>
            </a:r>
            <a:endParaRPr lang="en-US" sz="1400" dirty="0"/>
          </a:p>
        </p:txBody>
      </p:sp>
      <p:sp>
        <p:nvSpPr>
          <p:cNvPr id="20" name="Text 17"/>
          <p:cNvSpPr/>
          <p:nvPr/>
        </p:nvSpPr>
        <p:spPr>
          <a:xfrm>
            <a:off x="804672"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PBPK predicts a first-in-human starting dose and exposure; Phase 1 data build a PopPK model; PopPK-derived exposures then drive an exposure-response analysis for dose selection.</a:t>
            </a:r>
            <a:endParaRPr lang="en-US" sz="1250" dirty="0"/>
          </a:p>
        </p:txBody>
      </p:sp>
      <p:sp>
        <p:nvSpPr>
          <p:cNvPr id="21" name="Shape 18"/>
          <p:cNvSpPr/>
          <p:nvPr/>
        </p:nvSpPr>
        <p:spPr>
          <a:xfrm>
            <a:off x="6278728"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19"/>
          <p:cNvSpPr/>
          <p:nvPr/>
        </p:nvSpPr>
        <p:spPr>
          <a:xfrm>
            <a:off x="6278728" y="4206240"/>
            <a:ext cx="5364328" cy="64008"/>
          </a:xfrm>
          <a:prstGeom prst="rect">
            <a:avLst/>
          </a:prstGeom>
          <a:solidFill>
            <a:srgbClr val="2E8B72"/>
          </a:solidFill>
          <a:ln/>
        </p:spPr>
        <p:txBody>
          <a:bodyPr/>
          <a:lstStyle/>
          <a:p>
            <a:endParaRPr lang="en-US"/>
          </a:p>
        </p:txBody>
      </p:sp>
      <p:sp>
        <p:nvSpPr>
          <p:cNvPr id="23" name="Shape 20"/>
          <p:cNvSpPr/>
          <p:nvPr/>
        </p:nvSpPr>
        <p:spPr>
          <a:xfrm>
            <a:off x="6479896" y="4434840"/>
            <a:ext cx="457200" cy="457200"/>
          </a:xfrm>
          <a:prstGeom prst="ellipse">
            <a:avLst/>
          </a:prstGeom>
          <a:solidFill>
            <a:srgbClr val="2E8B72"/>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6598768" y="4553712"/>
            <a:ext cx="219456" cy="219456"/>
          </a:xfrm>
          <a:prstGeom prst="rect">
            <a:avLst/>
          </a:prstGeom>
        </p:spPr>
      </p:pic>
      <p:sp>
        <p:nvSpPr>
          <p:cNvPr id="25" name="Text 21"/>
          <p:cNvSpPr/>
          <p:nvPr/>
        </p:nvSpPr>
        <p:spPr>
          <a:xfrm>
            <a:off x="7055968"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Why it helps</a:t>
            </a:r>
            <a:endParaRPr lang="en-US" sz="1400" dirty="0"/>
          </a:p>
        </p:txBody>
      </p:sp>
      <p:sp>
        <p:nvSpPr>
          <p:cNvPr id="26" name="Text 22"/>
          <p:cNvSpPr/>
          <p:nvPr/>
        </p:nvSpPr>
        <p:spPr>
          <a:xfrm>
            <a:off x="6534760"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Each step is grounded in the best available data at that stage, and mechanistic predictions are progressively replaced by data as the program matures.</a:t>
            </a:r>
            <a:endParaRPr lang="en-US" sz="1250" dirty="0"/>
          </a:p>
        </p:txBody>
      </p:sp>
      <p:sp>
        <p:nvSpPr>
          <p:cNvPr id="27" name="Text 2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8" name="Text 2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2E8B72"/>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2E8B72"/>
                </a:solidFill>
                <a:latin typeface="Calibri" pitchFamily="34" charset="0"/>
                <a:ea typeface="Calibri" pitchFamily="34" charset="-122"/>
                <a:cs typeface="Calibri" pitchFamily="34" charset="-120"/>
              </a:rPr>
              <a:t>HYBRID STRATEGY</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Parallel</a:t>
            </a:r>
            <a:endParaRPr lang="en-US" sz="2600" dirty="0"/>
          </a:p>
        </p:txBody>
      </p:sp>
      <p:sp>
        <p:nvSpPr>
          <p:cNvPr id="5" name="Shape 3"/>
          <p:cNvSpPr/>
          <p:nvPr/>
        </p:nvSpPr>
        <p:spPr>
          <a:xfrm>
            <a:off x="548640" y="1371600"/>
            <a:ext cx="11094415" cy="868680"/>
          </a:xfrm>
          <a:prstGeom prst="roundRect">
            <a:avLst>
              <a:gd name="adj" fmla="val 8421"/>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822960" y="1371600"/>
            <a:ext cx="10545775" cy="868680"/>
          </a:xfrm>
          <a:prstGeom prst="rect">
            <a:avLst/>
          </a:prstGeom>
          <a:noFill/>
          <a:ln/>
        </p:spPr>
        <p:txBody>
          <a:bodyPr wrap="square" lIns="0" tIns="0" rIns="0" bIns="0" rtlCol="0" anchor="ctr"/>
          <a:lstStyle/>
          <a:p>
            <a:pPr marL="0" indent="0">
              <a:lnSpc>
                <a:spcPct val="105000"/>
              </a:lnSpc>
              <a:buNone/>
            </a:pPr>
            <a:r>
              <a:rPr lang="en-US" sz="1400" i="1" dirty="0">
                <a:solidFill>
                  <a:srgbClr val="E6EEF2"/>
                </a:solidFill>
                <a:latin typeface="Calibri" pitchFamily="34" charset="0"/>
                <a:ea typeface="Calibri" pitchFamily="34" charset="-122"/>
                <a:cs typeface="Calibri" pitchFamily="34" charset="-120"/>
              </a:rPr>
              <a:t>Independent, complementary models address different facets of the same question at the same time; their answers are triangulated into one decision.</a:t>
            </a:r>
            <a:endParaRPr lang="en-US" sz="1400" dirty="0"/>
          </a:p>
        </p:txBody>
      </p:sp>
      <p:sp>
        <p:nvSpPr>
          <p:cNvPr id="7" name="Shape 5"/>
          <p:cNvSpPr/>
          <p:nvPr/>
        </p:nvSpPr>
        <p:spPr>
          <a:xfrm>
            <a:off x="548640" y="2743200"/>
            <a:ext cx="2194560" cy="1051560"/>
          </a:xfrm>
          <a:prstGeom prst="roundRect">
            <a:avLst>
              <a:gd name="adj" fmla="val 8696"/>
            </a:avLst>
          </a:prstGeom>
          <a:solidFill>
            <a:srgbClr val="2E8B72"/>
          </a:solidFill>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594360"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Empirical</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E-R</a:t>
            </a:r>
            <a:endParaRPr lang="en-US" sz="1300" dirty="0"/>
          </a:p>
        </p:txBody>
      </p:sp>
      <p:sp>
        <p:nvSpPr>
          <p:cNvPr id="9" name="Shape 7"/>
          <p:cNvSpPr/>
          <p:nvPr/>
        </p:nvSpPr>
        <p:spPr>
          <a:xfrm>
            <a:off x="2852928" y="3268980"/>
            <a:ext cx="2035912" cy="0"/>
          </a:xfrm>
          <a:prstGeom prst="line">
            <a:avLst/>
          </a:prstGeom>
          <a:noFill/>
          <a:ln w="31750">
            <a:solidFill>
              <a:srgbClr val="5A6B78"/>
            </a:solidFill>
            <a:prstDash val="solid"/>
            <a:tailEnd type="triangle"/>
          </a:ln>
        </p:spPr>
        <p:txBody>
          <a:bodyPr/>
          <a:lstStyle/>
          <a:p>
            <a:endParaRPr lang="en-US"/>
          </a:p>
        </p:txBody>
      </p:sp>
      <p:sp>
        <p:nvSpPr>
          <p:cNvPr id="10" name="Shape 8"/>
          <p:cNvSpPr/>
          <p:nvPr/>
        </p:nvSpPr>
        <p:spPr>
          <a:xfrm>
            <a:off x="4998568" y="2743200"/>
            <a:ext cx="2194560" cy="1051560"/>
          </a:xfrm>
          <a:prstGeom prst="roundRect">
            <a:avLst>
              <a:gd name="adj" fmla="val 8696"/>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11" name="Text 9"/>
          <p:cNvSpPr/>
          <p:nvPr/>
        </p:nvSpPr>
        <p:spPr>
          <a:xfrm>
            <a:off x="5044288"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Decision</a:t>
            </a:r>
            <a:endParaRPr lang="en-US" sz="1300" dirty="0"/>
          </a:p>
        </p:txBody>
      </p:sp>
      <p:sp>
        <p:nvSpPr>
          <p:cNvPr id="12" name="Shape 10"/>
          <p:cNvSpPr/>
          <p:nvPr/>
        </p:nvSpPr>
        <p:spPr>
          <a:xfrm>
            <a:off x="7302856" y="3268980"/>
            <a:ext cx="2035912" cy="0"/>
          </a:xfrm>
          <a:prstGeom prst="line">
            <a:avLst/>
          </a:prstGeom>
          <a:noFill/>
          <a:ln w="31750">
            <a:solidFill>
              <a:srgbClr val="5A6B78"/>
            </a:solidFill>
            <a:prstDash val="solid"/>
            <a:tailEnd type="triangle"/>
          </a:ln>
        </p:spPr>
        <p:txBody>
          <a:bodyPr/>
          <a:lstStyle/>
          <a:p>
            <a:endParaRPr lang="en-US"/>
          </a:p>
        </p:txBody>
      </p:sp>
      <p:sp>
        <p:nvSpPr>
          <p:cNvPr id="13" name="Shape 11"/>
          <p:cNvSpPr/>
          <p:nvPr/>
        </p:nvSpPr>
        <p:spPr>
          <a:xfrm>
            <a:off x="9448495" y="2743200"/>
            <a:ext cx="2194560" cy="1051560"/>
          </a:xfrm>
          <a:prstGeom prst="roundRect">
            <a:avLst>
              <a:gd name="adj" fmla="val 8696"/>
            </a:avLst>
          </a:prstGeom>
          <a:solidFill>
            <a:srgbClr val="D98C3E"/>
          </a:solidFill>
          <a:ln/>
          <a:effectLst>
            <a:outerShdw blurRad="88900" dist="38100" dir="8100000" algn="bl" rotWithShape="0">
              <a:srgbClr val="000000">
                <a:alpha val="13000"/>
              </a:srgbClr>
            </a:outerShdw>
          </a:effectLst>
        </p:spPr>
        <p:txBody>
          <a:bodyPr/>
          <a:lstStyle/>
          <a:p>
            <a:endParaRPr lang="en-US"/>
          </a:p>
        </p:txBody>
      </p:sp>
      <p:sp>
        <p:nvSpPr>
          <p:cNvPr id="14" name="Text 12"/>
          <p:cNvSpPr/>
          <p:nvPr/>
        </p:nvSpPr>
        <p:spPr>
          <a:xfrm>
            <a:off x="9494215"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QSP</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(mechanism)</a:t>
            </a:r>
            <a:endParaRPr lang="en-US" sz="1300" dirty="0"/>
          </a:p>
        </p:txBody>
      </p:sp>
      <p:sp>
        <p:nvSpPr>
          <p:cNvPr id="15" name="Shape 13"/>
          <p:cNvSpPr/>
          <p:nvPr/>
        </p:nvSpPr>
        <p:spPr>
          <a:xfrm>
            <a:off x="548640"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6" name="Shape 14"/>
          <p:cNvSpPr/>
          <p:nvPr/>
        </p:nvSpPr>
        <p:spPr>
          <a:xfrm>
            <a:off x="548640" y="4206240"/>
            <a:ext cx="5364328" cy="64008"/>
          </a:xfrm>
          <a:prstGeom prst="rect">
            <a:avLst/>
          </a:prstGeom>
          <a:solidFill>
            <a:srgbClr val="2E8B72"/>
          </a:solidFill>
          <a:ln/>
        </p:spPr>
        <p:txBody>
          <a:bodyPr/>
          <a:lstStyle/>
          <a:p>
            <a:endParaRPr lang="en-US"/>
          </a:p>
        </p:txBody>
      </p:sp>
      <p:sp>
        <p:nvSpPr>
          <p:cNvPr id="17" name="Shape 15"/>
          <p:cNvSpPr/>
          <p:nvPr/>
        </p:nvSpPr>
        <p:spPr>
          <a:xfrm>
            <a:off x="749808" y="4434840"/>
            <a:ext cx="457200" cy="457200"/>
          </a:xfrm>
          <a:prstGeom prst="ellipse">
            <a:avLst/>
          </a:prstGeom>
          <a:solidFill>
            <a:srgbClr val="2E8B72"/>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868680" y="4553712"/>
            <a:ext cx="219456" cy="219456"/>
          </a:xfrm>
          <a:prstGeom prst="rect">
            <a:avLst/>
          </a:prstGeom>
        </p:spPr>
      </p:pic>
      <p:sp>
        <p:nvSpPr>
          <p:cNvPr id="19" name="Text 16"/>
          <p:cNvSpPr/>
          <p:nvPr/>
        </p:nvSpPr>
        <p:spPr>
          <a:xfrm>
            <a:off x="1325880"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Example</a:t>
            </a:r>
            <a:endParaRPr lang="en-US" sz="1400" dirty="0"/>
          </a:p>
        </p:txBody>
      </p:sp>
      <p:sp>
        <p:nvSpPr>
          <p:cNvPr id="20" name="Text 17"/>
          <p:cNvSpPr/>
          <p:nvPr/>
        </p:nvSpPr>
        <p:spPr>
          <a:xfrm>
            <a:off x="804672"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An empirical exposure-response analysis suggests a dose, while a QSP model independently evaluates whether that dose is mechanistically plausible for the target. Agreement builds confidence.</a:t>
            </a:r>
            <a:endParaRPr lang="en-US" sz="1250" dirty="0"/>
          </a:p>
        </p:txBody>
      </p:sp>
      <p:sp>
        <p:nvSpPr>
          <p:cNvPr id="21" name="Shape 18"/>
          <p:cNvSpPr/>
          <p:nvPr/>
        </p:nvSpPr>
        <p:spPr>
          <a:xfrm>
            <a:off x="6278728"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19"/>
          <p:cNvSpPr/>
          <p:nvPr/>
        </p:nvSpPr>
        <p:spPr>
          <a:xfrm>
            <a:off x="6278728" y="4206240"/>
            <a:ext cx="5364328" cy="64008"/>
          </a:xfrm>
          <a:prstGeom prst="rect">
            <a:avLst/>
          </a:prstGeom>
          <a:solidFill>
            <a:srgbClr val="2E8B72"/>
          </a:solidFill>
          <a:ln/>
        </p:spPr>
        <p:txBody>
          <a:bodyPr/>
          <a:lstStyle/>
          <a:p>
            <a:endParaRPr lang="en-US"/>
          </a:p>
        </p:txBody>
      </p:sp>
      <p:sp>
        <p:nvSpPr>
          <p:cNvPr id="23" name="Shape 20"/>
          <p:cNvSpPr/>
          <p:nvPr/>
        </p:nvSpPr>
        <p:spPr>
          <a:xfrm>
            <a:off x="6479896" y="4434840"/>
            <a:ext cx="457200" cy="457200"/>
          </a:xfrm>
          <a:prstGeom prst="ellipse">
            <a:avLst/>
          </a:prstGeom>
          <a:solidFill>
            <a:srgbClr val="2E8B72"/>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6598768" y="4553712"/>
            <a:ext cx="219456" cy="219456"/>
          </a:xfrm>
          <a:prstGeom prst="rect">
            <a:avLst/>
          </a:prstGeom>
        </p:spPr>
      </p:pic>
      <p:sp>
        <p:nvSpPr>
          <p:cNvPr id="25" name="Text 21"/>
          <p:cNvSpPr/>
          <p:nvPr/>
        </p:nvSpPr>
        <p:spPr>
          <a:xfrm>
            <a:off x="7055968"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Why it helps</a:t>
            </a:r>
            <a:endParaRPr lang="en-US" sz="1400" dirty="0"/>
          </a:p>
        </p:txBody>
      </p:sp>
      <p:sp>
        <p:nvSpPr>
          <p:cNvPr id="26" name="Text 22"/>
          <p:cNvSpPr/>
          <p:nvPr/>
        </p:nvSpPr>
        <p:spPr>
          <a:xfrm>
            <a:off x="6534760"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Convergent evidence from methods with different assumptions is far more persuasive than either alone — and divergence flags where to dig deeper.</a:t>
            </a:r>
            <a:endParaRPr lang="en-US" sz="1250" dirty="0"/>
          </a:p>
        </p:txBody>
      </p:sp>
      <p:sp>
        <p:nvSpPr>
          <p:cNvPr id="27" name="Text 2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8" name="Text 2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5B5F97"/>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5B5F97"/>
                </a:solidFill>
                <a:latin typeface="Calibri" pitchFamily="34" charset="0"/>
                <a:ea typeface="Calibri" pitchFamily="34" charset="-122"/>
                <a:cs typeface="Calibri" pitchFamily="34" charset="-120"/>
              </a:rPr>
              <a:t>HYBRID STRATEGY</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Cross-informative</a:t>
            </a:r>
            <a:endParaRPr lang="en-US" sz="2600" dirty="0"/>
          </a:p>
        </p:txBody>
      </p:sp>
      <p:sp>
        <p:nvSpPr>
          <p:cNvPr id="5" name="Shape 3"/>
          <p:cNvSpPr/>
          <p:nvPr/>
        </p:nvSpPr>
        <p:spPr>
          <a:xfrm>
            <a:off x="548640" y="1371600"/>
            <a:ext cx="11094415" cy="868680"/>
          </a:xfrm>
          <a:prstGeom prst="roundRect">
            <a:avLst>
              <a:gd name="adj" fmla="val 8421"/>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822960" y="1371600"/>
            <a:ext cx="10545775" cy="868680"/>
          </a:xfrm>
          <a:prstGeom prst="rect">
            <a:avLst/>
          </a:prstGeom>
          <a:noFill/>
          <a:ln/>
        </p:spPr>
        <p:txBody>
          <a:bodyPr wrap="square" lIns="0" tIns="0" rIns="0" bIns="0" rtlCol="0" anchor="ctr"/>
          <a:lstStyle/>
          <a:p>
            <a:pPr marL="0" indent="0">
              <a:lnSpc>
                <a:spcPct val="105000"/>
              </a:lnSpc>
              <a:buNone/>
            </a:pPr>
            <a:r>
              <a:rPr lang="en-US" sz="1400" i="1" dirty="0">
                <a:solidFill>
                  <a:srgbClr val="E6EEF2"/>
                </a:solidFill>
                <a:latin typeface="Calibri" pitchFamily="34" charset="0"/>
                <a:ea typeface="Calibri" pitchFamily="34" charset="-122"/>
                <a:cs typeface="Calibri" pitchFamily="34" charset="-120"/>
              </a:rPr>
              <a:t>Models exchange information in both directions — one calibrates, constrains, or supplies parameters to the other, often iteratively (a “middle-out” approach).</a:t>
            </a:r>
            <a:endParaRPr lang="en-US" sz="1400" dirty="0"/>
          </a:p>
        </p:txBody>
      </p:sp>
      <p:sp>
        <p:nvSpPr>
          <p:cNvPr id="7" name="Shape 5"/>
          <p:cNvSpPr/>
          <p:nvPr/>
        </p:nvSpPr>
        <p:spPr>
          <a:xfrm>
            <a:off x="548640" y="2743200"/>
            <a:ext cx="2194560" cy="1051560"/>
          </a:xfrm>
          <a:prstGeom prst="roundRect">
            <a:avLst>
              <a:gd name="adj" fmla="val 8696"/>
            </a:avLst>
          </a:prstGeom>
          <a:solidFill>
            <a:srgbClr val="1C7293"/>
          </a:solidFill>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594360"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PopPK</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(clinical data)</a:t>
            </a:r>
            <a:endParaRPr lang="en-US" sz="1300" dirty="0"/>
          </a:p>
        </p:txBody>
      </p:sp>
      <p:sp>
        <p:nvSpPr>
          <p:cNvPr id="9" name="Shape 7"/>
          <p:cNvSpPr/>
          <p:nvPr/>
        </p:nvSpPr>
        <p:spPr>
          <a:xfrm>
            <a:off x="2852928" y="3268980"/>
            <a:ext cx="6485839" cy="0"/>
          </a:xfrm>
          <a:prstGeom prst="line">
            <a:avLst/>
          </a:prstGeom>
          <a:noFill/>
          <a:ln w="31750">
            <a:solidFill>
              <a:srgbClr val="5A6B78"/>
            </a:solidFill>
            <a:prstDash val="solid"/>
            <a:tailEnd type="triangle"/>
          </a:ln>
        </p:spPr>
        <p:txBody>
          <a:bodyPr/>
          <a:lstStyle/>
          <a:p>
            <a:endParaRPr lang="en-US"/>
          </a:p>
        </p:txBody>
      </p:sp>
      <p:sp>
        <p:nvSpPr>
          <p:cNvPr id="10" name="Shape 8"/>
          <p:cNvSpPr/>
          <p:nvPr/>
        </p:nvSpPr>
        <p:spPr>
          <a:xfrm>
            <a:off x="2852928" y="3415284"/>
            <a:ext cx="6485839" cy="0"/>
          </a:xfrm>
          <a:prstGeom prst="line">
            <a:avLst/>
          </a:prstGeom>
          <a:noFill/>
          <a:ln w="31750">
            <a:solidFill>
              <a:srgbClr val="5A6B78"/>
            </a:solidFill>
            <a:prstDash val="solid"/>
            <a:headEnd type="triangle"/>
          </a:ln>
        </p:spPr>
        <p:txBody>
          <a:bodyPr/>
          <a:lstStyle/>
          <a:p>
            <a:endParaRPr lang="en-US"/>
          </a:p>
        </p:txBody>
      </p:sp>
      <p:sp>
        <p:nvSpPr>
          <p:cNvPr id="11" name="Shape 9"/>
          <p:cNvSpPr/>
          <p:nvPr/>
        </p:nvSpPr>
        <p:spPr>
          <a:xfrm>
            <a:off x="9448495" y="2743200"/>
            <a:ext cx="2194560" cy="1051560"/>
          </a:xfrm>
          <a:prstGeom prst="roundRect">
            <a:avLst>
              <a:gd name="adj" fmla="val 8696"/>
            </a:avLst>
          </a:prstGeom>
          <a:solidFill>
            <a:srgbClr val="5B5F97"/>
          </a:solidFill>
          <a:ln/>
          <a:effectLst>
            <a:outerShdw blurRad="88900" dist="38100" dir="8100000" algn="bl" rotWithShape="0">
              <a:srgbClr val="000000">
                <a:alpha val="13000"/>
              </a:srgbClr>
            </a:outerShdw>
          </a:effectLst>
        </p:spPr>
        <p:txBody>
          <a:bodyPr/>
          <a:lstStyle/>
          <a:p>
            <a:endParaRPr lang="en-US"/>
          </a:p>
        </p:txBody>
      </p:sp>
      <p:sp>
        <p:nvSpPr>
          <p:cNvPr id="12" name="Text 10"/>
          <p:cNvSpPr/>
          <p:nvPr/>
        </p:nvSpPr>
        <p:spPr>
          <a:xfrm>
            <a:off x="9494215"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PBPK</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(mechanism)</a:t>
            </a:r>
            <a:endParaRPr lang="en-US" sz="1300" dirty="0"/>
          </a:p>
        </p:txBody>
      </p:sp>
      <p:sp>
        <p:nvSpPr>
          <p:cNvPr id="13" name="Shape 11"/>
          <p:cNvSpPr/>
          <p:nvPr/>
        </p:nvSpPr>
        <p:spPr>
          <a:xfrm>
            <a:off x="548640"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4" name="Shape 12"/>
          <p:cNvSpPr/>
          <p:nvPr/>
        </p:nvSpPr>
        <p:spPr>
          <a:xfrm>
            <a:off x="548640" y="4206240"/>
            <a:ext cx="5364328" cy="64008"/>
          </a:xfrm>
          <a:prstGeom prst="rect">
            <a:avLst/>
          </a:prstGeom>
          <a:solidFill>
            <a:srgbClr val="5B5F97"/>
          </a:solidFill>
          <a:ln/>
        </p:spPr>
        <p:txBody>
          <a:bodyPr/>
          <a:lstStyle/>
          <a:p>
            <a:endParaRPr lang="en-US"/>
          </a:p>
        </p:txBody>
      </p:sp>
      <p:sp>
        <p:nvSpPr>
          <p:cNvPr id="15" name="Shape 13"/>
          <p:cNvSpPr/>
          <p:nvPr/>
        </p:nvSpPr>
        <p:spPr>
          <a:xfrm>
            <a:off x="749808" y="4434840"/>
            <a:ext cx="457200" cy="457200"/>
          </a:xfrm>
          <a:prstGeom prst="ellipse">
            <a:avLst/>
          </a:prstGeom>
          <a:solidFill>
            <a:srgbClr val="5B5F97"/>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868680" y="4553712"/>
            <a:ext cx="219456" cy="219456"/>
          </a:xfrm>
          <a:prstGeom prst="rect">
            <a:avLst/>
          </a:prstGeom>
        </p:spPr>
      </p:pic>
      <p:sp>
        <p:nvSpPr>
          <p:cNvPr id="17" name="Text 14"/>
          <p:cNvSpPr/>
          <p:nvPr/>
        </p:nvSpPr>
        <p:spPr>
          <a:xfrm>
            <a:off x="1325880"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Example</a:t>
            </a:r>
            <a:endParaRPr lang="en-US" sz="1400" dirty="0"/>
          </a:p>
        </p:txBody>
      </p:sp>
      <p:sp>
        <p:nvSpPr>
          <p:cNvPr id="18" name="Text 15"/>
          <p:cNvSpPr/>
          <p:nvPr/>
        </p:nvSpPr>
        <p:spPr>
          <a:xfrm>
            <a:off x="804672"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Clinical PopPK estimates refine uncertain PBPK tissue or clearance parameters, while the PBPK structure informs the covariate model in PopPK — each improving the other.</a:t>
            </a:r>
            <a:endParaRPr lang="en-US" sz="1250" dirty="0"/>
          </a:p>
        </p:txBody>
      </p:sp>
      <p:sp>
        <p:nvSpPr>
          <p:cNvPr id="19" name="Shape 16"/>
          <p:cNvSpPr/>
          <p:nvPr/>
        </p:nvSpPr>
        <p:spPr>
          <a:xfrm>
            <a:off x="6278728"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0" name="Shape 17"/>
          <p:cNvSpPr/>
          <p:nvPr/>
        </p:nvSpPr>
        <p:spPr>
          <a:xfrm>
            <a:off x="6278728" y="4206240"/>
            <a:ext cx="5364328" cy="64008"/>
          </a:xfrm>
          <a:prstGeom prst="rect">
            <a:avLst/>
          </a:prstGeom>
          <a:solidFill>
            <a:srgbClr val="2E8B72"/>
          </a:solidFill>
          <a:ln/>
        </p:spPr>
        <p:txBody>
          <a:bodyPr/>
          <a:lstStyle/>
          <a:p>
            <a:endParaRPr lang="en-US"/>
          </a:p>
        </p:txBody>
      </p:sp>
      <p:sp>
        <p:nvSpPr>
          <p:cNvPr id="21" name="Shape 18"/>
          <p:cNvSpPr/>
          <p:nvPr/>
        </p:nvSpPr>
        <p:spPr>
          <a:xfrm>
            <a:off x="6479896" y="4434840"/>
            <a:ext cx="457200" cy="457200"/>
          </a:xfrm>
          <a:prstGeom prst="ellipse">
            <a:avLst/>
          </a:prstGeom>
          <a:solidFill>
            <a:srgbClr val="2E8B72"/>
          </a:solidFill>
          <a:ln/>
        </p:spPr>
        <p:txBody>
          <a:bodyPr/>
          <a:lstStyle/>
          <a:p>
            <a:endParaRPr lang="en-US"/>
          </a:p>
        </p:txBody>
      </p:sp>
      <p:pic>
        <p:nvPicPr>
          <p:cNvPr id="22" name="Image 1" descr="preencoded.png"/>
          <p:cNvPicPr>
            <a:picLocks noChangeAspect="1"/>
          </p:cNvPicPr>
          <p:nvPr/>
        </p:nvPicPr>
        <p:blipFill>
          <a:blip r:embed="rId4"/>
          <a:stretch>
            <a:fillRect/>
          </a:stretch>
        </p:blipFill>
        <p:spPr>
          <a:xfrm>
            <a:off x="6598768" y="4553712"/>
            <a:ext cx="219456" cy="219456"/>
          </a:xfrm>
          <a:prstGeom prst="rect">
            <a:avLst/>
          </a:prstGeom>
        </p:spPr>
      </p:pic>
      <p:sp>
        <p:nvSpPr>
          <p:cNvPr id="23" name="Text 19"/>
          <p:cNvSpPr/>
          <p:nvPr/>
        </p:nvSpPr>
        <p:spPr>
          <a:xfrm>
            <a:off x="7055968"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Why it helps</a:t>
            </a:r>
            <a:endParaRPr lang="en-US" sz="1400" dirty="0"/>
          </a:p>
        </p:txBody>
      </p:sp>
      <p:sp>
        <p:nvSpPr>
          <p:cNvPr id="24" name="Text 20"/>
          <p:cNvSpPr/>
          <p:nvPr/>
        </p:nvSpPr>
        <p:spPr>
          <a:xfrm>
            <a:off x="6534760"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You get mechanistic structure and extrapolation from PBPK together with the real-world variability captured by PopPK, without forcing a single model to do both jobs.</a:t>
            </a:r>
            <a:endParaRPr lang="en-US" sz="1250" dirty="0"/>
          </a:p>
        </p:txBody>
      </p:sp>
      <p:sp>
        <p:nvSpPr>
          <p:cNvPr id="25" name="Text 21"/>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6" name="Text 22"/>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D98C3E"/>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D98C3E"/>
                </a:solidFill>
                <a:latin typeface="Calibri" pitchFamily="34" charset="0"/>
                <a:ea typeface="Calibri" pitchFamily="34" charset="-122"/>
                <a:cs typeface="Calibri" pitchFamily="34" charset="-120"/>
              </a:rPr>
              <a:t>HYBRID STRATEGY</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Mechanistically integrated</a:t>
            </a:r>
            <a:endParaRPr lang="en-US" sz="2600" dirty="0"/>
          </a:p>
        </p:txBody>
      </p:sp>
      <p:sp>
        <p:nvSpPr>
          <p:cNvPr id="5" name="Shape 3"/>
          <p:cNvSpPr/>
          <p:nvPr/>
        </p:nvSpPr>
        <p:spPr>
          <a:xfrm>
            <a:off x="548640" y="1371600"/>
            <a:ext cx="11094415" cy="868680"/>
          </a:xfrm>
          <a:prstGeom prst="roundRect">
            <a:avLst>
              <a:gd name="adj" fmla="val 8421"/>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6" name="Text 4"/>
          <p:cNvSpPr/>
          <p:nvPr/>
        </p:nvSpPr>
        <p:spPr>
          <a:xfrm>
            <a:off x="822960" y="1371600"/>
            <a:ext cx="10545775" cy="868680"/>
          </a:xfrm>
          <a:prstGeom prst="rect">
            <a:avLst/>
          </a:prstGeom>
          <a:noFill/>
          <a:ln/>
        </p:spPr>
        <p:txBody>
          <a:bodyPr wrap="square" lIns="0" tIns="0" rIns="0" bIns="0" rtlCol="0" anchor="ctr"/>
          <a:lstStyle/>
          <a:p>
            <a:pPr marL="0" indent="0">
              <a:lnSpc>
                <a:spcPct val="105000"/>
              </a:lnSpc>
              <a:buNone/>
            </a:pPr>
            <a:r>
              <a:rPr lang="en-US" sz="1400" i="1" dirty="0">
                <a:solidFill>
                  <a:srgbClr val="E6EEF2"/>
                </a:solidFill>
                <a:latin typeface="Calibri" pitchFamily="34" charset="0"/>
                <a:ea typeface="Calibri" pitchFamily="34" charset="-122"/>
                <a:cs typeface="Calibri" pitchFamily="34" charset="-120"/>
              </a:rPr>
              <a:t>Multiple mechanisms or biological scales are fused into a single unified model, rather than kept as separate models that pass information.</a:t>
            </a:r>
            <a:endParaRPr lang="en-US" sz="1400" dirty="0"/>
          </a:p>
        </p:txBody>
      </p:sp>
      <p:sp>
        <p:nvSpPr>
          <p:cNvPr id="7" name="Shape 5"/>
          <p:cNvSpPr/>
          <p:nvPr/>
        </p:nvSpPr>
        <p:spPr>
          <a:xfrm>
            <a:off x="548640" y="2743200"/>
            <a:ext cx="2194560" cy="1051560"/>
          </a:xfrm>
          <a:prstGeom prst="roundRect">
            <a:avLst>
              <a:gd name="adj" fmla="val 8696"/>
            </a:avLst>
          </a:prstGeom>
          <a:solidFill>
            <a:srgbClr val="5B5F97"/>
          </a:solidFill>
          <a:ln/>
          <a:effectLst>
            <a:outerShdw blurRad="88900" dist="38100" dir="8100000" algn="bl" rotWithShape="0">
              <a:srgbClr val="000000">
                <a:alpha val="13000"/>
              </a:srgbClr>
            </a:outerShdw>
          </a:effectLst>
        </p:spPr>
        <p:txBody>
          <a:bodyPr/>
          <a:lstStyle/>
          <a:p>
            <a:endParaRPr lang="en-US"/>
          </a:p>
        </p:txBody>
      </p:sp>
      <p:sp>
        <p:nvSpPr>
          <p:cNvPr id="8" name="Text 6"/>
          <p:cNvSpPr/>
          <p:nvPr/>
        </p:nvSpPr>
        <p:spPr>
          <a:xfrm>
            <a:off x="594360"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PBPK</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(distribution)</a:t>
            </a:r>
            <a:endParaRPr lang="en-US" sz="1300" dirty="0"/>
          </a:p>
        </p:txBody>
      </p:sp>
      <p:sp>
        <p:nvSpPr>
          <p:cNvPr id="9" name="Shape 7"/>
          <p:cNvSpPr/>
          <p:nvPr/>
        </p:nvSpPr>
        <p:spPr>
          <a:xfrm>
            <a:off x="2852928" y="3268980"/>
            <a:ext cx="2035912" cy="0"/>
          </a:xfrm>
          <a:prstGeom prst="line">
            <a:avLst/>
          </a:prstGeom>
          <a:noFill/>
          <a:ln w="31750">
            <a:solidFill>
              <a:srgbClr val="5A6B78"/>
            </a:solidFill>
            <a:prstDash val="solid"/>
            <a:tailEnd type="triangle"/>
          </a:ln>
        </p:spPr>
        <p:txBody>
          <a:bodyPr/>
          <a:lstStyle/>
          <a:p>
            <a:endParaRPr lang="en-US"/>
          </a:p>
        </p:txBody>
      </p:sp>
      <p:sp>
        <p:nvSpPr>
          <p:cNvPr id="10" name="Shape 8"/>
          <p:cNvSpPr/>
          <p:nvPr/>
        </p:nvSpPr>
        <p:spPr>
          <a:xfrm>
            <a:off x="4998568" y="2743200"/>
            <a:ext cx="2194560" cy="1051560"/>
          </a:xfrm>
          <a:prstGeom prst="roundRect">
            <a:avLst>
              <a:gd name="adj" fmla="val 8696"/>
            </a:avLst>
          </a:prstGeom>
          <a:solidFill>
            <a:srgbClr val="D98C3E"/>
          </a:solidFill>
          <a:ln/>
          <a:effectLst>
            <a:outerShdw blurRad="88900" dist="38100" dir="8100000" algn="bl" rotWithShape="0">
              <a:srgbClr val="000000">
                <a:alpha val="13000"/>
              </a:srgbClr>
            </a:outerShdw>
          </a:effectLst>
        </p:spPr>
        <p:txBody>
          <a:bodyPr/>
          <a:lstStyle/>
          <a:p>
            <a:endParaRPr lang="en-US"/>
          </a:p>
        </p:txBody>
      </p:sp>
      <p:sp>
        <p:nvSpPr>
          <p:cNvPr id="11" name="Text 9"/>
          <p:cNvSpPr/>
          <p:nvPr/>
        </p:nvSpPr>
        <p:spPr>
          <a:xfrm>
            <a:off x="5044288"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QSP</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(biology)</a:t>
            </a:r>
            <a:endParaRPr lang="en-US" sz="1300" dirty="0"/>
          </a:p>
        </p:txBody>
      </p:sp>
      <p:sp>
        <p:nvSpPr>
          <p:cNvPr id="12" name="Shape 10"/>
          <p:cNvSpPr/>
          <p:nvPr/>
        </p:nvSpPr>
        <p:spPr>
          <a:xfrm>
            <a:off x="7302856" y="3268980"/>
            <a:ext cx="2035912" cy="0"/>
          </a:xfrm>
          <a:prstGeom prst="line">
            <a:avLst/>
          </a:prstGeom>
          <a:noFill/>
          <a:ln w="31750">
            <a:solidFill>
              <a:srgbClr val="5A6B78"/>
            </a:solidFill>
            <a:prstDash val="solid"/>
            <a:tailEnd type="triangle"/>
          </a:ln>
        </p:spPr>
        <p:txBody>
          <a:bodyPr/>
          <a:lstStyle/>
          <a:p>
            <a:endParaRPr lang="en-US"/>
          </a:p>
        </p:txBody>
      </p:sp>
      <p:sp>
        <p:nvSpPr>
          <p:cNvPr id="13" name="Shape 11"/>
          <p:cNvSpPr/>
          <p:nvPr/>
        </p:nvSpPr>
        <p:spPr>
          <a:xfrm>
            <a:off x="9448495" y="2743200"/>
            <a:ext cx="2194560" cy="1051560"/>
          </a:xfrm>
          <a:prstGeom prst="roundRect">
            <a:avLst>
              <a:gd name="adj" fmla="val 8696"/>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14" name="Text 12"/>
          <p:cNvSpPr/>
          <p:nvPr/>
        </p:nvSpPr>
        <p:spPr>
          <a:xfrm>
            <a:off x="9494215" y="2743200"/>
            <a:ext cx="210312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Unified</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PBPK-QSP</a:t>
            </a:r>
            <a:endParaRPr lang="en-US" sz="1300" dirty="0"/>
          </a:p>
        </p:txBody>
      </p:sp>
      <p:sp>
        <p:nvSpPr>
          <p:cNvPr id="15" name="Shape 13"/>
          <p:cNvSpPr/>
          <p:nvPr/>
        </p:nvSpPr>
        <p:spPr>
          <a:xfrm>
            <a:off x="548640"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6" name="Shape 14"/>
          <p:cNvSpPr/>
          <p:nvPr/>
        </p:nvSpPr>
        <p:spPr>
          <a:xfrm>
            <a:off x="548640" y="4206240"/>
            <a:ext cx="5364328" cy="64008"/>
          </a:xfrm>
          <a:prstGeom prst="rect">
            <a:avLst/>
          </a:prstGeom>
          <a:solidFill>
            <a:srgbClr val="D98C3E"/>
          </a:solidFill>
          <a:ln/>
        </p:spPr>
        <p:txBody>
          <a:bodyPr/>
          <a:lstStyle/>
          <a:p>
            <a:endParaRPr lang="en-US"/>
          </a:p>
        </p:txBody>
      </p:sp>
      <p:sp>
        <p:nvSpPr>
          <p:cNvPr id="17" name="Shape 15"/>
          <p:cNvSpPr/>
          <p:nvPr/>
        </p:nvSpPr>
        <p:spPr>
          <a:xfrm>
            <a:off x="749808" y="4434840"/>
            <a:ext cx="457200" cy="457200"/>
          </a:xfrm>
          <a:prstGeom prst="ellipse">
            <a:avLst/>
          </a:prstGeom>
          <a:solidFill>
            <a:srgbClr val="D98C3E"/>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868680" y="4553712"/>
            <a:ext cx="219456" cy="219456"/>
          </a:xfrm>
          <a:prstGeom prst="rect">
            <a:avLst/>
          </a:prstGeom>
        </p:spPr>
      </p:pic>
      <p:sp>
        <p:nvSpPr>
          <p:cNvPr id="19" name="Text 16"/>
          <p:cNvSpPr/>
          <p:nvPr/>
        </p:nvSpPr>
        <p:spPr>
          <a:xfrm>
            <a:off x="1325880"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Example</a:t>
            </a:r>
            <a:endParaRPr lang="en-US" sz="1400" dirty="0"/>
          </a:p>
        </p:txBody>
      </p:sp>
      <p:sp>
        <p:nvSpPr>
          <p:cNvPr id="20" name="Text 17"/>
          <p:cNvSpPr/>
          <p:nvPr/>
        </p:nvSpPr>
        <p:spPr>
          <a:xfrm>
            <a:off x="804672"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A physiological (PBPK) description of drug distribution is embedded within a QSP model of the disease pathway — or target-mediated drug disposition is built into a physiological framework (e.g. mPBPK-PD).</a:t>
            </a:r>
            <a:endParaRPr lang="en-US" sz="1250" dirty="0"/>
          </a:p>
        </p:txBody>
      </p:sp>
      <p:sp>
        <p:nvSpPr>
          <p:cNvPr id="21" name="Shape 18"/>
          <p:cNvSpPr/>
          <p:nvPr/>
        </p:nvSpPr>
        <p:spPr>
          <a:xfrm>
            <a:off x="6278728" y="4206240"/>
            <a:ext cx="5364328" cy="1783080"/>
          </a:xfrm>
          <a:prstGeom prst="roundRect">
            <a:avLst>
              <a:gd name="adj" fmla="val 410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2" name="Shape 19"/>
          <p:cNvSpPr/>
          <p:nvPr/>
        </p:nvSpPr>
        <p:spPr>
          <a:xfrm>
            <a:off x="6278728" y="4206240"/>
            <a:ext cx="5364328" cy="64008"/>
          </a:xfrm>
          <a:prstGeom prst="rect">
            <a:avLst/>
          </a:prstGeom>
          <a:solidFill>
            <a:srgbClr val="2E8B72"/>
          </a:solidFill>
          <a:ln/>
        </p:spPr>
        <p:txBody>
          <a:bodyPr/>
          <a:lstStyle/>
          <a:p>
            <a:endParaRPr lang="en-US"/>
          </a:p>
        </p:txBody>
      </p:sp>
      <p:sp>
        <p:nvSpPr>
          <p:cNvPr id="23" name="Shape 20"/>
          <p:cNvSpPr/>
          <p:nvPr/>
        </p:nvSpPr>
        <p:spPr>
          <a:xfrm>
            <a:off x="6479896" y="4434840"/>
            <a:ext cx="457200" cy="457200"/>
          </a:xfrm>
          <a:prstGeom prst="ellipse">
            <a:avLst/>
          </a:prstGeom>
          <a:solidFill>
            <a:srgbClr val="2E8B72"/>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6598768" y="4553712"/>
            <a:ext cx="219456" cy="219456"/>
          </a:xfrm>
          <a:prstGeom prst="rect">
            <a:avLst/>
          </a:prstGeom>
        </p:spPr>
      </p:pic>
      <p:sp>
        <p:nvSpPr>
          <p:cNvPr id="25" name="Text 21"/>
          <p:cNvSpPr/>
          <p:nvPr/>
        </p:nvSpPr>
        <p:spPr>
          <a:xfrm>
            <a:off x="7055968" y="4453128"/>
            <a:ext cx="4449928" cy="365760"/>
          </a:xfrm>
          <a:prstGeom prst="rect">
            <a:avLst/>
          </a:prstGeom>
          <a:noFill/>
          <a:ln/>
        </p:spPr>
        <p:txBody>
          <a:bodyPr wrap="square" lIns="0" tIns="0" rIns="0" bIns="0" rtlCol="0" anchor="ctr"/>
          <a:lstStyle/>
          <a:p>
            <a:pPr marL="0" indent="0">
              <a:buNone/>
            </a:pPr>
            <a:r>
              <a:rPr lang="en-US" sz="1400" b="1" dirty="0">
                <a:solidFill>
                  <a:srgbClr val="13293D"/>
                </a:solidFill>
                <a:latin typeface="Georgia" pitchFamily="34" charset="0"/>
                <a:ea typeface="Georgia" pitchFamily="34" charset="-122"/>
                <a:cs typeface="Georgia" pitchFamily="34" charset="-120"/>
              </a:rPr>
              <a:t>Why it helps</a:t>
            </a:r>
            <a:endParaRPr lang="en-US" sz="1400" dirty="0"/>
          </a:p>
        </p:txBody>
      </p:sp>
      <p:sp>
        <p:nvSpPr>
          <p:cNvPr id="26" name="Text 22"/>
          <p:cNvSpPr/>
          <p:nvPr/>
        </p:nvSpPr>
        <p:spPr>
          <a:xfrm>
            <a:off x="6534760" y="4983480"/>
            <a:ext cx="4852264" cy="914400"/>
          </a:xfrm>
          <a:prstGeom prst="rect">
            <a:avLst/>
          </a:prstGeom>
          <a:noFill/>
          <a:ln/>
        </p:spPr>
        <p:txBody>
          <a:bodyPr wrap="square" lIns="0" tIns="0" rIns="0" bIns="0" rtlCol="0" anchor="ctr"/>
          <a:lstStyle/>
          <a:p>
            <a:pPr marL="0" indent="0">
              <a:lnSpc>
                <a:spcPct val="108000"/>
              </a:lnSpc>
              <a:buNone/>
            </a:pPr>
            <a:r>
              <a:rPr lang="en-US" sz="1250" dirty="0">
                <a:solidFill>
                  <a:srgbClr val="1E2A33"/>
                </a:solidFill>
                <a:latin typeface="Calibri" pitchFamily="34" charset="0"/>
                <a:ea typeface="Calibri" pitchFamily="34" charset="-122"/>
                <a:cs typeface="Calibri" pitchFamily="34" charset="-120"/>
              </a:rPr>
              <a:t>Captures interactions between scales that separate models miss — e.g. how tissue-specific exposure drives a downstream biological cascade — giving the richest mechanistic picture.</a:t>
            </a:r>
            <a:endParaRPr lang="en-US" sz="1250" dirty="0"/>
          </a:p>
        </p:txBody>
      </p:sp>
      <p:sp>
        <p:nvSpPr>
          <p:cNvPr id="27" name="Text 2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8" name="Text 24"/>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548640" y="457200"/>
            <a:ext cx="100584" cy="566928"/>
          </a:xfrm>
          <a:prstGeom prst="rect">
            <a:avLst/>
          </a:prstGeom>
          <a:solidFill>
            <a:srgbClr val="1C7293"/>
          </a:solidFill>
          <a:ln/>
        </p:spPr>
        <p:txBody>
          <a:bodyPr/>
          <a:lstStyle/>
          <a:p>
            <a:endParaRPr lang="en-US"/>
          </a:p>
        </p:txBody>
      </p:sp>
      <p:sp>
        <p:nvSpPr>
          <p:cNvPr id="3" name="Text 1"/>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DOING IT WELL</a:t>
            </a:r>
            <a:endParaRPr lang="en-US" sz="1200" dirty="0"/>
          </a:p>
        </p:txBody>
      </p:sp>
      <p:sp>
        <p:nvSpPr>
          <p:cNvPr id="4" name="Text 2"/>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Assumptions, uncertainty &amp; credibility</a:t>
            </a:r>
            <a:endParaRPr lang="en-US" sz="2600" dirty="0"/>
          </a:p>
        </p:txBody>
      </p:sp>
      <p:sp>
        <p:nvSpPr>
          <p:cNvPr id="5" name="Shape 3"/>
          <p:cNvSpPr/>
          <p:nvPr/>
        </p:nvSpPr>
        <p:spPr>
          <a:xfrm>
            <a:off x="548640" y="137160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6" name="Shape 4"/>
          <p:cNvSpPr/>
          <p:nvPr/>
        </p:nvSpPr>
        <p:spPr>
          <a:xfrm>
            <a:off x="749808" y="1609344"/>
            <a:ext cx="512064" cy="512064"/>
          </a:xfrm>
          <a:prstGeom prst="ellipse">
            <a:avLst/>
          </a:prstGeom>
          <a:solidFill>
            <a:srgbClr val="1C729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82945" y="1742481"/>
            <a:ext cx="245791" cy="245791"/>
          </a:xfrm>
          <a:prstGeom prst="rect">
            <a:avLst/>
          </a:prstGeom>
        </p:spPr>
      </p:pic>
      <p:sp>
        <p:nvSpPr>
          <p:cNvPr id="8" name="Text 5"/>
          <p:cNvSpPr/>
          <p:nvPr/>
        </p:nvSpPr>
        <p:spPr>
          <a:xfrm>
            <a:off x="1389888" y="1572768"/>
            <a:ext cx="2560320" cy="457200"/>
          </a:xfrm>
          <a:prstGeom prst="rect">
            <a:avLst/>
          </a:prstGeom>
          <a:noFill/>
          <a:ln/>
        </p:spPr>
        <p:txBody>
          <a:bodyPr wrap="square" lIns="0" tIns="0" rIns="0" bIns="0" rtlCol="0" anchor="ctr"/>
          <a:lstStyle/>
          <a:p>
            <a:pPr marL="0" indent="0">
              <a:buNone/>
            </a:pPr>
            <a:r>
              <a:rPr lang="en-US" sz="1300" b="1" dirty="0">
                <a:solidFill>
                  <a:srgbClr val="13293D"/>
                </a:solidFill>
                <a:latin typeface="Georgia" pitchFamily="34" charset="0"/>
                <a:ea typeface="Georgia" pitchFamily="34" charset="-122"/>
                <a:cs typeface="Georgia" pitchFamily="34" charset="-120"/>
              </a:rPr>
              <a:t>State your assumptions</a:t>
            </a:r>
            <a:endParaRPr lang="en-US" sz="1300" dirty="0"/>
          </a:p>
        </p:txBody>
      </p:sp>
      <p:sp>
        <p:nvSpPr>
          <p:cNvPr id="9" name="Text 6"/>
          <p:cNvSpPr/>
          <p:nvPr/>
        </p:nvSpPr>
        <p:spPr>
          <a:xfrm>
            <a:off x="768096" y="2084832"/>
            <a:ext cx="3099816" cy="694944"/>
          </a:xfrm>
          <a:prstGeom prst="rect">
            <a:avLst/>
          </a:prstGeom>
          <a:noFill/>
          <a:ln/>
        </p:spPr>
        <p:txBody>
          <a:bodyPr wrap="square" lIns="0" tIns="0" rIns="0" bIns="0" rtlCol="0" anchor="ctr"/>
          <a:lstStyle/>
          <a:p>
            <a:pPr marL="0" indent="0">
              <a:lnSpc>
                <a:spcPct val="102000"/>
              </a:lnSpc>
              <a:buNone/>
            </a:pPr>
            <a:r>
              <a:rPr lang="en-US" sz="1000" dirty="0">
                <a:solidFill>
                  <a:srgbClr val="5A6B78"/>
                </a:solidFill>
                <a:latin typeface="Calibri" pitchFamily="34" charset="0"/>
                <a:ea typeface="Calibri" pitchFamily="34" charset="-122"/>
                <a:cs typeface="Calibri" pitchFamily="34" charset="-120"/>
              </a:rPr>
              <a:t>Every model is 'wrong' in some way. Be explicit about what it assumes and the exact question it is qualified to answer.</a:t>
            </a:r>
            <a:endParaRPr lang="en-US" sz="1000" dirty="0"/>
          </a:p>
        </p:txBody>
      </p:sp>
      <p:sp>
        <p:nvSpPr>
          <p:cNvPr id="10" name="Shape 7"/>
          <p:cNvSpPr/>
          <p:nvPr/>
        </p:nvSpPr>
        <p:spPr>
          <a:xfrm>
            <a:off x="4325112" y="137160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1" name="Shape 8"/>
          <p:cNvSpPr/>
          <p:nvPr/>
        </p:nvSpPr>
        <p:spPr>
          <a:xfrm>
            <a:off x="4526280" y="1609344"/>
            <a:ext cx="512064" cy="512064"/>
          </a:xfrm>
          <a:prstGeom prst="ellipse">
            <a:avLst/>
          </a:prstGeom>
          <a:solidFill>
            <a:srgbClr val="1C7293"/>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659417" y="1742481"/>
            <a:ext cx="245791" cy="245791"/>
          </a:xfrm>
          <a:prstGeom prst="rect">
            <a:avLst/>
          </a:prstGeom>
        </p:spPr>
      </p:pic>
      <p:sp>
        <p:nvSpPr>
          <p:cNvPr id="13" name="Text 9"/>
          <p:cNvSpPr/>
          <p:nvPr/>
        </p:nvSpPr>
        <p:spPr>
          <a:xfrm>
            <a:off x="5166360" y="1572768"/>
            <a:ext cx="2560320" cy="457200"/>
          </a:xfrm>
          <a:prstGeom prst="rect">
            <a:avLst/>
          </a:prstGeom>
          <a:noFill/>
          <a:ln/>
        </p:spPr>
        <p:txBody>
          <a:bodyPr wrap="square" lIns="0" tIns="0" rIns="0" bIns="0" rtlCol="0" anchor="ctr"/>
          <a:lstStyle/>
          <a:p>
            <a:pPr marL="0" indent="0">
              <a:buNone/>
            </a:pPr>
            <a:r>
              <a:rPr lang="en-US" sz="1300" b="1" dirty="0">
                <a:solidFill>
                  <a:srgbClr val="13293D"/>
                </a:solidFill>
                <a:latin typeface="Georgia" pitchFamily="34" charset="0"/>
                <a:ea typeface="Georgia" pitchFamily="34" charset="-122"/>
                <a:cs typeface="Georgia" pitchFamily="34" charset="-120"/>
              </a:rPr>
              <a:t>Carry uncertainty</a:t>
            </a:r>
            <a:endParaRPr lang="en-US" sz="1300" dirty="0"/>
          </a:p>
        </p:txBody>
      </p:sp>
      <p:sp>
        <p:nvSpPr>
          <p:cNvPr id="14" name="Text 10"/>
          <p:cNvSpPr/>
          <p:nvPr/>
        </p:nvSpPr>
        <p:spPr>
          <a:xfrm>
            <a:off x="4544568" y="2084832"/>
            <a:ext cx="3099816" cy="694944"/>
          </a:xfrm>
          <a:prstGeom prst="rect">
            <a:avLst/>
          </a:prstGeom>
          <a:noFill/>
          <a:ln/>
        </p:spPr>
        <p:txBody>
          <a:bodyPr wrap="square" lIns="0" tIns="0" rIns="0" bIns="0" rtlCol="0" anchor="ctr"/>
          <a:lstStyle/>
          <a:p>
            <a:pPr marL="0" indent="0">
              <a:lnSpc>
                <a:spcPct val="102000"/>
              </a:lnSpc>
              <a:buNone/>
            </a:pPr>
            <a:r>
              <a:rPr lang="en-US" sz="1000" dirty="0">
                <a:solidFill>
                  <a:srgbClr val="5A6B78"/>
                </a:solidFill>
                <a:latin typeface="Calibri" pitchFamily="34" charset="0"/>
                <a:ea typeface="Calibri" pitchFamily="34" charset="-122"/>
                <a:cs typeface="Calibri" pitchFamily="34" charset="-120"/>
              </a:rPr>
              <a:t>Propagate parameter, structural, and extrapolation uncertainty end-to-end — and communicate it, don't hide it.</a:t>
            </a:r>
            <a:endParaRPr lang="en-US" sz="1000" dirty="0"/>
          </a:p>
        </p:txBody>
      </p:sp>
      <p:sp>
        <p:nvSpPr>
          <p:cNvPr id="15" name="Shape 11"/>
          <p:cNvSpPr/>
          <p:nvPr/>
        </p:nvSpPr>
        <p:spPr>
          <a:xfrm>
            <a:off x="8101584" y="137160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6" name="Shape 12"/>
          <p:cNvSpPr/>
          <p:nvPr/>
        </p:nvSpPr>
        <p:spPr>
          <a:xfrm>
            <a:off x="8302752" y="1609344"/>
            <a:ext cx="512064" cy="512064"/>
          </a:xfrm>
          <a:prstGeom prst="ellipse">
            <a:avLst/>
          </a:prstGeom>
          <a:solidFill>
            <a:srgbClr val="1C7293"/>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435889" y="1742481"/>
            <a:ext cx="245791" cy="245791"/>
          </a:xfrm>
          <a:prstGeom prst="rect">
            <a:avLst/>
          </a:prstGeom>
        </p:spPr>
      </p:pic>
      <p:sp>
        <p:nvSpPr>
          <p:cNvPr id="18" name="Text 13"/>
          <p:cNvSpPr/>
          <p:nvPr/>
        </p:nvSpPr>
        <p:spPr>
          <a:xfrm>
            <a:off x="8942832" y="1572768"/>
            <a:ext cx="2560320" cy="457200"/>
          </a:xfrm>
          <a:prstGeom prst="rect">
            <a:avLst/>
          </a:prstGeom>
          <a:noFill/>
          <a:ln/>
        </p:spPr>
        <p:txBody>
          <a:bodyPr wrap="square" lIns="0" tIns="0" rIns="0" bIns="0" rtlCol="0" anchor="ctr"/>
          <a:lstStyle/>
          <a:p>
            <a:pPr marL="0" indent="0">
              <a:buNone/>
            </a:pPr>
            <a:r>
              <a:rPr lang="en-US" sz="1300" b="1" dirty="0">
                <a:solidFill>
                  <a:srgbClr val="13293D"/>
                </a:solidFill>
                <a:latin typeface="Georgia" pitchFamily="34" charset="0"/>
                <a:ea typeface="Georgia" pitchFamily="34" charset="-122"/>
                <a:cs typeface="Georgia" pitchFamily="34" charset="-120"/>
              </a:rPr>
              <a:t>Validate fit-for-purpose</a:t>
            </a:r>
            <a:endParaRPr lang="en-US" sz="1300" dirty="0"/>
          </a:p>
        </p:txBody>
      </p:sp>
      <p:sp>
        <p:nvSpPr>
          <p:cNvPr id="19" name="Text 14"/>
          <p:cNvSpPr/>
          <p:nvPr/>
        </p:nvSpPr>
        <p:spPr>
          <a:xfrm>
            <a:off x="8321040" y="2084832"/>
            <a:ext cx="3099816" cy="694944"/>
          </a:xfrm>
          <a:prstGeom prst="rect">
            <a:avLst/>
          </a:prstGeom>
          <a:noFill/>
          <a:ln/>
        </p:spPr>
        <p:txBody>
          <a:bodyPr wrap="square" lIns="0" tIns="0" rIns="0" bIns="0" rtlCol="0" anchor="ctr"/>
          <a:lstStyle/>
          <a:p>
            <a:pPr marL="0" indent="0">
              <a:lnSpc>
                <a:spcPct val="102000"/>
              </a:lnSpc>
              <a:buNone/>
            </a:pPr>
            <a:r>
              <a:rPr lang="en-US" sz="1000" dirty="0">
                <a:solidFill>
                  <a:srgbClr val="5A6B78"/>
                </a:solidFill>
                <a:latin typeface="Calibri" pitchFamily="34" charset="0"/>
                <a:ea typeface="Calibri" pitchFamily="34" charset="-122"/>
                <a:cs typeface="Calibri" pitchFamily="34" charset="-120"/>
              </a:rPr>
              <a:t>Check each component and the whole system against independent data. Match rigor to decision impact (e.g. ASME V&amp;V40).</a:t>
            </a:r>
            <a:endParaRPr lang="en-US" sz="1000" dirty="0"/>
          </a:p>
        </p:txBody>
      </p:sp>
      <p:sp>
        <p:nvSpPr>
          <p:cNvPr id="20" name="Shape 15"/>
          <p:cNvSpPr/>
          <p:nvPr/>
        </p:nvSpPr>
        <p:spPr>
          <a:xfrm>
            <a:off x="548640" y="310896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1" name="Shape 16"/>
          <p:cNvSpPr/>
          <p:nvPr/>
        </p:nvSpPr>
        <p:spPr>
          <a:xfrm>
            <a:off x="749808" y="3346704"/>
            <a:ext cx="512064" cy="512064"/>
          </a:xfrm>
          <a:prstGeom prst="ellipse">
            <a:avLst/>
          </a:prstGeom>
          <a:solidFill>
            <a:srgbClr val="1C7293"/>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882945" y="3479841"/>
            <a:ext cx="245791" cy="245791"/>
          </a:xfrm>
          <a:prstGeom prst="rect">
            <a:avLst/>
          </a:prstGeom>
        </p:spPr>
      </p:pic>
      <p:sp>
        <p:nvSpPr>
          <p:cNvPr id="23" name="Text 17"/>
          <p:cNvSpPr/>
          <p:nvPr/>
        </p:nvSpPr>
        <p:spPr>
          <a:xfrm>
            <a:off x="1389888" y="3310128"/>
            <a:ext cx="2560320" cy="457200"/>
          </a:xfrm>
          <a:prstGeom prst="rect">
            <a:avLst/>
          </a:prstGeom>
          <a:noFill/>
          <a:ln/>
        </p:spPr>
        <p:txBody>
          <a:bodyPr wrap="square" lIns="0" tIns="0" rIns="0" bIns="0" rtlCol="0" anchor="ctr"/>
          <a:lstStyle/>
          <a:p>
            <a:pPr marL="0" indent="0">
              <a:buNone/>
            </a:pPr>
            <a:r>
              <a:rPr lang="en-US" sz="1300" b="1" dirty="0">
                <a:solidFill>
                  <a:srgbClr val="13293D"/>
                </a:solidFill>
                <a:latin typeface="Georgia" pitchFamily="34" charset="0"/>
                <a:ea typeface="Georgia" pitchFamily="34" charset="-122"/>
                <a:cs typeface="Georgia" pitchFamily="34" charset="-120"/>
              </a:rPr>
              <a:t>Respect parsimony</a:t>
            </a:r>
            <a:endParaRPr lang="en-US" sz="1300" dirty="0"/>
          </a:p>
        </p:txBody>
      </p:sp>
      <p:sp>
        <p:nvSpPr>
          <p:cNvPr id="24" name="Text 18"/>
          <p:cNvSpPr/>
          <p:nvPr/>
        </p:nvSpPr>
        <p:spPr>
          <a:xfrm>
            <a:off x="768096" y="3822192"/>
            <a:ext cx="3099816" cy="694944"/>
          </a:xfrm>
          <a:prstGeom prst="rect">
            <a:avLst/>
          </a:prstGeom>
          <a:noFill/>
          <a:ln/>
        </p:spPr>
        <p:txBody>
          <a:bodyPr wrap="square" lIns="0" tIns="0" rIns="0" bIns="0" rtlCol="0" anchor="ctr"/>
          <a:lstStyle/>
          <a:p>
            <a:pPr marL="0" indent="0">
              <a:lnSpc>
                <a:spcPct val="102000"/>
              </a:lnSpc>
              <a:buNone/>
            </a:pPr>
            <a:r>
              <a:rPr lang="en-US" sz="1000" dirty="0">
                <a:solidFill>
                  <a:srgbClr val="5A6B78"/>
                </a:solidFill>
                <a:latin typeface="Calibri" pitchFamily="34" charset="0"/>
                <a:ea typeface="Calibri" pitchFamily="34" charset="-122"/>
                <a:cs typeface="Calibri" pitchFamily="34" charset="-120"/>
              </a:rPr>
              <a:t>More parameters ≠ a better model. Added complexity must earn its place by answering the question better.</a:t>
            </a:r>
            <a:endParaRPr lang="en-US" sz="1000" dirty="0"/>
          </a:p>
        </p:txBody>
      </p:sp>
      <p:sp>
        <p:nvSpPr>
          <p:cNvPr id="25" name="Shape 19"/>
          <p:cNvSpPr/>
          <p:nvPr/>
        </p:nvSpPr>
        <p:spPr>
          <a:xfrm>
            <a:off x="4325112" y="310896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6" name="Shape 20"/>
          <p:cNvSpPr/>
          <p:nvPr/>
        </p:nvSpPr>
        <p:spPr>
          <a:xfrm>
            <a:off x="4526280" y="3346704"/>
            <a:ext cx="512064" cy="512064"/>
          </a:xfrm>
          <a:prstGeom prst="ellipse">
            <a:avLst/>
          </a:prstGeom>
          <a:solidFill>
            <a:srgbClr val="1C7293"/>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4659417" y="3479841"/>
            <a:ext cx="245791" cy="245791"/>
          </a:xfrm>
          <a:prstGeom prst="rect">
            <a:avLst/>
          </a:prstGeom>
        </p:spPr>
      </p:pic>
      <p:sp>
        <p:nvSpPr>
          <p:cNvPr id="28" name="Text 21"/>
          <p:cNvSpPr/>
          <p:nvPr/>
        </p:nvSpPr>
        <p:spPr>
          <a:xfrm>
            <a:off x="5166360" y="3310128"/>
            <a:ext cx="2560320" cy="457200"/>
          </a:xfrm>
          <a:prstGeom prst="rect">
            <a:avLst/>
          </a:prstGeom>
          <a:noFill/>
          <a:ln/>
        </p:spPr>
        <p:txBody>
          <a:bodyPr wrap="square" lIns="0" tIns="0" rIns="0" bIns="0" rtlCol="0" anchor="ctr"/>
          <a:lstStyle/>
          <a:p>
            <a:pPr marL="0" indent="0">
              <a:buNone/>
            </a:pPr>
            <a:r>
              <a:rPr lang="en-US" sz="1300" b="1" dirty="0">
                <a:solidFill>
                  <a:srgbClr val="13293D"/>
                </a:solidFill>
                <a:latin typeface="Georgia" pitchFamily="34" charset="0"/>
                <a:ea typeface="Georgia" pitchFamily="34" charset="-122"/>
                <a:cs typeface="Georgia" pitchFamily="34" charset="-120"/>
              </a:rPr>
              <a:t>Mind data quality</a:t>
            </a:r>
            <a:endParaRPr lang="en-US" sz="1300" dirty="0"/>
          </a:p>
        </p:txBody>
      </p:sp>
      <p:sp>
        <p:nvSpPr>
          <p:cNvPr id="29" name="Text 22"/>
          <p:cNvSpPr/>
          <p:nvPr/>
        </p:nvSpPr>
        <p:spPr>
          <a:xfrm>
            <a:off x="4544568" y="3822192"/>
            <a:ext cx="3099816" cy="694944"/>
          </a:xfrm>
          <a:prstGeom prst="rect">
            <a:avLst/>
          </a:prstGeom>
          <a:noFill/>
          <a:ln/>
        </p:spPr>
        <p:txBody>
          <a:bodyPr wrap="square" lIns="0" tIns="0" rIns="0" bIns="0" rtlCol="0" anchor="ctr"/>
          <a:lstStyle/>
          <a:p>
            <a:pPr marL="0" indent="0">
              <a:lnSpc>
                <a:spcPct val="102000"/>
              </a:lnSpc>
              <a:buNone/>
            </a:pPr>
            <a:r>
              <a:rPr lang="en-US" sz="1000" dirty="0">
                <a:solidFill>
                  <a:srgbClr val="5A6B78"/>
                </a:solidFill>
                <a:latin typeface="Calibri" pitchFamily="34" charset="0"/>
                <a:ea typeface="Calibri" pitchFamily="34" charset="-122"/>
                <a:cs typeface="Calibri" pitchFamily="34" charset="-120"/>
              </a:rPr>
              <a:t>Garbage in, garbage out. Watch identifiability — don't over-interpret parameters the data cannot support.</a:t>
            </a:r>
            <a:endParaRPr lang="en-US" sz="1000" dirty="0"/>
          </a:p>
        </p:txBody>
      </p:sp>
      <p:sp>
        <p:nvSpPr>
          <p:cNvPr id="30" name="Shape 23"/>
          <p:cNvSpPr/>
          <p:nvPr/>
        </p:nvSpPr>
        <p:spPr>
          <a:xfrm>
            <a:off x="8101584" y="3108960"/>
            <a:ext cx="3520440" cy="1481328"/>
          </a:xfrm>
          <a:prstGeom prst="roundRect">
            <a:avLst>
              <a:gd name="adj" fmla="val 4938"/>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31" name="Shape 24"/>
          <p:cNvSpPr/>
          <p:nvPr/>
        </p:nvSpPr>
        <p:spPr>
          <a:xfrm>
            <a:off x="8302752" y="3346704"/>
            <a:ext cx="512064" cy="512064"/>
          </a:xfrm>
          <a:prstGeom prst="ellipse">
            <a:avLst/>
          </a:prstGeom>
          <a:solidFill>
            <a:srgbClr val="1C7293"/>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8435889" y="3479841"/>
            <a:ext cx="245791" cy="245791"/>
          </a:xfrm>
          <a:prstGeom prst="rect">
            <a:avLst/>
          </a:prstGeom>
        </p:spPr>
      </p:pic>
      <p:sp>
        <p:nvSpPr>
          <p:cNvPr id="33" name="Text 25"/>
          <p:cNvSpPr/>
          <p:nvPr/>
        </p:nvSpPr>
        <p:spPr>
          <a:xfrm>
            <a:off x="8942832" y="3310128"/>
            <a:ext cx="2560320" cy="457200"/>
          </a:xfrm>
          <a:prstGeom prst="rect">
            <a:avLst/>
          </a:prstGeom>
          <a:noFill/>
          <a:ln/>
        </p:spPr>
        <p:txBody>
          <a:bodyPr wrap="square" lIns="0" tIns="0" rIns="0" bIns="0" rtlCol="0" anchor="ctr"/>
          <a:lstStyle/>
          <a:p>
            <a:pPr marL="0" indent="0">
              <a:buNone/>
            </a:pPr>
            <a:r>
              <a:rPr lang="en-US" sz="1300" b="1" dirty="0">
                <a:solidFill>
                  <a:srgbClr val="13293D"/>
                </a:solidFill>
                <a:latin typeface="Georgia" pitchFamily="34" charset="0"/>
                <a:ea typeface="Georgia" pitchFamily="34" charset="-122"/>
                <a:cs typeface="Georgia" pitchFamily="34" charset="-120"/>
              </a:rPr>
              <a:t>Make it reproducible</a:t>
            </a:r>
            <a:endParaRPr lang="en-US" sz="1300" dirty="0"/>
          </a:p>
        </p:txBody>
      </p:sp>
      <p:sp>
        <p:nvSpPr>
          <p:cNvPr id="34" name="Text 26"/>
          <p:cNvSpPr/>
          <p:nvPr/>
        </p:nvSpPr>
        <p:spPr>
          <a:xfrm>
            <a:off x="8321040" y="3822192"/>
            <a:ext cx="3099816" cy="694944"/>
          </a:xfrm>
          <a:prstGeom prst="rect">
            <a:avLst/>
          </a:prstGeom>
          <a:noFill/>
          <a:ln/>
        </p:spPr>
        <p:txBody>
          <a:bodyPr wrap="square" lIns="0" tIns="0" rIns="0" bIns="0" rtlCol="0" anchor="ctr"/>
          <a:lstStyle/>
          <a:p>
            <a:pPr marL="0" indent="0">
              <a:lnSpc>
                <a:spcPct val="102000"/>
              </a:lnSpc>
              <a:buNone/>
            </a:pPr>
            <a:r>
              <a:rPr lang="en-US" sz="1000" dirty="0">
                <a:solidFill>
                  <a:srgbClr val="5A6B78"/>
                </a:solidFill>
                <a:latin typeface="Calibri" pitchFamily="34" charset="0"/>
                <a:ea typeface="Calibri" pitchFamily="34" charset="-122"/>
                <a:cs typeface="Calibri" pitchFamily="34" charset="-120"/>
              </a:rPr>
              <a:t>Transparent, documented, reproducible workflows are essential for trust, reuse, and regulatory acceptance.</a:t>
            </a:r>
            <a:endParaRPr lang="en-US" sz="1000" dirty="0"/>
          </a:p>
        </p:txBody>
      </p:sp>
      <p:sp>
        <p:nvSpPr>
          <p:cNvPr id="36" name="Text 27"/>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37" name="Text 28"/>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548640" y="640080"/>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Key takeaways</a:t>
            </a:r>
            <a:endParaRPr lang="en-US" sz="3000" dirty="0"/>
          </a:p>
        </p:txBody>
      </p:sp>
      <p:sp>
        <p:nvSpPr>
          <p:cNvPr id="3" name="Shape 1"/>
          <p:cNvSpPr/>
          <p:nvPr/>
        </p:nvSpPr>
        <p:spPr>
          <a:xfrm>
            <a:off x="548640" y="1325880"/>
            <a:ext cx="2926080" cy="0"/>
          </a:xfrm>
          <a:prstGeom prst="line">
            <a:avLst/>
          </a:prstGeom>
          <a:noFill/>
          <a:ln w="31750">
            <a:solidFill>
              <a:srgbClr val="1C7293"/>
            </a:solidFill>
            <a:prstDash val="solid"/>
          </a:ln>
        </p:spPr>
        <p:txBody>
          <a:bodyPr/>
          <a:lstStyle/>
          <a:p>
            <a:endParaRPr lang="en-US"/>
          </a:p>
        </p:txBody>
      </p:sp>
      <p:sp>
        <p:nvSpPr>
          <p:cNvPr id="4" name="Shape 2"/>
          <p:cNvSpPr/>
          <p:nvPr/>
        </p:nvSpPr>
        <p:spPr>
          <a:xfrm>
            <a:off x="548640" y="1691640"/>
            <a:ext cx="640080" cy="640080"/>
          </a:xfrm>
          <a:prstGeom prst="ellipse">
            <a:avLst/>
          </a:prstGeom>
          <a:solidFill>
            <a:srgbClr val="1C729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715061" y="1858061"/>
            <a:ext cx="307238" cy="307238"/>
          </a:xfrm>
          <a:prstGeom prst="rect">
            <a:avLst/>
          </a:prstGeom>
        </p:spPr>
      </p:pic>
      <p:sp>
        <p:nvSpPr>
          <p:cNvPr id="6" name="Text 3"/>
          <p:cNvSpPr/>
          <p:nvPr/>
        </p:nvSpPr>
        <p:spPr>
          <a:xfrm>
            <a:off x="1417320" y="1645920"/>
            <a:ext cx="7269480" cy="73152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Start from the decision.  </a:t>
            </a:r>
            <a:r>
              <a:rPr lang="en-US" sz="1500" dirty="0">
                <a:solidFill>
                  <a:srgbClr val="CFE0E8"/>
                </a:solidFill>
                <a:latin typeface="Calibri" pitchFamily="34" charset="0"/>
                <a:ea typeface="Calibri" pitchFamily="34" charset="-122"/>
                <a:cs typeface="Calibri" pitchFamily="34" charset="-120"/>
              </a:rPr>
              <a:t>The question and its stakes — not a favorite method — determine the right approach.</a:t>
            </a:r>
            <a:endParaRPr lang="en-US" sz="1500" dirty="0"/>
          </a:p>
        </p:txBody>
      </p:sp>
      <p:sp>
        <p:nvSpPr>
          <p:cNvPr id="7" name="Shape 4"/>
          <p:cNvSpPr/>
          <p:nvPr/>
        </p:nvSpPr>
        <p:spPr>
          <a:xfrm>
            <a:off x="548640" y="2651760"/>
            <a:ext cx="640080" cy="640080"/>
          </a:xfrm>
          <a:prstGeom prst="ellipse">
            <a:avLst/>
          </a:prstGeom>
          <a:solidFill>
            <a:srgbClr val="1C7293"/>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715061" y="2818181"/>
            <a:ext cx="307238" cy="307238"/>
          </a:xfrm>
          <a:prstGeom prst="rect">
            <a:avLst/>
          </a:prstGeom>
        </p:spPr>
      </p:pic>
      <p:sp>
        <p:nvSpPr>
          <p:cNvPr id="9" name="Text 5"/>
          <p:cNvSpPr/>
          <p:nvPr/>
        </p:nvSpPr>
        <p:spPr>
          <a:xfrm>
            <a:off x="1417320" y="2606040"/>
            <a:ext cx="7269480" cy="73152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Know the toolbox.  </a:t>
            </a:r>
            <a:r>
              <a:rPr lang="en-US" sz="1500" dirty="0">
                <a:solidFill>
                  <a:srgbClr val="CFE0E8"/>
                </a:solidFill>
                <a:latin typeface="Calibri" pitchFamily="34" charset="0"/>
                <a:ea typeface="Calibri" pitchFamily="34" charset="-122"/>
                <a:cs typeface="Calibri" pitchFamily="34" charset="-120"/>
              </a:rPr>
              <a:t>PopPK, exposure-response, PBPK, QSP, and data-driven models each have a distinct niche and clear limits.</a:t>
            </a:r>
            <a:endParaRPr lang="en-US" sz="1500" dirty="0"/>
          </a:p>
        </p:txBody>
      </p:sp>
      <p:sp>
        <p:nvSpPr>
          <p:cNvPr id="10" name="Shape 6"/>
          <p:cNvSpPr/>
          <p:nvPr/>
        </p:nvSpPr>
        <p:spPr>
          <a:xfrm>
            <a:off x="548640" y="3611880"/>
            <a:ext cx="640080" cy="640080"/>
          </a:xfrm>
          <a:prstGeom prst="ellipse">
            <a:avLst/>
          </a:prstGeom>
          <a:solidFill>
            <a:srgbClr val="1C7293"/>
          </a:solidFill>
          <a:ln/>
        </p:spPr>
        <p:txBody>
          <a:bodyPr/>
          <a:lstStyle/>
          <a:p>
            <a:endParaRPr lang="en-US"/>
          </a:p>
        </p:txBody>
      </p:sp>
      <p:pic>
        <p:nvPicPr>
          <p:cNvPr id="11" name="Image 2" descr="preencoded.png"/>
          <p:cNvPicPr>
            <a:picLocks noChangeAspect="1"/>
          </p:cNvPicPr>
          <p:nvPr/>
        </p:nvPicPr>
        <p:blipFill>
          <a:blip r:embed="rId5"/>
          <a:stretch>
            <a:fillRect/>
          </a:stretch>
        </p:blipFill>
        <p:spPr>
          <a:xfrm>
            <a:off x="715061" y="3778301"/>
            <a:ext cx="307238" cy="307238"/>
          </a:xfrm>
          <a:prstGeom prst="rect">
            <a:avLst/>
          </a:prstGeom>
        </p:spPr>
      </p:pic>
      <p:sp>
        <p:nvSpPr>
          <p:cNvPr id="12" name="Text 7"/>
          <p:cNvSpPr/>
          <p:nvPr/>
        </p:nvSpPr>
        <p:spPr>
          <a:xfrm>
            <a:off x="1417320" y="3566160"/>
            <a:ext cx="7269480" cy="73152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Go hybrid to cover gaps.  </a:t>
            </a:r>
            <a:r>
              <a:rPr lang="en-US" sz="1500" dirty="0">
                <a:solidFill>
                  <a:srgbClr val="CFE0E8"/>
                </a:solidFill>
                <a:latin typeface="Calibri" pitchFamily="34" charset="0"/>
                <a:ea typeface="Calibri" pitchFamily="34" charset="-122"/>
                <a:cs typeface="Calibri" pitchFamily="34" charset="-120"/>
              </a:rPr>
              <a:t>Combine approaches — sequentially, in parallel, cross-informatively, or integrated — when one alone can't answer.</a:t>
            </a:r>
            <a:endParaRPr lang="en-US" sz="1500" dirty="0"/>
          </a:p>
        </p:txBody>
      </p:sp>
      <p:sp>
        <p:nvSpPr>
          <p:cNvPr id="13" name="Shape 8"/>
          <p:cNvSpPr/>
          <p:nvPr/>
        </p:nvSpPr>
        <p:spPr>
          <a:xfrm>
            <a:off x="548640" y="4572000"/>
            <a:ext cx="640080" cy="640080"/>
          </a:xfrm>
          <a:prstGeom prst="ellipse">
            <a:avLst/>
          </a:prstGeom>
          <a:solidFill>
            <a:srgbClr val="1C7293"/>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715061" y="4738421"/>
            <a:ext cx="307238" cy="307238"/>
          </a:xfrm>
          <a:prstGeom prst="rect">
            <a:avLst/>
          </a:prstGeom>
        </p:spPr>
      </p:pic>
      <p:sp>
        <p:nvSpPr>
          <p:cNvPr id="15" name="Text 9"/>
          <p:cNvSpPr/>
          <p:nvPr/>
        </p:nvSpPr>
        <p:spPr>
          <a:xfrm>
            <a:off x="1417320" y="4526280"/>
            <a:ext cx="7269480" cy="731520"/>
          </a:xfrm>
          <a:prstGeom prst="rect">
            <a:avLst/>
          </a:prstGeom>
          <a:noFill/>
          <a:ln/>
        </p:spPr>
        <p:txBody>
          <a:bodyPr wrap="square" lIns="0" tIns="0" rIns="0" bIns="0" rtlCol="0" anchor="ctr"/>
          <a:lstStyle/>
          <a:p>
            <a:pPr marL="0" indent="0">
              <a:lnSpc>
                <a:spcPct val="105000"/>
              </a:lnSpc>
              <a:buNone/>
            </a:pPr>
            <a:r>
              <a:rPr lang="en-US" sz="1500" b="1" dirty="0">
                <a:solidFill>
                  <a:srgbClr val="FFFFFF"/>
                </a:solidFill>
                <a:latin typeface="Calibri" pitchFamily="34" charset="0"/>
                <a:ea typeface="Calibri" pitchFamily="34" charset="-122"/>
                <a:cs typeface="Calibri" pitchFamily="34" charset="-120"/>
              </a:rPr>
              <a:t>Stay disciplined.  </a:t>
            </a:r>
            <a:r>
              <a:rPr lang="en-US" sz="1500" dirty="0">
                <a:solidFill>
                  <a:srgbClr val="CFE0E8"/>
                </a:solidFill>
                <a:latin typeface="Calibri" pitchFamily="34" charset="0"/>
                <a:ea typeface="Calibri" pitchFamily="34" charset="-122"/>
                <a:cs typeface="Calibri" pitchFamily="34" charset="-120"/>
              </a:rPr>
              <a:t>Parsimony, explicit assumptions, and honest uncertainty keep a hybrid strategy credible.</a:t>
            </a:r>
            <a:endParaRPr lang="en-US" sz="1500" dirty="0"/>
          </a:p>
        </p:txBody>
      </p:sp>
      <p:sp>
        <p:nvSpPr>
          <p:cNvPr id="16" name="Shape 10"/>
          <p:cNvSpPr/>
          <p:nvPr/>
        </p:nvSpPr>
        <p:spPr>
          <a:xfrm>
            <a:off x="9052560" y="1691640"/>
            <a:ext cx="2560320" cy="3657600"/>
          </a:xfrm>
          <a:prstGeom prst="roundRect">
            <a:avLst>
              <a:gd name="adj" fmla="val 3571"/>
            </a:avLst>
          </a:prstGeom>
          <a:solidFill>
            <a:srgbClr val="1F4A66"/>
          </a:solidFill>
          <a:ln/>
          <a:effectLst>
            <a:outerShdw blurRad="88900" dist="38100" dir="8100000" algn="bl" rotWithShape="0">
              <a:srgbClr val="000000">
                <a:alpha val="13000"/>
              </a:srgbClr>
            </a:outerShdw>
          </a:effectLst>
        </p:spPr>
        <p:txBody>
          <a:bodyPr/>
          <a:lstStyle/>
          <a:p>
            <a:endParaRPr lang="en-US"/>
          </a:p>
        </p:txBody>
      </p:sp>
      <p:sp>
        <p:nvSpPr>
          <p:cNvPr id="17" name="Shape 11"/>
          <p:cNvSpPr/>
          <p:nvPr/>
        </p:nvSpPr>
        <p:spPr>
          <a:xfrm>
            <a:off x="9646920" y="2011680"/>
            <a:ext cx="1371600" cy="1371600"/>
          </a:xfrm>
          <a:prstGeom prst="ellipse">
            <a:avLst/>
          </a:prstGeom>
          <a:solidFill>
            <a:srgbClr val="D98C3E"/>
          </a:solidFill>
          <a:ln/>
        </p:spPr>
        <p:txBody>
          <a:bodyPr/>
          <a:lstStyle/>
          <a:p>
            <a:endParaRPr lang="en-US"/>
          </a:p>
        </p:txBody>
      </p:sp>
      <p:pic>
        <p:nvPicPr>
          <p:cNvPr id="18" name="Image 4" descr="preencoded.png"/>
          <p:cNvPicPr>
            <a:picLocks noChangeAspect="1"/>
          </p:cNvPicPr>
          <p:nvPr/>
        </p:nvPicPr>
        <p:blipFill>
          <a:blip r:embed="rId7"/>
          <a:stretch>
            <a:fillRect/>
          </a:stretch>
        </p:blipFill>
        <p:spPr>
          <a:xfrm>
            <a:off x="10003536" y="2368296"/>
            <a:ext cx="658368" cy="658368"/>
          </a:xfrm>
          <a:prstGeom prst="rect">
            <a:avLst/>
          </a:prstGeom>
        </p:spPr>
      </p:pic>
      <p:sp>
        <p:nvSpPr>
          <p:cNvPr id="19" name="Text 12"/>
          <p:cNvSpPr/>
          <p:nvPr/>
        </p:nvSpPr>
        <p:spPr>
          <a:xfrm>
            <a:off x="9052560" y="3520440"/>
            <a:ext cx="256032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Georgia" pitchFamily="34" charset="0"/>
                <a:ea typeface="Georgia" pitchFamily="34" charset="-122"/>
                <a:cs typeface="Georgia" pitchFamily="34" charset="-120"/>
              </a:rPr>
              <a:t>Next: Hands-on</a:t>
            </a:r>
            <a:endParaRPr lang="en-US" sz="1700" dirty="0"/>
          </a:p>
        </p:txBody>
      </p:sp>
      <p:sp>
        <p:nvSpPr>
          <p:cNvPr id="20" name="Text 13"/>
          <p:cNvSpPr/>
          <p:nvPr/>
        </p:nvSpPr>
        <p:spPr>
          <a:xfrm>
            <a:off x="9235440" y="3977640"/>
            <a:ext cx="2194560" cy="1188720"/>
          </a:xfrm>
          <a:prstGeom prst="rect">
            <a:avLst/>
          </a:prstGeom>
          <a:noFill/>
          <a:ln/>
        </p:spPr>
        <p:txBody>
          <a:bodyPr wrap="square" lIns="0" tIns="0" rIns="0" bIns="0" rtlCol="0" anchor="ctr"/>
          <a:lstStyle/>
          <a:p>
            <a:pPr marL="0" indent="0" algn="ctr">
              <a:lnSpc>
                <a:spcPct val="110000"/>
              </a:lnSpc>
              <a:buNone/>
            </a:pPr>
            <a:r>
              <a:rPr lang="en-US" sz="1250" dirty="0">
                <a:solidFill>
                  <a:srgbClr val="CFE0E8"/>
                </a:solidFill>
                <a:latin typeface="Calibri" pitchFamily="34" charset="0"/>
                <a:ea typeface="Calibri" pitchFamily="34" charset="-122"/>
                <a:cs typeface="Calibri" pitchFamily="34" charset="-120"/>
              </a:rPr>
              <a:t>Put these ideas to work — building hybrid models with pre-built code.</a:t>
            </a:r>
            <a:endParaRPr lang="en-US" sz="1250" dirty="0"/>
          </a:p>
        </p:txBody>
      </p:sp>
      <p:sp>
        <p:nvSpPr>
          <p:cNvPr id="21" name="Text 14"/>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9FB2BF"/>
                </a:solidFill>
                <a:latin typeface="Calibri" pitchFamily="34" charset="0"/>
                <a:ea typeface="Calibri" pitchFamily="34" charset="-122"/>
                <a:cs typeface="Calibri" pitchFamily="34" charset="-120"/>
              </a:rPr>
              <a:t>ACoP16 STEP Tutorial · Hybrid Modeling Strategies</a:t>
            </a:r>
            <a:endParaRPr lang="en-US" sz="900" dirty="0"/>
          </a:p>
        </p:txBody>
      </p:sp>
      <p:sp>
        <p:nvSpPr>
          <p:cNvPr id="22" name="Text 15"/>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9FB2BF"/>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3F32B-00EF-B545-6CD4-B1ADDA487EC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A4B07F-9943-6D53-0106-DEA65112330E}"/>
              </a:ext>
            </a:extLst>
          </p:cNvPr>
          <p:cNvSpPr/>
          <p:nvPr/>
        </p:nvSpPr>
        <p:spPr>
          <a:xfrm>
            <a:off x="548640" y="457200"/>
            <a:ext cx="100584" cy="566928"/>
          </a:xfrm>
          <a:prstGeom prst="rect">
            <a:avLst/>
          </a:prstGeom>
          <a:solidFill>
            <a:srgbClr val="1C7293"/>
          </a:solidFill>
          <a:ln/>
        </p:spPr>
        <p:txBody>
          <a:bodyPr/>
          <a:lstStyle/>
          <a:p>
            <a:endParaRPr lang="en-US"/>
          </a:p>
        </p:txBody>
      </p:sp>
      <p:sp>
        <p:nvSpPr>
          <p:cNvPr id="3" name="Text 1">
            <a:extLst>
              <a:ext uri="{FF2B5EF4-FFF2-40B4-BE49-F238E27FC236}">
                <a16:creationId xmlns:a16="http://schemas.microsoft.com/office/drawing/2014/main" id="{E99ADB0E-B215-4DB2-F51E-FBF3AC3E8997}"/>
              </a:ext>
            </a:extLst>
          </p:cNvPr>
          <p:cNvSpPr/>
          <p:nvPr/>
        </p:nvSpPr>
        <p:spPr>
          <a:xfrm>
            <a:off x="786384" y="420624"/>
            <a:ext cx="11094415" cy="256032"/>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WHERE MODELS PLUG IN</a:t>
            </a:r>
            <a:endParaRPr lang="en-US" sz="1200" dirty="0"/>
          </a:p>
        </p:txBody>
      </p:sp>
      <p:sp>
        <p:nvSpPr>
          <p:cNvPr id="4" name="Text 2">
            <a:extLst>
              <a:ext uri="{FF2B5EF4-FFF2-40B4-BE49-F238E27FC236}">
                <a16:creationId xmlns:a16="http://schemas.microsoft.com/office/drawing/2014/main" id="{FF22EEBC-AF6E-ED03-B887-08D44BC9811B}"/>
              </a:ext>
            </a:extLst>
          </p:cNvPr>
          <p:cNvSpPr/>
          <p:nvPr/>
        </p:nvSpPr>
        <p:spPr>
          <a:xfrm>
            <a:off x="786384" y="658368"/>
            <a:ext cx="9722815" cy="457200"/>
          </a:xfrm>
          <a:prstGeom prst="rect">
            <a:avLst/>
          </a:prstGeom>
          <a:noFill/>
          <a:ln/>
        </p:spPr>
        <p:txBody>
          <a:bodyPr wrap="square" lIns="0" tIns="0" rIns="0" bIns="0" rtlCol="0" anchor="ctr"/>
          <a:lstStyle/>
          <a:p>
            <a:pPr marL="0" indent="0">
              <a:buNone/>
            </a:pPr>
            <a:r>
              <a:rPr lang="en-US" sz="2600" b="1" dirty="0">
                <a:solidFill>
                  <a:srgbClr val="13293D"/>
                </a:solidFill>
                <a:latin typeface="Georgia" pitchFamily="34" charset="0"/>
                <a:ea typeface="Georgia" pitchFamily="34" charset="-122"/>
                <a:cs typeface="Georgia" pitchFamily="34" charset="-120"/>
              </a:rPr>
              <a:t>Modeling across the drug development timeline</a:t>
            </a:r>
            <a:endParaRPr lang="en-US" sz="2600" dirty="0"/>
          </a:p>
        </p:txBody>
      </p:sp>
      <p:sp>
        <p:nvSpPr>
          <p:cNvPr id="5" name="Shape 3">
            <a:extLst>
              <a:ext uri="{FF2B5EF4-FFF2-40B4-BE49-F238E27FC236}">
                <a16:creationId xmlns:a16="http://schemas.microsoft.com/office/drawing/2014/main" id="{DD1407E1-068B-5D10-D085-3319FDA07CF0}"/>
              </a:ext>
            </a:extLst>
          </p:cNvPr>
          <p:cNvSpPr/>
          <p:nvPr/>
        </p:nvSpPr>
        <p:spPr>
          <a:xfrm>
            <a:off x="548640" y="2148840"/>
            <a:ext cx="11094415" cy="0"/>
          </a:xfrm>
          <a:prstGeom prst="line">
            <a:avLst/>
          </a:prstGeom>
          <a:noFill/>
          <a:ln w="25400">
            <a:solidFill>
              <a:srgbClr val="D3DCE2"/>
            </a:solidFill>
            <a:prstDash val="solid"/>
          </a:ln>
        </p:spPr>
        <p:txBody>
          <a:bodyPr/>
          <a:lstStyle/>
          <a:p>
            <a:endParaRPr lang="en-US"/>
          </a:p>
        </p:txBody>
      </p:sp>
      <p:sp>
        <p:nvSpPr>
          <p:cNvPr id="6" name="Shape 4">
            <a:extLst>
              <a:ext uri="{FF2B5EF4-FFF2-40B4-BE49-F238E27FC236}">
                <a16:creationId xmlns:a16="http://schemas.microsoft.com/office/drawing/2014/main" id="{0EED175D-D232-6DFD-026B-C699F0345FCC}"/>
              </a:ext>
            </a:extLst>
          </p:cNvPr>
          <p:cNvSpPr/>
          <p:nvPr/>
        </p:nvSpPr>
        <p:spPr>
          <a:xfrm>
            <a:off x="548640" y="1828800"/>
            <a:ext cx="2036003" cy="658368"/>
          </a:xfrm>
          <a:prstGeom prst="roundRect">
            <a:avLst>
              <a:gd name="adj" fmla="val 8333"/>
            </a:avLst>
          </a:prstGeom>
          <a:solidFill>
            <a:srgbClr val="D98C3E"/>
          </a:solidFill>
          <a:ln/>
          <a:effectLst>
            <a:outerShdw blurRad="88900" dist="38100" dir="8100000" algn="bl" rotWithShape="0">
              <a:srgbClr val="000000">
                <a:alpha val="13000"/>
              </a:srgbClr>
            </a:outerShdw>
          </a:effectLst>
        </p:spPr>
        <p:txBody>
          <a:bodyPr/>
          <a:lstStyle/>
          <a:p>
            <a:endParaRPr lang="en-US"/>
          </a:p>
        </p:txBody>
      </p:sp>
      <p:sp>
        <p:nvSpPr>
          <p:cNvPr id="7" name="Text 5">
            <a:extLst>
              <a:ext uri="{FF2B5EF4-FFF2-40B4-BE49-F238E27FC236}">
                <a16:creationId xmlns:a16="http://schemas.microsoft.com/office/drawing/2014/main" id="{FBF3615E-19F9-5A8E-9895-2B9E66B4713B}"/>
              </a:ext>
            </a:extLst>
          </p:cNvPr>
          <p:cNvSpPr/>
          <p:nvPr/>
        </p:nvSpPr>
        <p:spPr>
          <a:xfrm>
            <a:off x="548640" y="1828800"/>
            <a:ext cx="2036003"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Discovery /</a:t>
            </a:r>
            <a:endParaRPr lang="en-US" sz="1250" dirty="0"/>
          </a:p>
          <a:p>
            <a:pPr marL="0" indent="0" algn="ctr">
              <a:buNone/>
            </a:pPr>
            <a:r>
              <a:rPr lang="en-US" sz="1250" b="1" dirty="0">
                <a:solidFill>
                  <a:srgbClr val="FFFFFF"/>
                </a:solidFill>
                <a:latin typeface="Georgia" pitchFamily="34" charset="0"/>
                <a:ea typeface="Georgia" pitchFamily="34" charset="-122"/>
                <a:cs typeface="Georgia" pitchFamily="34" charset="-120"/>
              </a:rPr>
              <a:t>Target</a:t>
            </a:r>
            <a:endParaRPr lang="en-US" sz="1250" dirty="0"/>
          </a:p>
        </p:txBody>
      </p:sp>
      <p:sp>
        <p:nvSpPr>
          <p:cNvPr id="8" name="Shape 6">
            <a:extLst>
              <a:ext uri="{FF2B5EF4-FFF2-40B4-BE49-F238E27FC236}">
                <a16:creationId xmlns:a16="http://schemas.microsoft.com/office/drawing/2014/main" id="{34AFF674-544D-FCE1-CBDB-606760573F2D}"/>
              </a:ext>
            </a:extLst>
          </p:cNvPr>
          <p:cNvSpPr/>
          <p:nvPr/>
        </p:nvSpPr>
        <p:spPr>
          <a:xfrm>
            <a:off x="548640" y="2697480"/>
            <a:ext cx="2036003" cy="20574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9" name="Text 7">
            <a:extLst>
              <a:ext uri="{FF2B5EF4-FFF2-40B4-BE49-F238E27FC236}">
                <a16:creationId xmlns:a16="http://schemas.microsoft.com/office/drawing/2014/main" id="{0D83C302-4B3D-5F67-68E6-21F40E73AD04}"/>
              </a:ext>
            </a:extLst>
          </p:cNvPr>
          <p:cNvSpPr/>
          <p:nvPr/>
        </p:nvSpPr>
        <p:spPr>
          <a:xfrm>
            <a:off x="713232" y="2761488"/>
            <a:ext cx="1761683" cy="1920240"/>
          </a:xfrm>
          <a:prstGeom prst="rect">
            <a:avLst/>
          </a:prstGeom>
          <a:noFill/>
          <a:ln/>
        </p:spPr>
        <p:txBody>
          <a:bodyPr wrap="square" lIns="0" tIns="0" rIns="0" bIns="0" rtlCol="0" anchor="ctr"/>
          <a:lstStyle/>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QSP</a:t>
            </a:r>
            <a:endParaRPr lang="en-US" sz="1300" dirty="0"/>
          </a:p>
          <a:p>
            <a:pPr marL="152400" indent="-152400">
              <a:spcAft>
                <a:spcPts val="900"/>
              </a:spcAft>
              <a:buSzPct val="100000"/>
              <a:buChar char="•"/>
            </a:pPr>
            <a:r>
              <a:rPr lang="en-US" sz="1300">
                <a:solidFill>
                  <a:srgbClr val="1E2A33"/>
                </a:solidFill>
                <a:latin typeface="Calibri" pitchFamily="34" charset="0"/>
                <a:ea typeface="Calibri" pitchFamily="34" charset="-122"/>
                <a:cs typeface="Calibri" pitchFamily="34" charset="-120"/>
              </a:rPr>
              <a:t>Systems models</a:t>
            </a:r>
          </a:p>
        </p:txBody>
      </p:sp>
      <p:sp>
        <p:nvSpPr>
          <p:cNvPr id="10" name="Shape 8">
            <a:extLst>
              <a:ext uri="{FF2B5EF4-FFF2-40B4-BE49-F238E27FC236}">
                <a16:creationId xmlns:a16="http://schemas.microsoft.com/office/drawing/2014/main" id="{71FD6225-EE54-45CE-76C8-D7158DCE448B}"/>
              </a:ext>
            </a:extLst>
          </p:cNvPr>
          <p:cNvSpPr/>
          <p:nvPr/>
        </p:nvSpPr>
        <p:spPr>
          <a:xfrm>
            <a:off x="2813243" y="1828800"/>
            <a:ext cx="2036003" cy="658368"/>
          </a:xfrm>
          <a:prstGeom prst="roundRect">
            <a:avLst>
              <a:gd name="adj" fmla="val 8333"/>
            </a:avLst>
          </a:prstGeom>
          <a:solidFill>
            <a:srgbClr val="5B5F97"/>
          </a:solidFill>
          <a:ln/>
          <a:effectLst>
            <a:outerShdw blurRad="88900" dist="38100" dir="8100000" algn="bl" rotWithShape="0">
              <a:srgbClr val="000000">
                <a:alpha val="13000"/>
              </a:srgbClr>
            </a:outerShdw>
          </a:effectLst>
        </p:spPr>
        <p:txBody>
          <a:bodyPr/>
          <a:lstStyle/>
          <a:p>
            <a:endParaRPr lang="en-US"/>
          </a:p>
        </p:txBody>
      </p:sp>
      <p:sp>
        <p:nvSpPr>
          <p:cNvPr id="11" name="Text 9">
            <a:extLst>
              <a:ext uri="{FF2B5EF4-FFF2-40B4-BE49-F238E27FC236}">
                <a16:creationId xmlns:a16="http://schemas.microsoft.com/office/drawing/2014/main" id="{6A2EF94F-31B9-E53F-C9D3-DE580337A9B2}"/>
              </a:ext>
            </a:extLst>
          </p:cNvPr>
          <p:cNvSpPr/>
          <p:nvPr/>
        </p:nvSpPr>
        <p:spPr>
          <a:xfrm>
            <a:off x="2813243" y="1828800"/>
            <a:ext cx="2036003"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Preclinical /</a:t>
            </a:r>
            <a:endParaRPr lang="en-US" sz="1250" dirty="0"/>
          </a:p>
          <a:p>
            <a:pPr marL="0" indent="0" algn="ctr">
              <a:buNone/>
            </a:pPr>
            <a:r>
              <a:rPr lang="en-US" sz="1250" b="1" dirty="0">
                <a:solidFill>
                  <a:srgbClr val="FFFFFF"/>
                </a:solidFill>
                <a:latin typeface="Georgia" pitchFamily="34" charset="0"/>
                <a:ea typeface="Georgia" pitchFamily="34" charset="-122"/>
                <a:cs typeface="Georgia" pitchFamily="34" charset="-120"/>
              </a:rPr>
              <a:t>Translational</a:t>
            </a:r>
            <a:endParaRPr lang="en-US" sz="1250" dirty="0"/>
          </a:p>
        </p:txBody>
      </p:sp>
      <p:sp>
        <p:nvSpPr>
          <p:cNvPr id="12" name="Shape 10">
            <a:extLst>
              <a:ext uri="{FF2B5EF4-FFF2-40B4-BE49-F238E27FC236}">
                <a16:creationId xmlns:a16="http://schemas.microsoft.com/office/drawing/2014/main" id="{E228B1EB-E642-6BD4-5768-9FA4489297D4}"/>
              </a:ext>
            </a:extLst>
          </p:cNvPr>
          <p:cNvSpPr/>
          <p:nvPr/>
        </p:nvSpPr>
        <p:spPr>
          <a:xfrm>
            <a:off x="2813243" y="2697480"/>
            <a:ext cx="2036003" cy="20574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3" name="Text 11">
            <a:extLst>
              <a:ext uri="{FF2B5EF4-FFF2-40B4-BE49-F238E27FC236}">
                <a16:creationId xmlns:a16="http://schemas.microsoft.com/office/drawing/2014/main" id="{095C2CCC-0319-578B-B59A-26F46CF4F129}"/>
              </a:ext>
            </a:extLst>
          </p:cNvPr>
          <p:cNvSpPr/>
          <p:nvPr/>
        </p:nvSpPr>
        <p:spPr>
          <a:xfrm>
            <a:off x="2977835" y="2761488"/>
            <a:ext cx="1761683" cy="1920240"/>
          </a:xfrm>
          <a:prstGeom prst="rect">
            <a:avLst/>
          </a:prstGeom>
          <a:noFill/>
          <a:ln/>
        </p:spPr>
        <p:txBody>
          <a:bodyPr wrap="square" lIns="0" tIns="0" rIns="0" bIns="0" rtlCol="0" anchor="ctr"/>
          <a:lstStyle/>
          <a:p>
            <a:pPr marL="152400" indent="-152400">
              <a:spcAft>
                <a:spcPts val="900"/>
              </a:spcAft>
              <a:buSzPct val="100000"/>
              <a:buChar char="•"/>
            </a:pPr>
            <a:r>
              <a:rPr lang="en-US" sz="1300">
                <a:solidFill>
                  <a:srgbClr val="1E2A33"/>
                </a:solidFill>
                <a:latin typeface="Calibri" pitchFamily="34" charset="0"/>
                <a:ea typeface="Calibri" pitchFamily="34" charset="-122"/>
                <a:cs typeface="Calibri" pitchFamily="34" charset="-120"/>
              </a:rPr>
              <a:t>PBPK</a:t>
            </a:r>
          </a:p>
          <a:p>
            <a:pPr marL="152400" indent="-152400">
              <a:spcAft>
                <a:spcPts val="900"/>
              </a:spcAft>
              <a:buSzPct val="100000"/>
              <a:buChar char="•"/>
            </a:pPr>
            <a:r>
              <a:rPr lang="en-US" sz="1300">
                <a:solidFill>
                  <a:srgbClr val="1E2A33"/>
                </a:solidFill>
                <a:latin typeface="Calibri" pitchFamily="34" charset="0"/>
                <a:cs typeface="Calibri" pitchFamily="34" charset="-120"/>
              </a:rPr>
              <a:t>QSP</a:t>
            </a:r>
            <a:endParaRPr lang="en-US" sz="1300" dirty="0"/>
          </a:p>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PK/PD</a:t>
            </a:r>
            <a:endParaRPr lang="en-US" sz="1300" dirty="0"/>
          </a:p>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IVIVE</a:t>
            </a:r>
            <a:endParaRPr lang="en-US" sz="1300" dirty="0"/>
          </a:p>
        </p:txBody>
      </p:sp>
      <p:sp>
        <p:nvSpPr>
          <p:cNvPr id="14" name="Shape 12">
            <a:extLst>
              <a:ext uri="{FF2B5EF4-FFF2-40B4-BE49-F238E27FC236}">
                <a16:creationId xmlns:a16="http://schemas.microsoft.com/office/drawing/2014/main" id="{EF85A343-88F4-0E20-F87C-934723176482}"/>
              </a:ext>
            </a:extLst>
          </p:cNvPr>
          <p:cNvSpPr/>
          <p:nvPr/>
        </p:nvSpPr>
        <p:spPr>
          <a:xfrm>
            <a:off x="5077846" y="1828800"/>
            <a:ext cx="2036003" cy="658368"/>
          </a:xfrm>
          <a:prstGeom prst="roundRect">
            <a:avLst>
              <a:gd name="adj" fmla="val 8333"/>
            </a:avLst>
          </a:prstGeom>
          <a:solidFill>
            <a:srgbClr val="1C7293"/>
          </a:solidFill>
          <a:ln/>
          <a:effectLst>
            <a:outerShdw blurRad="88900" dist="38100" dir="8100000" algn="bl" rotWithShape="0">
              <a:srgbClr val="000000">
                <a:alpha val="13000"/>
              </a:srgbClr>
            </a:outerShdw>
          </a:effectLst>
        </p:spPr>
        <p:txBody>
          <a:bodyPr/>
          <a:lstStyle/>
          <a:p>
            <a:endParaRPr lang="en-US"/>
          </a:p>
        </p:txBody>
      </p:sp>
      <p:sp>
        <p:nvSpPr>
          <p:cNvPr id="15" name="Text 13">
            <a:extLst>
              <a:ext uri="{FF2B5EF4-FFF2-40B4-BE49-F238E27FC236}">
                <a16:creationId xmlns:a16="http://schemas.microsoft.com/office/drawing/2014/main" id="{780319AE-368E-C572-1A30-97B95CC45300}"/>
              </a:ext>
            </a:extLst>
          </p:cNvPr>
          <p:cNvSpPr/>
          <p:nvPr/>
        </p:nvSpPr>
        <p:spPr>
          <a:xfrm>
            <a:off x="5077846" y="1828800"/>
            <a:ext cx="2036003"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FIH /</a:t>
            </a:r>
            <a:endParaRPr lang="en-US" sz="1250" dirty="0"/>
          </a:p>
          <a:p>
            <a:pPr marL="0" indent="0" algn="ctr">
              <a:buNone/>
            </a:pPr>
            <a:r>
              <a:rPr lang="en-US" sz="1250" b="1" dirty="0">
                <a:solidFill>
                  <a:srgbClr val="FFFFFF"/>
                </a:solidFill>
                <a:latin typeface="Georgia" pitchFamily="34" charset="0"/>
                <a:ea typeface="Georgia" pitchFamily="34" charset="-122"/>
                <a:cs typeface="Georgia" pitchFamily="34" charset="-120"/>
              </a:rPr>
              <a:t>Phase 1</a:t>
            </a:r>
            <a:endParaRPr lang="en-US" sz="1250" dirty="0"/>
          </a:p>
        </p:txBody>
      </p:sp>
      <p:sp>
        <p:nvSpPr>
          <p:cNvPr id="16" name="Shape 14">
            <a:extLst>
              <a:ext uri="{FF2B5EF4-FFF2-40B4-BE49-F238E27FC236}">
                <a16:creationId xmlns:a16="http://schemas.microsoft.com/office/drawing/2014/main" id="{8CF7DE9F-0932-06B7-2347-CEF6EE5E9288}"/>
              </a:ext>
            </a:extLst>
          </p:cNvPr>
          <p:cNvSpPr/>
          <p:nvPr/>
        </p:nvSpPr>
        <p:spPr>
          <a:xfrm>
            <a:off x="5077846" y="2697480"/>
            <a:ext cx="2036003" cy="20574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17" name="Text 15">
            <a:extLst>
              <a:ext uri="{FF2B5EF4-FFF2-40B4-BE49-F238E27FC236}">
                <a16:creationId xmlns:a16="http://schemas.microsoft.com/office/drawing/2014/main" id="{A350F70B-1EB1-E967-32A8-322FB40CC6B9}"/>
              </a:ext>
            </a:extLst>
          </p:cNvPr>
          <p:cNvSpPr/>
          <p:nvPr/>
        </p:nvSpPr>
        <p:spPr>
          <a:xfrm>
            <a:off x="5242438" y="2761488"/>
            <a:ext cx="1761683" cy="1920240"/>
          </a:xfrm>
          <a:prstGeom prst="rect">
            <a:avLst/>
          </a:prstGeom>
          <a:noFill/>
          <a:ln/>
        </p:spPr>
        <p:txBody>
          <a:bodyPr wrap="square" lIns="0" tIns="0" rIns="0" bIns="0" rtlCol="0" anchor="ctr"/>
          <a:lstStyle/>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PBPK (FIH dose)</a:t>
            </a:r>
            <a:endParaRPr lang="en-US" sz="1300" dirty="0"/>
          </a:p>
          <a:p>
            <a:pPr marL="152400" indent="-152400">
              <a:spcAft>
                <a:spcPts val="900"/>
              </a:spcAft>
              <a:buSzPct val="100000"/>
              <a:buChar char="•"/>
            </a:pPr>
            <a:r>
              <a:rPr lang="en-US" sz="1300">
                <a:solidFill>
                  <a:srgbClr val="1E2A33"/>
                </a:solidFill>
                <a:latin typeface="Calibri" pitchFamily="34" charset="0"/>
                <a:ea typeface="Calibri" pitchFamily="34" charset="-122"/>
                <a:cs typeface="Calibri" pitchFamily="34" charset="-120"/>
              </a:rPr>
              <a:t>PopPK</a:t>
            </a:r>
          </a:p>
          <a:p>
            <a:pPr marL="152400" indent="-152400">
              <a:spcAft>
                <a:spcPts val="900"/>
              </a:spcAft>
              <a:buSzPct val="100000"/>
              <a:buChar char="•"/>
            </a:pPr>
            <a:r>
              <a:rPr lang="en-US" sz="1300">
                <a:solidFill>
                  <a:srgbClr val="1E2A33"/>
                </a:solidFill>
                <a:latin typeface="Calibri" pitchFamily="34" charset="0"/>
                <a:cs typeface="Calibri" pitchFamily="34" charset="-120"/>
              </a:rPr>
              <a:t>QSP</a:t>
            </a:r>
            <a:endParaRPr lang="en-US" sz="1300" dirty="0"/>
          </a:p>
        </p:txBody>
      </p:sp>
      <p:sp>
        <p:nvSpPr>
          <p:cNvPr id="18" name="Shape 16">
            <a:extLst>
              <a:ext uri="{FF2B5EF4-FFF2-40B4-BE49-F238E27FC236}">
                <a16:creationId xmlns:a16="http://schemas.microsoft.com/office/drawing/2014/main" id="{6159467A-CE99-2E62-5B3B-7C6328F2FEA7}"/>
              </a:ext>
            </a:extLst>
          </p:cNvPr>
          <p:cNvSpPr/>
          <p:nvPr/>
        </p:nvSpPr>
        <p:spPr>
          <a:xfrm>
            <a:off x="7342449" y="1828800"/>
            <a:ext cx="2036003" cy="658368"/>
          </a:xfrm>
          <a:prstGeom prst="roundRect">
            <a:avLst>
              <a:gd name="adj" fmla="val 8333"/>
            </a:avLst>
          </a:prstGeom>
          <a:solidFill>
            <a:srgbClr val="2E8B72"/>
          </a:solidFill>
          <a:ln/>
          <a:effectLst>
            <a:outerShdw blurRad="88900" dist="38100" dir="8100000" algn="bl" rotWithShape="0">
              <a:srgbClr val="000000">
                <a:alpha val="13000"/>
              </a:srgbClr>
            </a:outerShdw>
          </a:effectLst>
        </p:spPr>
        <p:txBody>
          <a:bodyPr/>
          <a:lstStyle/>
          <a:p>
            <a:endParaRPr lang="en-US"/>
          </a:p>
        </p:txBody>
      </p:sp>
      <p:sp>
        <p:nvSpPr>
          <p:cNvPr id="19" name="Text 17">
            <a:extLst>
              <a:ext uri="{FF2B5EF4-FFF2-40B4-BE49-F238E27FC236}">
                <a16:creationId xmlns:a16="http://schemas.microsoft.com/office/drawing/2014/main" id="{7E8E5E69-8584-354F-2871-13A9A55804CE}"/>
              </a:ext>
            </a:extLst>
          </p:cNvPr>
          <p:cNvSpPr/>
          <p:nvPr/>
        </p:nvSpPr>
        <p:spPr>
          <a:xfrm>
            <a:off x="7342449" y="1828800"/>
            <a:ext cx="2036003"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Phase 2 /</a:t>
            </a:r>
            <a:endParaRPr lang="en-US" sz="1250" dirty="0"/>
          </a:p>
          <a:p>
            <a:pPr marL="0" indent="0" algn="ctr">
              <a:buNone/>
            </a:pPr>
            <a:r>
              <a:rPr lang="en-US" sz="1250" b="1" dirty="0">
                <a:solidFill>
                  <a:srgbClr val="FFFFFF"/>
                </a:solidFill>
                <a:latin typeface="Georgia" pitchFamily="34" charset="0"/>
                <a:ea typeface="Georgia" pitchFamily="34" charset="-122"/>
                <a:cs typeface="Georgia" pitchFamily="34" charset="-120"/>
              </a:rPr>
              <a:t>Dose finding</a:t>
            </a:r>
            <a:endParaRPr lang="en-US" sz="1250" dirty="0"/>
          </a:p>
        </p:txBody>
      </p:sp>
      <p:sp>
        <p:nvSpPr>
          <p:cNvPr id="20" name="Shape 18">
            <a:extLst>
              <a:ext uri="{FF2B5EF4-FFF2-40B4-BE49-F238E27FC236}">
                <a16:creationId xmlns:a16="http://schemas.microsoft.com/office/drawing/2014/main" id="{1E40333A-2650-1568-531D-C44A95790D2B}"/>
              </a:ext>
            </a:extLst>
          </p:cNvPr>
          <p:cNvSpPr/>
          <p:nvPr/>
        </p:nvSpPr>
        <p:spPr>
          <a:xfrm>
            <a:off x="7342449" y="2697480"/>
            <a:ext cx="2036003" cy="20574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1" name="Text 19">
            <a:extLst>
              <a:ext uri="{FF2B5EF4-FFF2-40B4-BE49-F238E27FC236}">
                <a16:creationId xmlns:a16="http://schemas.microsoft.com/office/drawing/2014/main" id="{DCB956AE-54B7-6EC6-7C19-A047633E8312}"/>
              </a:ext>
            </a:extLst>
          </p:cNvPr>
          <p:cNvSpPr/>
          <p:nvPr/>
        </p:nvSpPr>
        <p:spPr>
          <a:xfrm>
            <a:off x="7507041" y="2761488"/>
            <a:ext cx="1761683" cy="1920240"/>
          </a:xfrm>
          <a:prstGeom prst="rect">
            <a:avLst/>
          </a:prstGeom>
          <a:noFill/>
          <a:ln/>
        </p:spPr>
        <p:txBody>
          <a:bodyPr wrap="square" lIns="0" tIns="0" rIns="0" bIns="0" rtlCol="0" anchor="ctr"/>
          <a:lstStyle/>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PopPK</a:t>
            </a:r>
            <a:endParaRPr lang="en-US" sz="1300" dirty="0"/>
          </a:p>
          <a:p>
            <a:pPr marL="152400" indent="-152400">
              <a:spcAft>
                <a:spcPts val="900"/>
              </a:spcAft>
              <a:buSzPct val="100000"/>
              <a:buChar char="•"/>
            </a:pPr>
            <a:r>
              <a:rPr lang="en-US" sz="1300">
                <a:solidFill>
                  <a:srgbClr val="1E2A33"/>
                </a:solidFill>
                <a:latin typeface="Calibri" pitchFamily="34" charset="0"/>
                <a:ea typeface="Calibri" pitchFamily="34" charset="-122"/>
                <a:cs typeface="Calibri" pitchFamily="34" charset="-120"/>
              </a:rPr>
              <a:t>Exposure-response</a:t>
            </a:r>
          </a:p>
          <a:p>
            <a:pPr marL="152400" indent="-152400">
              <a:spcAft>
                <a:spcPts val="900"/>
              </a:spcAft>
              <a:buSzPct val="100000"/>
              <a:buChar char="•"/>
            </a:pPr>
            <a:r>
              <a:rPr lang="en-US" sz="1300">
                <a:solidFill>
                  <a:srgbClr val="1E2A33"/>
                </a:solidFill>
                <a:latin typeface="Calibri" pitchFamily="34" charset="0"/>
                <a:cs typeface="Calibri" pitchFamily="34" charset="-120"/>
              </a:rPr>
              <a:t>QSP</a:t>
            </a:r>
            <a:endParaRPr lang="en-US" sz="1300" dirty="0"/>
          </a:p>
        </p:txBody>
      </p:sp>
      <p:sp>
        <p:nvSpPr>
          <p:cNvPr id="22" name="Shape 20">
            <a:extLst>
              <a:ext uri="{FF2B5EF4-FFF2-40B4-BE49-F238E27FC236}">
                <a16:creationId xmlns:a16="http://schemas.microsoft.com/office/drawing/2014/main" id="{960ACF2F-AFA8-4EF6-97A8-B53010F47A0F}"/>
              </a:ext>
            </a:extLst>
          </p:cNvPr>
          <p:cNvSpPr/>
          <p:nvPr/>
        </p:nvSpPr>
        <p:spPr>
          <a:xfrm>
            <a:off x="9607052" y="1828800"/>
            <a:ext cx="2036003" cy="658368"/>
          </a:xfrm>
          <a:prstGeom prst="roundRect">
            <a:avLst>
              <a:gd name="adj" fmla="val 8333"/>
            </a:avLst>
          </a:prstGeom>
          <a:solidFill>
            <a:srgbClr val="13293D"/>
          </a:solidFill>
          <a:ln/>
          <a:effectLst>
            <a:outerShdw blurRad="88900" dist="38100" dir="8100000" algn="bl" rotWithShape="0">
              <a:srgbClr val="000000">
                <a:alpha val="13000"/>
              </a:srgbClr>
            </a:outerShdw>
          </a:effectLst>
        </p:spPr>
        <p:txBody>
          <a:bodyPr/>
          <a:lstStyle/>
          <a:p>
            <a:endParaRPr lang="en-US"/>
          </a:p>
        </p:txBody>
      </p:sp>
      <p:sp>
        <p:nvSpPr>
          <p:cNvPr id="23" name="Text 21">
            <a:extLst>
              <a:ext uri="{FF2B5EF4-FFF2-40B4-BE49-F238E27FC236}">
                <a16:creationId xmlns:a16="http://schemas.microsoft.com/office/drawing/2014/main" id="{5FB82BA0-D50B-65A8-B2ED-4ABC837AA2FA}"/>
              </a:ext>
            </a:extLst>
          </p:cNvPr>
          <p:cNvSpPr/>
          <p:nvPr/>
        </p:nvSpPr>
        <p:spPr>
          <a:xfrm>
            <a:off x="9607052" y="1828800"/>
            <a:ext cx="2036003" cy="658368"/>
          </a:xfrm>
          <a:prstGeom prst="rect">
            <a:avLst/>
          </a:prstGeom>
          <a:noFill/>
          <a:ln/>
        </p:spPr>
        <p:txBody>
          <a:bodyPr wrap="square" lIns="0" tIns="0" rIns="0" bIns="0"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Phase 3 /</a:t>
            </a:r>
            <a:endParaRPr lang="en-US" sz="1250" dirty="0"/>
          </a:p>
          <a:p>
            <a:pPr marL="0" indent="0" algn="ctr">
              <a:buNone/>
            </a:pPr>
            <a:r>
              <a:rPr lang="en-US" sz="1250" b="1" dirty="0">
                <a:solidFill>
                  <a:srgbClr val="FFFFFF"/>
                </a:solidFill>
                <a:latin typeface="Georgia" pitchFamily="34" charset="0"/>
                <a:ea typeface="Georgia" pitchFamily="34" charset="-122"/>
                <a:cs typeface="Georgia" pitchFamily="34" charset="-120"/>
              </a:rPr>
              <a:t>Filing</a:t>
            </a:r>
            <a:endParaRPr lang="en-US" sz="1250" dirty="0"/>
          </a:p>
        </p:txBody>
      </p:sp>
      <p:sp>
        <p:nvSpPr>
          <p:cNvPr id="24" name="Shape 22">
            <a:extLst>
              <a:ext uri="{FF2B5EF4-FFF2-40B4-BE49-F238E27FC236}">
                <a16:creationId xmlns:a16="http://schemas.microsoft.com/office/drawing/2014/main" id="{E91FD650-BB7F-35C8-EB22-65E8FA3F6F99}"/>
              </a:ext>
            </a:extLst>
          </p:cNvPr>
          <p:cNvSpPr/>
          <p:nvPr/>
        </p:nvSpPr>
        <p:spPr>
          <a:xfrm>
            <a:off x="9607052" y="2697480"/>
            <a:ext cx="2036003" cy="2057400"/>
          </a:xfrm>
          <a:prstGeom prst="roundRect">
            <a:avLst>
              <a:gd name="adj" fmla="val 3593"/>
            </a:avLst>
          </a:prstGeom>
          <a:solidFill>
            <a:srgbClr val="FFFFFF"/>
          </a:solidFill>
          <a:ln w="12700">
            <a:solidFill>
              <a:srgbClr val="D3DCE2"/>
            </a:solidFill>
            <a:prstDash val="solid"/>
          </a:ln>
          <a:effectLst>
            <a:outerShdw blurRad="88900" dist="38100" dir="8100000" algn="bl" rotWithShape="0">
              <a:srgbClr val="000000">
                <a:alpha val="13000"/>
              </a:srgbClr>
            </a:outerShdw>
          </a:effectLst>
        </p:spPr>
        <p:txBody>
          <a:bodyPr/>
          <a:lstStyle/>
          <a:p>
            <a:endParaRPr lang="en-US"/>
          </a:p>
        </p:txBody>
      </p:sp>
      <p:sp>
        <p:nvSpPr>
          <p:cNvPr id="25" name="Text 23">
            <a:extLst>
              <a:ext uri="{FF2B5EF4-FFF2-40B4-BE49-F238E27FC236}">
                <a16:creationId xmlns:a16="http://schemas.microsoft.com/office/drawing/2014/main" id="{220352F8-D85F-0CCB-F0D0-67397536D528}"/>
              </a:ext>
            </a:extLst>
          </p:cNvPr>
          <p:cNvSpPr/>
          <p:nvPr/>
        </p:nvSpPr>
        <p:spPr>
          <a:xfrm>
            <a:off x="9771644" y="2761488"/>
            <a:ext cx="1761683" cy="1920240"/>
          </a:xfrm>
          <a:prstGeom prst="rect">
            <a:avLst/>
          </a:prstGeom>
          <a:noFill/>
          <a:ln/>
        </p:spPr>
        <p:txBody>
          <a:bodyPr wrap="square" lIns="0" tIns="0" rIns="0" bIns="0" rtlCol="0" anchor="ctr"/>
          <a:lstStyle/>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PopPK</a:t>
            </a:r>
            <a:endParaRPr lang="en-US" sz="1300" dirty="0"/>
          </a:p>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E-R</a:t>
            </a:r>
            <a:endParaRPr lang="en-US" sz="1300" dirty="0"/>
          </a:p>
          <a:p>
            <a:pPr marL="152400" indent="-152400">
              <a:spcAft>
                <a:spcPts val="900"/>
              </a:spcAft>
              <a:buSzPct val="100000"/>
              <a:buChar char="•"/>
            </a:pPr>
            <a:r>
              <a:rPr lang="en-US" sz="1300" dirty="0">
                <a:solidFill>
                  <a:srgbClr val="1E2A33"/>
                </a:solidFill>
                <a:latin typeface="Calibri" pitchFamily="34" charset="0"/>
                <a:ea typeface="Calibri" pitchFamily="34" charset="-122"/>
                <a:cs typeface="Calibri" pitchFamily="34" charset="-120"/>
              </a:rPr>
              <a:t>Special pops</a:t>
            </a:r>
            <a:endParaRPr lang="en-US" sz="1300" dirty="0"/>
          </a:p>
        </p:txBody>
      </p:sp>
      <p:sp>
        <p:nvSpPr>
          <p:cNvPr id="26" name="Shape 24">
            <a:extLst>
              <a:ext uri="{FF2B5EF4-FFF2-40B4-BE49-F238E27FC236}">
                <a16:creationId xmlns:a16="http://schemas.microsoft.com/office/drawing/2014/main" id="{A3262E7E-763B-EC65-0590-21646BA8DF27}"/>
              </a:ext>
            </a:extLst>
          </p:cNvPr>
          <p:cNvSpPr/>
          <p:nvPr/>
        </p:nvSpPr>
        <p:spPr>
          <a:xfrm>
            <a:off x="548640" y="5029200"/>
            <a:ext cx="11094415" cy="1051560"/>
          </a:xfrm>
          <a:prstGeom prst="roundRect">
            <a:avLst>
              <a:gd name="adj" fmla="val 6957"/>
            </a:avLst>
          </a:prstGeom>
          <a:solidFill>
            <a:srgbClr val="EAF1F4"/>
          </a:solidFill>
          <a:ln w="12700">
            <a:solidFill>
              <a:srgbClr val="D3DCE2"/>
            </a:solidFill>
            <a:prstDash val="solid"/>
          </a:ln>
        </p:spPr>
        <p:txBody>
          <a:bodyPr/>
          <a:lstStyle/>
          <a:p>
            <a:endParaRPr lang="en-US"/>
          </a:p>
        </p:txBody>
      </p:sp>
      <p:sp>
        <p:nvSpPr>
          <p:cNvPr id="27" name="Text 25">
            <a:extLst>
              <a:ext uri="{FF2B5EF4-FFF2-40B4-BE49-F238E27FC236}">
                <a16:creationId xmlns:a16="http://schemas.microsoft.com/office/drawing/2014/main" id="{58F10D2A-ADB9-46D2-AE1E-42DEA82B993B}"/>
              </a:ext>
            </a:extLst>
          </p:cNvPr>
          <p:cNvSpPr/>
          <p:nvPr/>
        </p:nvSpPr>
        <p:spPr>
          <a:xfrm>
            <a:off x="777240" y="5093208"/>
            <a:ext cx="10637215" cy="914400"/>
          </a:xfrm>
          <a:prstGeom prst="rect">
            <a:avLst/>
          </a:prstGeom>
          <a:noFill/>
          <a:ln/>
        </p:spPr>
        <p:txBody>
          <a:bodyPr wrap="square" lIns="0" tIns="0" rIns="0" bIns="0" rtlCol="0" anchor="ctr"/>
          <a:lstStyle/>
          <a:p>
            <a:pPr marL="0" indent="0">
              <a:lnSpc>
                <a:spcPct val="108000"/>
              </a:lnSpc>
              <a:buNone/>
            </a:pPr>
            <a:r>
              <a:rPr lang="en-US" sz="1300" b="1" dirty="0">
                <a:solidFill>
                  <a:srgbClr val="13293D"/>
                </a:solidFill>
                <a:latin typeface="Calibri" pitchFamily="34" charset="0"/>
                <a:ea typeface="Calibri" pitchFamily="34" charset="-122"/>
                <a:cs typeface="Calibri" pitchFamily="34" charset="-120"/>
              </a:rPr>
              <a:t>Same molecule, evolving questions.  </a:t>
            </a:r>
            <a:r>
              <a:rPr lang="en-US" sz="1300" dirty="0">
                <a:solidFill>
                  <a:srgbClr val="1E2A33"/>
                </a:solidFill>
                <a:latin typeface="Calibri" pitchFamily="34" charset="0"/>
                <a:ea typeface="Calibri" pitchFamily="34" charset="-122"/>
                <a:cs typeface="Calibri" pitchFamily="34" charset="-120"/>
              </a:rPr>
              <a:t>As data accumulates from discovery to filing, the useful modeling approach shifts — and often more than one approach is in play at once. That overlap is exactly where hybrid strategies live.</a:t>
            </a:r>
            <a:endParaRPr lang="en-US" sz="1300" dirty="0"/>
          </a:p>
        </p:txBody>
      </p:sp>
      <p:sp>
        <p:nvSpPr>
          <p:cNvPr id="29" name="Text 26">
            <a:extLst>
              <a:ext uri="{FF2B5EF4-FFF2-40B4-BE49-F238E27FC236}">
                <a16:creationId xmlns:a16="http://schemas.microsoft.com/office/drawing/2014/main" id="{4898657D-3FB0-9B6B-BE16-28B92E301F6B}"/>
              </a:ext>
            </a:extLst>
          </p:cNvPr>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A6B78"/>
                </a:solidFill>
                <a:latin typeface="Calibri" pitchFamily="34" charset="0"/>
                <a:ea typeface="Calibri" pitchFamily="34" charset="-122"/>
                <a:cs typeface="Calibri" pitchFamily="34" charset="-120"/>
              </a:rPr>
              <a:t>ACoP16 STEP Tutorial · Hybrid Modeling Strategies</a:t>
            </a:r>
            <a:endParaRPr lang="en-US" sz="900" dirty="0"/>
          </a:p>
        </p:txBody>
      </p:sp>
      <p:sp>
        <p:nvSpPr>
          <p:cNvPr id="30" name="Text 27">
            <a:extLst>
              <a:ext uri="{FF2B5EF4-FFF2-40B4-BE49-F238E27FC236}">
                <a16:creationId xmlns:a16="http://schemas.microsoft.com/office/drawing/2014/main" id="{E873CFA3-6025-5417-4154-0D04C2BB15E5}"/>
              </a:ext>
            </a:extLst>
          </p:cNvPr>
          <p:cNvSpPr/>
          <p:nvPr/>
        </p:nvSpPr>
        <p:spPr>
          <a:xfrm>
            <a:off x="10728655" y="6473952"/>
            <a:ext cx="914400" cy="274320"/>
          </a:xfrm>
          <a:prstGeom prst="rect">
            <a:avLst/>
          </a:prstGeom>
          <a:noFill/>
          <a:ln/>
        </p:spPr>
        <p:txBody>
          <a:bodyPr wrap="square" lIns="0" tIns="0" rIns="0" bIns="0" rtlCol="0" anchor="ctr"/>
          <a:lstStyle/>
          <a:p>
            <a:pPr marL="0" indent="0" algn="r">
              <a:buNone/>
            </a:pPr>
            <a:r>
              <a:rPr lang="en-US" sz="900" dirty="0">
                <a:solidFill>
                  <a:srgbClr val="5A6B78"/>
                </a:solidFill>
                <a:latin typeface="Calibri" pitchFamily="34" charset="0"/>
                <a:ea typeface="Calibri" pitchFamily="34" charset="-122"/>
                <a:cs typeface="Calibri" pitchFamily="34" charset="-120"/>
              </a:rPr>
              <a:t>4</a:t>
            </a:r>
            <a:endParaRPr lang="en-US" sz="900" dirty="0"/>
          </a:p>
        </p:txBody>
      </p:sp>
    </p:spTree>
    <p:extLst>
      <p:ext uri="{BB962C8B-B14F-4D97-AF65-F5344CB8AC3E}">
        <p14:creationId xmlns:p14="http://schemas.microsoft.com/office/powerpoint/2010/main" val="196001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1261</TotalTime>
  <Words>4699</Words>
  <Application>Microsoft Macintosh PowerPoint</Application>
  <PresentationFormat>Widescreen</PresentationFormat>
  <Paragraphs>470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Modeling Strategies: Choosing Fit-for-Purpose Approaches</dc:title>
  <dc:subject>PptxGenJS Presentation</dc:subject>
  <dc:creator>Nastya Kassir</dc:creator>
  <cp:lastModifiedBy>luke Fostvedt</cp:lastModifiedBy>
  <cp:revision>3</cp:revision>
  <dcterms:created xsi:type="dcterms:W3CDTF">2026-09-18T00:15:54Z</dcterms:created>
  <dcterms:modified xsi:type="dcterms:W3CDTF">2026-09-25T07:08:45Z</dcterms:modified>
</cp:coreProperties>
</file>